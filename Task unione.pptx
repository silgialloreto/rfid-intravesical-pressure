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461" r:id="rId2"/>
    <p:sldId id="462" r:id="rId3"/>
    <p:sldId id="476" r:id="rId4"/>
    <p:sldId id="472" r:id="rId5"/>
    <p:sldId id="473" r:id="rId6"/>
    <p:sldId id="479" r:id="rId7"/>
    <p:sldId id="480" r:id="rId8"/>
    <p:sldId id="481" r:id="rId9"/>
    <p:sldId id="482" r:id="rId10"/>
    <p:sldId id="483" r:id="rId11"/>
    <p:sldId id="484" r:id="rId12"/>
    <p:sldId id="504" r:id="rId13"/>
    <p:sldId id="505" r:id="rId14"/>
    <p:sldId id="506" r:id="rId15"/>
    <p:sldId id="492" r:id="rId16"/>
    <p:sldId id="494" r:id="rId17"/>
    <p:sldId id="493" r:id="rId18"/>
    <p:sldId id="503" r:id="rId19"/>
    <p:sldId id="495" r:id="rId20"/>
    <p:sldId id="496" r:id="rId21"/>
    <p:sldId id="502" r:id="rId22"/>
    <p:sldId id="501" r:id="rId23"/>
    <p:sldId id="499" r:id="rId24"/>
    <p:sldId id="500" r:id="rId25"/>
    <p:sldId id="507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FE845-8C04-49FD-298A-E4A6969D5EFD}" v="6" dt="2025-06-25T12:49:47.665"/>
    <p1510:client id="{2B3304B7-8259-8592-943A-386945BFCDBE}" v="132" dt="2025-06-24T15:15:00.090"/>
    <p1510:client id="{9998FB17-009C-4140-A5EA-6FB958E70D8D}" v="8" dt="2025-06-25T13:04:58.209"/>
    <p1510:client id="{9AE796A5-F3A5-8FFA-2872-B95FD20D37B4}" v="85" dt="2025-06-25T10:03:50.911"/>
    <p1510:client id="{AEDB5B29-E312-161C-D915-4F6704065AD4}" v="26" dt="2025-06-25T08:10:46.841"/>
    <p1510:client id="{F2FE94C1-894B-43B3-B803-7427CEE671CC}" v="242" dt="2025-06-25T13:09:19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8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FE96B-A8C6-4E4C-8028-DDD9B153E139}" type="datetimeFigureOut">
              <a:rPr lang="it-IT" smtClean="0"/>
              <a:t>25/06/2025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EF9C3-C09F-4695-A8A2-A71D81F6F3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27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2FC391-0479-4A70-8AC8-8F764AAA77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499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3E4CE6-0AC0-E44D-94E0-732FAD2AE767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93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1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864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18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1197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31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8298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88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98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36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82910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25/06/2025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986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428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265D8A9-9CC6-468C-BD14-16D6904F1E95}" type="slidenum">
              <a:rPr lang="it-IT" smtClean="0"/>
              <a:t>‹N›</a:t>
            </a:fld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0366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75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176963"/>
            <a:ext cx="493311" cy="68262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81890" y="6356549"/>
            <a:ext cx="431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0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26F915-7A8E-61FC-1929-CAAE5142C421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5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6C2ACEAF-6931-6048-9058-EB8E92E72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7364" y="2839619"/>
            <a:ext cx="9837271" cy="1862669"/>
          </a:xfrm>
        </p:spPr>
        <p:txBody>
          <a:bodyPr>
            <a:normAutofit/>
          </a:bodyPr>
          <a:lstStyle/>
          <a:p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Wireless UHF RFID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based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bladder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pressure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sensor</a:t>
            </a:r>
            <a:endParaRPr lang="it-IT" sz="3000" b="0" i="1">
              <a:solidFill>
                <a:srgbClr val="10036D"/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2BAE768-4E6A-E840-B7B5-4D045C73B34E}"/>
              </a:ext>
            </a:extLst>
          </p:cNvPr>
          <p:cNvSpPr txBox="1">
            <a:spLocks/>
          </p:cNvSpPr>
          <p:nvPr/>
        </p:nvSpPr>
        <p:spPr>
          <a:xfrm>
            <a:off x="287821" y="638158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80A9F2-A430-874E-8228-994E40F61F2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CF159AA-BF05-B546-B125-18E15ECAF26C}"/>
              </a:ext>
            </a:extLst>
          </p:cNvPr>
          <p:cNvSpPr/>
          <p:nvPr/>
        </p:nvSpPr>
        <p:spPr>
          <a:xfrm>
            <a:off x="76199" y="5887092"/>
            <a:ext cx="4963887" cy="970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B823108-9897-C247-AF0F-D8C27D02E1B6}"/>
              </a:ext>
            </a:extLst>
          </p:cNvPr>
          <p:cNvSpPr txBox="1">
            <a:spLocks noChangeArrowheads="1"/>
          </p:cNvSpPr>
          <p:nvPr/>
        </p:nvSpPr>
        <p:spPr>
          <a:xfrm>
            <a:off x="1659421" y="5285828"/>
            <a:ext cx="2312861" cy="1349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aboratorio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lettromagnetismo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ervasivo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288925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8B164D0-FF84-F14C-9AF7-00FED4BF6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821" y="5072738"/>
            <a:ext cx="1340782" cy="16287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CA5A61-617F-9846-B258-D62BD53C5F7F}"/>
              </a:ext>
            </a:extLst>
          </p:cNvPr>
          <p:cNvSpPr txBox="1"/>
          <p:nvPr/>
        </p:nvSpPr>
        <p:spPr>
          <a:xfrm>
            <a:off x="3238262" y="1170027"/>
            <a:ext cx="57154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Sistemi Wearable e Telemetria Medica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A.A 2024-25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it-IT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Final</a:t>
            </a: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course</a:t>
            </a: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project)</a:t>
            </a:r>
          </a:p>
        </p:txBody>
      </p:sp>
      <p:sp>
        <p:nvSpPr>
          <p:cNvPr id="9" name="CasellaDiTesto 7">
            <a:extLst>
              <a:ext uri="{FF2B5EF4-FFF2-40B4-BE49-F238E27FC236}">
                <a16:creationId xmlns:a16="http://schemas.microsoft.com/office/drawing/2014/main" id="{217ED77A-7079-47BE-941F-2EEF719C7A53}"/>
              </a:ext>
            </a:extLst>
          </p:cNvPr>
          <p:cNvSpPr txBox="1"/>
          <p:nvPr/>
        </p:nvSpPr>
        <p:spPr>
          <a:xfrm>
            <a:off x="7560086" y="5640814"/>
            <a:ext cx="4198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Prof.		G. Marrocco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Tutor: 	              Ing. Francesca Nanni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117F78-F094-AE77-03F7-EC97F7D51402}"/>
              </a:ext>
            </a:extLst>
          </p:cNvPr>
          <p:cNvSpPr txBox="1"/>
          <p:nvPr/>
        </p:nvSpPr>
        <p:spPr>
          <a:xfrm>
            <a:off x="5287822" y="4525219"/>
            <a:ext cx="183073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 </a:t>
            </a:r>
            <a:r>
              <a:rPr lang="it-IT" sz="3600" b="1">
                <a:solidFill>
                  <a:srgbClr val="44546A"/>
                </a:solidFill>
                <a:latin typeface="Calibri" panose="020F0502020204030204"/>
              </a:rPr>
              <a:t>6.1</a:t>
            </a: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14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2AA9D63-C77F-0403-E750-1A79A9E3E5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9" t="8665" r="40694" b="7640"/>
          <a:stretch>
            <a:fillRect/>
          </a:stretch>
        </p:blipFill>
        <p:spPr bwMode="auto">
          <a:xfrm>
            <a:off x="7468707" y="1469292"/>
            <a:ext cx="3708374" cy="396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A03AB1D-28DD-6499-7274-D4AC31C0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210" y="27681"/>
            <a:ext cx="10327398" cy="853536"/>
          </a:xfrm>
        </p:spPr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Modeling</a:t>
            </a:r>
            <a:r>
              <a:rPr lang="it-IT">
                <a:latin typeface="Times New Roman"/>
                <a:cs typeface="Arial"/>
              </a:rPr>
              <a:t> 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EA3430A-42DF-0BA9-052C-00022603DDFE}"/>
              </a:ext>
            </a:extLst>
          </p:cNvPr>
          <p:cNvCxnSpPr>
            <a:cxnSpLocks/>
          </p:cNvCxnSpPr>
          <p:nvPr/>
        </p:nvCxnSpPr>
        <p:spPr>
          <a:xfrm>
            <a:off x="6872555" y="2988071"/>
            <a:ext cx="1044107" cy="5776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B3C8289-369E-5D68-254C-F4B963A256BD}"/>
              </a:ext>
            </a:extLst>
          </p:cNvPr>
          <p:cNvSpPr txBox="1"/>
          <p:nvPr/>
        </p:nvSpPr>
        <p:spPr>
          <a:xfrm>
            <a:off x="5059250" y="2332677"/>
            <a:ext cx="189271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Fat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(183x183mm)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433118EF-8305-6B52-BDD3-F044A9F8E7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444" t="7251" r="9490"/>
          <a:stretch>
            <a:fillRect/>
          </a:stretch>
        </p:blipFill>
        <p:spPr>
          <a:xfrm>
            <a:off x="378446" y="1469292"/>
            <a:ext cx="4164058" cy="4063481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148AD630-8A96-022A-420E-0B4C8A3530CA}"/>
              </a:ext>
            </a:extLst>
          </p:cNvPr>
          <p:cNvCxnSpPr>
            <a:cxnSpLocks/>
          </p:cNvCxnSpPr>
          <p:nvPr/>
        </p:nvCxnSpPr>
        <p:spPr>
          <a:xfrm flipH="1" flipV="1">
            <a:off x="10225264" y="4437931"/>
            <a:ext cx="623711" cy="12484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80C4304-5AE8-711C-5516-F35762EFA2E4}"/>
              </a:ext>
            </a:extLst>
          </p:cNvPr>
          <p:cNvSpPr txBox="1"/>
          <p:nvPr/>
        </p:nvSpPr>
        <p:spPr>
          <a:xfrm>
            <a:off x="10225264" y="5692884"/>
            <a:ext cx="184134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Muscle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(123x123mm)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1ACD6391-F9BE-D8DD-D40D-71B707A9DE23}"/>
              </a:ext>
            </a:extLst>
          </p:cNvPr>
          <p:cNvCxnSpPr>
            <a:cxnSpLocks/>
          </p:cNvCxnSpPr>
          <p:nvPr/>
        </p:nvCxnSpPr>
        <p:spPr>
          <a:xfrm flipV="1">
            <a:off x="7649497" y="4208206"/>
            <a:ext cx="1120877" cy="15913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355371A-DFF6-B12F-D151-DABC80651083}"/>
              </a:ext>
            </a:extLst>
          </p:cNvPr>
          <p:cNvSpPr txBox="1"/>
          <p:nvPr/>
        </p:nvSpPr>
        <p:spPr>
          <a:xfrm>
            <a:off x="5963200" y="5840174"/>
            <a:ext cx="290222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Bladder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it-IT" sz="2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thickness</a:t>
            </a: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= 10mm)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7556A177-AE83-1607-FC9F-139CD335A5D2}"/>
              </a:ext>
            </a:extLst>
          </p:cNvPr>
          <p:cNvCxnSpPr>
            <a:cxnSpLocks/>
          </p:cNvCxnSpPr>
          <p:nvPr/>
        </p:nvCxnSpPr>
        <p:spPr>
          <a:xfrm>
            <a:off x="6872555" y="1553056"/>
            <a:ext cx="2270697" cy="18034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BA40E92-E4A1-E93E-3EFF-B260298F397F}"/>
              </a:ext>
            </a:extLst>
          </p:cNvPr>
          <p:cNvSpPr txBox="1"/>
          <p:nvPr/>
        </p:nvSpPr>
        <p:spPr>
          <a:xfrm>
            <a:off x="5517856" y="775694"/>
            <a:ext cx="1892711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Body </a:t>
            </a:r>
            <a:r>
              <a:rPr kumimoji="0" lang="it-IT" sz="2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fluid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(r = 41.5mm)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9B822900-222B-1EE5-93A0-89CA79950D03}"/>
              </a:ext>
            </a:extLst>
          </p:cNvPr>
          <p:cNvCxnSpPr>
            <a:cxnSpLocks/>
          </p:cNvCxnSpPr>
          <p:nvPr/>
        </p:nvCxnSpPr>
        <p:spPr>
          <a:xfrm>
            <a:off x="6767434" y="4460487"/>
            <a:ext cx="822688" cy="2177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564F11F6-2F39-B37C-B2F3-EDD7E999702A}"/>
              </a:ext>
            </a:extLst>
          </p:cNvPr>
          <p:cNvSpPr txBox="1"/>
          <p:nvPr/>
        </p:nvSpPr>
        <p:spPr>
          <a:xfrm>
            <a:off x="4979844" y="3799915"/>
            <a:ext cx="189271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Skin</a:t>
            </a:r>
            <a:endParaRPr kumimoji="0" lang="it-IT" sz="2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(187x187mm)</a:t>
            </a:r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9BA7646B-0C6E-2669-A641-E64D30CF1038}"/>
              </a:ext>
            </a:extLst>
          </p:cNvPr>
          <p:cNvCxnSpPr>
            <a:cxnSpLocks/>
          </p:cNvCxnSpPr>
          <p:nvPr/>
        </p:nvCxnSpPr>
        <p:spPr>
          <a:xfrm flipH="1">
            <a:off x="9524396" y="2013626"/>
            <a:ext cx="1900507" cy="534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2B27FD13-2969-5917-ED06-1AEDED669336}"/>
              </a:ext>
            </a:extLst>
          </p:cNvPr>
          <p:cNvSpPr txBox="1"/>
          <p:nvPr/>
        </p:nvSpPr>
        <p:spPr>
          <a:xfrm>
            <a:off x="11424903" y="1758095"/>
            <a:ext cx="628442" cy="4308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Tag</a:t>
            </a: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ABEC1982-62D7-9A3A-C377-6F2922F6D937}"/>
              </a:ext>
            </a:extLst>
          </p:cNvPr>
          <p:cNvCxnSpPr>
            <a:cxnSpLocks/>
          </p:cNvCxnSpPr>
          <p:nvPr/>
        </p:nvCxnSpPr>
        <p:spPr>
          <a:xfrm>
            <a:off x="9094839" y="1229667"/>
            <a:ext cx="0" cy="4242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BEB28F08-EBBF-D3F3-8719-11160B3B4FBB}"/>
              </a:ext>
            </a:extLst>
          </p:cNvPr>
          <p:cNvSpPr txBox="1"/>
          <p:nvPr/>
        </p:nvSpPr>
        <p:spPr>
          <a:xfrm>
            <a:off x="8770374" y="840437"/>
            <a:ext cx="12192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Slot</a:t>
            </a:r>
          </a:p>
        </p:txBody>
      </p:sp>
    </p:spTree>
    <p:extLst>
      <p:ext uri="{BB962C8B-B14F-4D97-AF65-F5344CB8AC3E}">
        <p14:creationId xmlns:p14="http://schemas.microsoft.com/office/powerpoint/2010/main" val="246533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73F6A6-96D9-6330-96E3-111448499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491" y="41299"/>
            <a:ext cx="10327398" cy="781661"/>
          </a:xfrm>
        </p:spPr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Modeling</a:t>
            </a:r>
            <a:endParaRPr lang="it-IT">
              <a:latin typeface="Times New Roman"/>
              <a:cs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7442A7-8C56-AC5C-6F10-3F57BA3A0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9" t="3365" r="5712" b="5663"/>
          <a:stretch>
            <a:fillRect/>
          </a:stretch>
        </p:blipFill>
        <p:spPr bwMode="auto">
          <a:xfrm>
            <a:off x="8493408" y="1147073"/>
            <a:ext cx="3492115" cy="540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319F9D8F-DF62-A0FD-280A-AE135736020B}"/>
              </a:ext>
            </a:extLst>
          </p:cNvPr>
          <p:cNvSpPr/>
          <p:nvPr/>
        </p:nvSpPr>
        <p:spPr>
          <a:xfrm>
            <a:off x="9421406" y="4658277"/>
            <a:ext cx="207234" cy="27062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D94F442-8700-3584-C3B4-3DD3FA6DB0A9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6885440" y="2945119"/>
            <a:ext cx="2639583" cy="171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D805B079-2E20-48C2-CBDA-29DCE2ED8874}"/>
              </a:ext>
            </a:extLst>
          </p:cNvPr>
          <p:cNvSpPr/>
          <p:nvPr/>
        </p:nvSpPr>
        <p:spPr>
          <a:xfrm>
            <a:off x="9043825" y="4624938"/>
            <a:ext cx="207234" cy="36365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 descr="Immagine che contiene schermata, cerchio, panorama&#10;&#10;Il contenuto generato dall'IA potrebbe non essere corretto.">
            <a:extLst>
              <a:ext uri="{FF2B5EF4-FFF2-40B4-BE49-F238E27FC236}">
                <a16:creationId xmlns:a16="http://schemas.microsoft.com/office/drawing/2014/main" id="{9D56FF37-CEFB-86A9-3D06-E9779927A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77" t="6875" r="26297" b="7750"/>
          <a:stretch>
            <a:fillRect/>
          </a:stretch>
        </p:blipFill>
        <p:spPr>
          <a:xfrm>
            <a:off x="781770" y="2089750"/>
            <a:ext cx="2286896" cy="154391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B44DA95-EFB0-AD87-C355-7790763C6451}"/>
              </a:ext>
            </a:extLst>
          </p:cNvPr>
          <p:cNvSpPr txBox="1"/>
          <p:nvPr/>
        </p:nvSpPr>
        <p:spPr>
          <a:xfrm>
            <a:off x="201939" y="992455"/>
            <a:ext cx="344655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Dipole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RX with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circular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encapsulation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on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external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bladder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wall</a:t>
            </a:r>
            <a:endParaRPr kumimoji="0" lang="it-IT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FF54A93-4D0A-19DD-020F-86F9FD0A0E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" t="8942" r="800" b="5714"/>
          <a:stretch>
            <a:fillRect/>
          </a:stretch>
        </p:blipFill>
        <p:spPr>
          <a:xfrm>
            <a:off x="3972056" y="2089749"/>
            <a:ext cx="2748396" cy="154391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0AEFEB3-952A-7174-8717-0B9C0D49B5CA}"/>
              </a:ext>
            </a:extLst>
          </p:cNvPr>
          <p:cNvSpPr txBox="1"/>
          <p:nvPr/>
        </p:nvSpPr>
        <p:spPr>
          <a:xfrm>
            <a:off x="3862687" y="988146"/>
            <a:ext cx="29671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Dipole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RX with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elliptical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encapsulation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on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external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bladder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wall</a:t>
            </a:r>
            <a:endParaRPr kumimoji="0" lang="it-IT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2C6CDA7A-34A9-3916-56DF-C682F2C6E0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35" t="25742" r="34661" b="13422"/>
          <a:stretch>
            <a:fillRect/>
          </a:stretch>
        </p:blipFill>
        <p:spPr>
          <a:xfrm>
            <a:off x="2029384" y="4920711"/>
            <a:ext cx="3356277" cy="1397329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AD4B6D2-7F27-57B5-F955-D06A51C8C394}"/>
              </a:ext>
            </a:extLst>
          </p:cNvPr>
          <p:cNvCxnSpPr>
            <a:cxnSpLocks/>
          </p:cNvCxnSpPr>
          <p:nvPr/>
        </p:nvCxnSpPr>
        <p:spPr>
          <a:xfrm flipH="1">
            <a:off x="5556008" y="4840415"/>
            <a:ext cx="3479504" cy="52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CAAC146-B824-E400-71C6-66482CCECB1E}"/>
              </a:ext>
            </a:extLst>
          </p:cNvPr>
          <p:cNvSpPr txBox="1"/>
          <p:nvPr/>
        </p:nvSpPr>
        <p:spPr>
          <a:xfrm>
            <a:off x="2026998" y="4427685"/>
            <a:ext cx="3358978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Slot TX on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abdominal</a:t>
            </a:r>
            <a:r>
              <a:rPr kumimoji="0" lang="it-IT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it-IT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skin</a:t>
            </a:r>
            <a:endParaRPr kumimoji="0" lang="it-IT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538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D27508-575B-571D-2C52-BAB139D7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Encapsulation</a:t>
            </a:r>
            <a:r>
              <a:rPr lang="it-IT">
                <a:latin typeface="Times New Roman"/>
                <a:ea typeface="Calibri"/>
                <a:cs typeface="Arial"/>
              </a:rPr>
              <a:t> </a:t>
            </a:r>
            <a:r>
              <a:rPr lang="it-IT" err="1">
                <a:latin typeface="Times New Roman"/>
                <a:ea typeface="Calibri"/>
                <a:cs typeface="Arial"/>
              </a:rPr>
              <a:t>modeling</a:t>
            </a:r>
            <a:endParaRPr lang="it-IT">
              <a:latin typeface="Times New Roman"/>
              <a:ea typeface="Calibri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110438A-DB3D-E950-1B2D-B4000D2B5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endParaRPr lang="it-IT">
              <a:latin typeface="Times New Roman"/>
              <a:cs typeface="Arial"/>
            </a:endParaRPr>
          </a:p>
        </p:txBody>
      </p:sp>
      <p:pic>
        <p:nvPicPr>
          <p:cNvPr id="11" name="Immagine 10" descr="Immagine che contiene schermata, cerchio, panorama&#10;&#10;Il contenuto generato dall'IA potrebbe non essere corretto.">
            <a:extLst>
              <a:ext uri="{FF2B5EF4-FFF2-40B4-BE49-F238E27FC236}">
                <a16:creationId xmlns:a16="http://schemas.microsoft.com/office/drawing/2014/main" id="{CD699453-8BC9-8E4E-8FEF-90E1345F3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17" r="30000"/>
          <a:stretch>
            <a:fillRect/>
          </a:stretch>
        </p:blipFill>
        <p:spPr>
          <a:xfrm>
            <a:off x="355599" y="1931006"/>
            <a:ext cx="5971475" cy="3843483"/>
          </a:xfrm>
          <a:prstGeom prst="rect">
            <a:avLst/>
          </a:prstGeom>
        </p:spPr>
      </p:pic>
      <p:pic>
        <p:nvPicPr>
          <p:cNvPr id="3" name="Immagine 2" descr="Immagine che contiene linea, cerchio, diagramma, Policromia&#10;&#10;Il contenuto generato dall&amp;#39;IA potrebbe non essere corretto.">
            <a:extLst>
              <a:ext uri="{FF2B5EF4-FFF2-40B4-BE49-F238E27FC236}">
                <a16:creationId xmlns:a16="http://schemas.microsoft.com/office/drawing/2014/main" id="{6367529D-3FDB-4C55-E618-273E135308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81" t="2842" r="14550" b="228"/>
          <a:stretch>
            <a:fillRect/>
          </a:stretch>
        </p:blipFill>
        <p:spPr>
          <a:xfrm>
            <a:off x="7983753" y="1932965"/>
            <a:ext cx="3109861" cy="3848666"/>
          </a:xfrm>
          <a:prstGeom prst="rect">
            <a:avLst/>
          </a:prstGeom>
        </p:spPr>
      </p:pic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2526E0D4-C539-4DFF-A886-133A0C899026}"/>
              </a:ext>
            </a:extLst>
          </p:cNvPr>
          <p:cNvCxnSpPr>
            <a:cxnSpLocks/>
          </p:cNvCxnSpPr>
          <p:nvPr/>
        </p:nvCxnSpPr>
        <p:spPr>
          <a:xfrm flipH="1" flipV="1">
            <a:off x="8143115" y="1760725"/>
            <a:ext cx="1296403" cy="70331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F57C42F-D5BB-0DD6-0BBF-A95104B5BE73}"/>
              </a:ext>
            </a:extLst>
          </p:cNvPr>
          <p:cNvCxnSpPr>
            <a:cxnSpLocks/>
          </p:cNvCxnSpPr>
          <p:nvPr/>
        </p:nvCxnSpPr>
        <p:spPr>
          <a:xfrm flipH="1">
            <a:off x="7826707" y="5030718"/>
            <a:ext cx="632817" cy="7509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F30B115-3DE4-0318-7E7D-C75C53B368FF}"/>
              </a:ext>
            </a:extLst>
          </p:cNvPr>
          <p:cNvSpPr txBox="1"/>
          <p:nvPr/>
        </p:nvSpPr>
        <p:spPr>
          <a:xfrm>
            <a:off x="6276427" y="5765139"/>
            <a:ext cx="2735033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err="1">
                <a:latin typeface="Times New Roman"/>
                <a:cs typeface="Times New Roman"/>
              </a:rPr>
              <a:t>Incapsulation</a:t>
            </a:r>
            <a:r>
              <a:rPr lang="it-IT">
                <a:latin typeface="Times New Roman"/>
                <a:cs typeface="Times New Roman"/>
              </a:rPr>
              <a:t> </a:t>
            </a:r>
          </a:p>
          <a:p>
            <a:pPr algn="ctr"/>
            <a:r>
              <a:rPr lang="it-IT">
                <a:latin typeface="Times New Roman"/>
                <a:cs typeface="Times New Roman"/>
              </a:rPr>
              <a:t>(</a:t>
            </a:r>
            <a:r>
              <a:rPr lang="it-IT" err="1">
                <a:latin typeface="Times New Roman"/>
                <a:cs typeface="Times New Roman"/>
              </a:rPr>
              <a:t>rmax</a:t>
            </a:r>
            <a:r>
              <a:rPr lang="it-IT">
                <a:latin typeface="Times New Roman"/>
                <a:cs typeface="Times New Roman"/>
              </a:rPr>
              <a:t> =L/2 +1,5 mm;</a:t>
            </a:r>
          </a:p>
          <a:p>
            <a:pPr algn="ctr"/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rmin</a:t>
            </a:r>
            <a:r>
              <a:rPr lang="it-IT">
                <a:latin typeface="Times New Roman"/>
                <a:cs typeface="Times New Roman"/>
              </a:rPr>
              <a:t> =7,5 mm) </a:t>
            </a:r>
          </a:p>
          <a:p>
            <a:pPr algn="l"/>
            <a:endParaRPr lang="it-IT" sz="2200" b="0"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BF0C3B-2E5D-C675-DA84-BCDD7F700170}"/>
              </a:ext>
            </a:extLst>
          </p:cNvPr>
          <p:cNvSpPr txBox="1"/>
          <p:nvPr/>
        </p:nvSpPr>
        <p:spPr>
          <a:xfrm>
            <a:off x="6540475" y="1223370"/>
            <a:ext cx="20305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err="1">
                <a:latin typeface="Times New Roman"/>
                <a:cs typeface="Times New Roman"/>
              </a:rPr>
              <a:t>Dipole</a:t>
            </a:r>
            <a:r>
              <a:rPr lang="it-IT">
                <a:latin typeface="Times New Roman"/>
                <a:cs typeface="Times New Roman"/>
              </a:rPr>
              <a:t> </a:t>
            </a:r>
          </a:p>
          <a:p>
            <a:pPr algn="ctr"/>
            <a:r>
              <a:rPr lang="it-IT">
                <a:latin typeface="Times New Roman"/>
                <a:cs typeface="Times New Roman"/>
              </a:rPr>
              <a:t>(</a:t>
            </a:r>
            <a:r>
              <a:rPr lang="it-IT" err="1">
                <a:latin typeface="Times New Roman"/>
                <a:cs typeface="Times New Roman"/>
              </a:rPr>
              <a:t>LxW</a:t>
            </a:r>
            <a:r>
              <a:rPr lang="it-IT">
                <a:latin typeface="Times New Roman"/>
                <a:cs typeface="Times New Roman"/>
              </a:rPr>
              <a:t> mm)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943EA19-C54C-CBEA-C9CB-8A320200059A}"/>
              </a:ext>
            </a:extLst>
          </p:cNvPr>
          <p:cNvCxnSpPr>
            <a:cxnSpLocks/>
          </p:cNvCxnSpPr>
          <p:nvPr/>
        </p:nvCxnSpPr>
        <p:spPr>
          <a:xfrm>
            <a:off x="9752890" y="4213294"/>
            <a:ext cx="1015629" cy="174057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66BAA2-23EE-45A5-BABA-4B45F998BF83}"/>
              </a:ext>
            </a:extLst>
          </p:cNvPr>
          <p:cNvSpPr txBox="1"/>
          <p:nvPr/>
        </p:nvSpPr>
        <p:spPr>
          <a:xfrm>
            <a:off x="10002146" y="5953871"/>
            <a:ext cx="20442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err="1">
                <a:latin typeface="Times New Roman"/>
                <a:cs typeface="Times New Roman"/>
              </a:rPr>
              <a:t>Kapton</a:t>
            </a:r>
            <a:r>
              <a:rPr lang="it-IT">
                <a:latin typeface="Times New Roman"/>
                <a:cs typeface="Times New Roman"/>
              </a:rPr>
              <a:t> [(L+2)x(W+2)mm]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4F416A2-E069-5CB4-CA6B-D925F0DC6C44}"/>
                  </a:ext>
                </a:extLst>
              </p:cNvPr>
              <p:cNvSpPr txBox="1"/>
              <p:nvPr/>
            </p:nvSpPr>
            <p:spPr>
              <a:xfrm>
                <a:off x="2249353" y="1334972"/>
                <a:ext cx="1371600" cy="42742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impl</m:t>
                          </m:r>
                        </m:sub>
                      </m:sSub>
                    </m:oMath>
                  </m:oMathPara>
                </a14:m>
                <a:endParaRPr lang="it-IT" sz="20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4F416A2-E069-5CB4-CA6B-D925F0DC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353" y="1334972"/>
                <a:ext cx="1371600" cy="42742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B2937250-EBCC-2FE1-0091-2966CB784BD8}"/>
              </a:ext>
            </a:extLst>
          </p:cNvPr>
          <p:cNvCxnSpPr>
            <a:cxnSpLocks/>
          </p:cNvCxnSpPr>
          <p:nvPr/>
        </p:nvCxnSpPr>
        <p:spPr>
          <a:xfrm flipV="1">
            <a:off x="768090" y="1739651"/>
            <a:ext cx="1793156" cy="2431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Parentesi quadra chiusa 12">
            <a:extLst>
              <a:ext uri="{FF2B5EF4-FFF2-40B4-BE49-F238E27FC236}">
                <a16:creationId xmlns:a16="http://schemas.microsoft.com/office/drawing/2014/main" id="{C2D8ABA0-41BD-5CA3-11D1-50074832B71A}"/>
              </a:ext>
            </a:extLst>
          </p:cNvPr>
          <p:cNvSpPr/>
          <p:nvPr/>
        </p:nvSpPr>
        <p:spPr>
          <a:xfrm>
            <a:off x="732204" y="4182675"/>
            <a:ext cx="229229" cy="615586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6542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E27853E0-6197-6441-A775-1248520FAC0D}"/>
              </a:ext>
            </a:extLst>
          </p:cNvPr>
          <p:cNvSpPr/>
          <p:nvPr/>
        </p:nvSpPr>
        <p:spPr>
          <a:xfrm>
            <a:off x="2108947" y="3616412"/>
            <a:ext cx="8345094" cy="13927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ttangolo con un angolo arrotondato 15">
            <a:extLst>
              <a:ext uri="{FF2B5EF4-FFF2-40B4-BE49-F238E27FC236}">
                <a16:creationId xmlns:a16="http://schemas.microsoft.com/office/drawing/2014/main" id="{C44EF337-CEA8-F498-FD4A-B15AB73A0977}"/>
              </a:ext>
            </a:extLst>
          </p:cNvPr>
          <p:cNvSpPr/>
          <p:nvPr/>
        </p:nvSpPr>
        <p:spPr>
          <a:xfrm flipH="1">
            <a:off x="1654436" y="3633797"/>
            <a:ext cx="454510" cy="2097115"/>
          </a:xfrm>
          <a:prstGeom prst="round1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ttangolo con un angolo arrotondato 24">
            <a:extLst>
              <a:ext uri="{FF2B5EF4-FFF2-40B4-BE49-F238E27FC236}">
                <a16:creationId xmlns:a16="http://schemas.microsoft.com/office/drawing/2014/main" id="{0943F4B6-20D2-701A-77C5-81D80B66005C}"/>
              </a:ext>
            </a:extLst>
          </p:cNvPr>
          <p:cNvSpPr/>
          <p:nvPr/>
        </p:nvSpPr>
        <p:spPr>
          <a:xfrm>
            <a:off x="10454041" y="3644094"/>
            <a:ext cx="576804" cy="2098587"/>
          </a:xfrm>
          <a:prstGeom prst="round1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83137D4-E564-C5EC-4DBC-8C1A188465F2}"/>
              </a:ext>
            </a:extLst>
          </p:cNvPr>
          <p:cNvSpPr/>
          <p:nvPr/>
        </p:nvSpPr>
        <p:spPr>
          <a:xfrm>
            <a:off x="1634310" y="4947506"/>
            <a:ext cx="9359683" cy="33123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una 20">
            <a:extLst>
              <a:ext uri="{FF2B5EF4-FFF2-40B4-BE49-F238E27FC236}">
                <a16:creationId xmlns:a16="http://schemas.microsoft.com/office/drawing/2014/main" id="{B7FC7B76-41D5-0A37-6DA8-B97D0F5BC484}"/>
              </a:ext>
            </a:extLst>
          </p:cNvPr>
          <p:cNvSpPr/>
          <p:nvPr/>
        </p:nvSpPr>
        <p:spPr>
          <a:xfrm rot="8700000">
            <a:off x="10806770" y="3431737"/>
            <a:ext cx="353120" cy="850485"/>
          </a:xfrm>
          <a:prstGeom prst="moon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2C0B5A0-2E3F-D4E0-61D0-205E30BD196D}"/>
              </a:ext>
            </a:extLst>
          </p:cNvPr>
          <p:cNvSpPr/>
          <p:nvPr/>
        </p:nvSpPr>
        <p:spPr>
          <a:xfrm>
            <a:off x="1609077" y="5721827"/>
            <a:ext cx="9397628" cy="485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Luna 21">
            <a:extLst>
              <a:ext uri="{FF2B5EF4-FFF2-40B4-BE49-F238E27FC236}">
                <a16:creationId xmlns:a16="http://schemas.microsoft.com/office/drawing/2014/main" id="{17561FA0-7636-F2C5-3CB1-4B0047D330E4}"/>
              </a:ext>
            </a:extLst>
          </p:cNvPr>
          <p:cNvSpPr/>
          <p:nvPr/>
        </p:nvSpPr>
        <p:spPr>
          <a:xfrm rot="-3000000">
            <a:off x="1528617" y="5760582"/>
            <a:ext cx="385117" cy="718751"/>
          </a:xfrm>
          <a:prstGeom prst="mo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89E66B-90B2-AB35-D450-EC797D40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Materials</a:t>
            </a:r>
            <a:endParaRPr lang="it-IT">
              <a:latin typeface="Times New Roman"/>
              <a:cs typeface="Arial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CD5B198-C452-BE94-F9C5-CB5E09A06C77}"/>
              </a:ext>
            </a:extLst>
          </p:cNvPr>
          <p:cNvSpPr/>
          <p:nvPr/>
        </p:nvSpPr>
        <p:spPr>
          <a:xfrm>
            <a:off x="1638785" y="5278736"/>
            <a:ext cx="9359683" cy="4438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D9C143D-9488-B11F-AB2E-1561D050C87F}"/>
              </a:ext>
            </a:extLst>
          </p:cNvPr>
          <p:cNvSpPr txBox="1"/>
          <p:nvPr/>
        </p:nvSpPr>
        <p:spPr>
          <a:xfrm>
            <a:off x="5428349" y="4174195"/>
            <a:ext cx="13353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Polystyrene</a:t>
            </a:r>
            <a:endParaRPr kumimoji="0" lang="it-IT" sz="1800" b="1" i="0" u="none" strike="noStrike" kern="120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5CE95FE-8BBE-D9DA-16C3-A2F89C67DAC8}"/>
              </a:ext>
            </a:extLst>
          </p:cNvPr>
          <p:cNvSpPr txBox="1"/>
          <p:nvPr/>
        </p:nvSpPr>
        <p:spPr>
          <a:xfrm>
            <a:off x="5664870" y="4932553"/>
            <a:ext cx="86225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Tag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389ED4D-49E3-A70C-197B-91A29EE9CA7D}"/>
              </a:ext>
            </a:extLst>
          </p:cNvPr>
          <p:cNvSpPr txBox="1"/>
          <p:nvPr/>
        </p:nvSpPr>
        <p:spPr>
          <a:xfrm>
            <a:off x="5592232" y="5321305"/>
            <a:ext cx="100753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Kapton</a:t>
            </a:r>
            <a:endParaRPr kumimoji="0" lang="it-IT" sz="1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A7B20B2-2B66-53D1-0397-C87C1C9D1A14}"/>
              </a:ext>
            </a:extLst>
          </p:cNvPr>
          <p:cNvSpPr txBox="1"/>
          <p:nvPr/>
        </p:nvSpPr>
        <p:spPr>
          <a:xfrm>
            <a:off x="5642645" y="5761496"/>
            <a:ext cx="9067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Silicon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216A40D-ABED-9249-1E37-6571CE134AF1}"/>
              </a:ext>
            </a:extLst>
          </p:cNvPr>
          <p:cNvCxnSpPr>
            <a:cxnSpLocks/>
          </p:cNvCxnSpPr>
          <p:nvPr/>
        </p:nvCxnSpPr>
        <p:spPr>
          <a:xfrm>
            <a:off x="8737600" y="3616412"/>
            <a:ext cx="0" cy="1392789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FEA5036-CBB3-DA49-E0ED-24DF1402B01C}"/>
                  </a:ext>
                </a:extLst>
              </p:cNvPr>
              <p:cNvSpPr txBox="1"/>
              <p:nvPr/>
            </p:nvSpPr>
            <p:spPr>
              <a:xfrm>
                <a:off x="8790668" y="4089390"/>
                <a:ext cx="857927" cy="3942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it-IT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546A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it-IT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546A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𝐡</m:t>
                          </m:r>
                        </m:e>
                        <m:sub>
                          <m:r>
                            <a:rPr kumimoji="0" lang="it-IT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546A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𝐢𝐦𝐩𝐥</m:t>
                          </m:r>
                        </m:sub>
                      </m:sSub>
                    </m:oMath>
                  </m:oMathPara>
                </a14:m>
                <a:endParaRPr kumimoji="0" lang="it-IT" sz="180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FEA5036-CBB3-DA49-E0ED-24DF1402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668" y="4089390"/>
                <a:ext cx="857927" cy="394210"/>
              </a:xfrm>
              <a:prstGeom prst="rect">
                <a:avLst/>
              </a:prstGeom>
              <a:blipFill>
                <a:blip r:embed="rId3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5A67F1A7-A546-512B-DD68-FF28F08E2B89}"/>
              </a:ext>
            </a:extLst>
          </p:cNvPr>
          <p:cNvCxnSpPr/>
          <p:nvPr/>
        </p:nvCxnSpPr>
        <p:spPr>
          <a:xfrm>
            <a:off x="8839790" y="5001762"/>
            <a:ext cx="8237" cy="275968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42B25E6-034E-7101-DED5-A4FD2EC7B754}"/>
              </a:ext>
            </a:extLst>
          </p:cNvPr>
          <p:cNvSpPr txBox="1"/>
          <p:nvPr/>
        </p:nvSpPr>
        <p:spPr>
          <a:xfrm>
            <a:off x="8883948" y="4943349"/>
            <a:ext cx="114646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0,035 mm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EF1F5DE8-047E-3EAD-7CFF-59859BD0B9FA}"/>
              </a:ext>
            </a:extLst>
          </p:cNvPr>
          <p:cNvCxnSpPr>
            <a:cxnSpLocks/>
          </p:cNvCxnSpPr>
          <p:nvPr/>
        </p:nvCxnSpPr>
        <p:spPr>
          <a:xfrm>
            <a:off x="9131895" y="5270422"/>
            <a:ext cx="0" cy="44386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E59B41C-FF0E-1C35-5840-AF8B165E8F2C}"/>
              </a:ext>
            </a:extLst>
          </p:cNvPr>
          <p:cNvSpPr txBox="1"/>
          <p:nvPr/>
        </p:nvSpPr>
        <p:spPr>
          <a:xfrm>
            <a:off x="9164017" y="5316838"/>
            <a:ext cx="10887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0,125mm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46FD363-82FA-67C3-3876-B1BC33E5D4BE}"/>
              </a:ext>
            </a:extLst>
          </p:cNvPr>
          <p:cNvCxnSpPr/>
          <p:nvPr/>
        </p:nvCxnSpPr>
        <p:spPr>
          <a:xfrm flipH="1">
            <a:off x="9331100" y="5724002"/>
            <a:ext cx="2060" cy="481912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Luna 22">
            <a:extLst>
              <a:ext uri="{FF2B5EF4-FFF2-40B4-BE49-F238E27FC236}">
                <a16:creationId xmlns:a16="http://schemas.microsoft.com/office/drawing/2014/main" id="{D5EB8B32-9A31-0AD1-805A-5F27A8E34EC5}"/>
              </a:ext>
            </a:extLst>
          </p:cNvPr>
          <p:cNvSpPr/>
          <p:nvPr/>
        </p:nvSpPr>
        <p:spPr>
          <a:xfrm rot="12660000">
            <a:off x="10758329" y="5645305"/>
            <a:ext cx="457197" cy="780537"/>
          </a:xfrm>
          <a:prstGeom prst="moon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Luna 23">
            <a:extLst>
              <a:ext uri="{FF2B5EF4-FFF2-40B4-BE49-F238E27FC236}">
                <a16:creationId xmlns:a16="http://schemas.microsoft.com/office/drawing/2014/main" id="{9285A0C5-B914-A8BD-49BC-581C69F19F7D}"/>
              </a:ext>
            </a:extLst>
          </p:cNvPr>
          <p:cNvSpPr/>
          <p:nvPr/>
        </p:nvSpPr>
        <p:spPr>
          <a:xfrm rot="2040000">
            <a:off x="1494652" y="3474284"/>
            <a:ext cx="343929" cy="677562"/>
          </a:xfrm>
          <a:prstGeom prst="moon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C3BE927-1048-6F8C-10EC-3AE77052E908}"/>
              </a:ext>
            </a:extLst>
          </p:cNvPr>
          <p:cNvSpPr/>
          <p:nvPr/>
        </p:nvSpPr>
        <p:spPr>
          <a:xfrm>
            <a:off x="1608148" y="3619500"/>
            <a:ext cx="9418222" cy="2591415"/>
          </a:xfrm>
          <a:prstGeom prst="roundRect">
            <a:avLst/>
          </a:prstGeom>
          <a:noFill/>
          <a:ln w="76200">
            <a:solidFill>
              <a:srgbClr val="E6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8F5039E-557D-95D9-5795-47EE5280EFE8}"/>
              </a:ext>
            </a:extLst>
          </p:cNvPr>
          <p:cNvSpPr txBox="1"/>
          <p:nvPr/>
        </p:nvSpPr>
        <p:spPr>
          <a:xfrm>
            <a:off x="9122638" y="5762154"/>
            <a:ext cx="123737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1mm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B2E5AE7A-EEF1-4BB1-5297-0CA83C217148}"/>
              </a:ext>
            </a:extLst>
          </p:cNvPr>
          <p:cNvCxnSpPr/>
          <p:nvPr/>
        </p:nvCxnSpPr>
        <p:spPr>
          <a:xfrm flipH="1" flipV="1">
            <a:off x="1201650" y="4406330"/>
            <a:ext cx="437135" cy="6790"/>
          </a:xfrm>
          <a:prstGeom prst="straightConnector1">
            <a:avLst/>
          </a:prstGeom>
          <a:ln w="28575">
            <a:solidFill>
              <a:srgbClr val="E6B8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A80B584-4F76-AB3B-0B7C-821F85013CD4}"/>
              </a:ext>
            </a:extLst>
          </p:cNvPr>
          <p:cNvSpPr txBox="1"/>
          <p:nvPr/>
        </p:nvSpPr>
        <p:spPr>
          <a:xfrm>
            <a:off x="84616" y="4191319"/>
            <a:ext cx="12397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E6B8B8"/>
                </a:solidFill>
                <a:effectLst/>
                <a:uLnTx/>
                <a:uFillTx/>
                <a:latin typeface="Times New Roman"/>
                <a:ea typeface="Calibri"/>
                <a:cs typeface="Calibri"/>
              </a:rPr>
              <a:t>Tegaderm</a:t>
            </a:r>
            <a:endParaRPr kumimoji="0" lang="it-IT" sz="1800" b="1" i="0" u="none" strike="noStrike" kern="1200" cap="none" spc="0" normalizeH="0" baseline="0" noProof="0" err="1">
              <a:ln>
                <a:noFill/>
              </a:ln>
              <a:solidFill>
                <a:srgbClr val="E6B8B8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BADFCDB-0954-CB69-0D85-DA603C094031}"/>
              </a:ext>
            </a:extLst>
          </p:cNvPr>
          <p:cNvSpPr txBox="1"/>
          <p:nvPr/>
        </p:nvSpPr>
        <p:spPr>
          <a:xfrm>
            <a:off x="835742" y="1440248"/>
            <a:ext cx="10668000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From top to bottom: a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layer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of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polystyrene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(himpl)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simulates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the air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above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,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followed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by the RFID tag (0.035 mm), the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insulating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Kapton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(0.125 mm) and a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layer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of silicone (1 mm). The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entire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system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is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externally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coated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with a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protective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film of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Tegaderm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,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which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guarantees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biocompatibility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and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mechanical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 </a:t>
            </a:r>
            <a:r>
              <a:rPr kumimoji="0" lang="it-IT" sz="2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seal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Calibri" panose="020F0502020204030204"/>
                <a:cs typeface="Calibri" panose="020F0502020204030204"/>
              </a:rPr>
              <a:t>.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832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47B529-7D21-F868-C6D0-9154C6C7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encapsulation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F933461-C5F7-5260-A1D5-E2FF0B0C4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/>
                <a:cs typeface="Arial"/>
              </a:rPr>
              <a:t>MAG vs Dipole Lenght L</a:t>
            </a:r>
          </a:p>
        </p:txBody>
      </p:sp>
      <p:pic>
        <p:nvPicPr>
          <p:cNvPr id="7" name="Immagine 6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5ABF650A-D6BA-6E68-6793-BE5106720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5" t="586" r="7519"/>
          <a:stretch>
            <a:fillRect/>
          </a:stretch>
        </p:blipFill>
        <p:spPr>
          <a:xfrm>
            <a:off x="124666" y="1265650"/>
            <a:ext cx="8745200" cy="4826044"/>
          </a:xfrm>
          <a:prstGeom prst="rect">
            <a:avLst/>
          </a:prstGeom>
        </p:spPr>
      </p:pic>
      <p:sp>
        <p:nvSpPr>
          <p:cNvPr id="6" name="Connettore 5">
            <a:extLst>
              <a:ext uri="{FF2B5EF4-FFF2-40B4-BE49-F238E27FC236}">
                <a16:creationId xmlns:a16="http://schemas.microsoft.com/office/drawing/2014/main" id="{BC0FE93D-0EF2-B0D0-CFA6-B5E330B65F20}"/>
              </a:ext>
            </a:extLst>
          </p:cNvPr>
          <p:cNvSpPr/>
          <p:nvPr/>
        </p:nvSpPr>
        <p:spPr>
          <a:xfrm>
            <a:off x="7608997" y="2070447"/>
            <a:ext cx="154382" cy="153767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F70A6AD3-BB93-D786-3065-8FCF0DD07AA6}"/>
              </a:ext>
            </a:extLst>
          </p:cNvPr>
          <p:cNvCxnSpPr>
            <a:cxnSpLocks/>
          </p:cNvCxnSpPr>
          <p:nvPr/>
        </p:nvCxnSpPr>
        <p:spPr>
          <a:xfrm flipH="1" flipV="1">
            <a:off x="7683472" y="2176514"/>
            <a:ext cx="11811" cy="3339069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10EEFC3-265B-7885-AA3D-61B9348635B4}"/>
              </a:ext>
            </a:extLst>
          </p:cNvPr>
          <p:cNvCxnSpPr>
            <a:cxnSpLocks/>
          </p:cNvCxnSpPr>
          <p:nvPr/>
        </p:nvCxnSpPr>
        <p:spPr>
          <a:xfrm flipV="1">
            <a:off x="760753" y="2098647"/>
            <a:ext cx="6915707" cy="96339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E9272BD-5FF9-835C-EFB1-2AAF9E886195}"/>
              </a:ext>
            </a:extLst>
          </p:cNvPr>
          <p:cNvSpPr txBox="1"/>
          <p:nvPr/>
        </p:nvSpPr>
        <p:spPr>
          <a:xfrm>
            <a:off x="7518628" y="5533705"/>
            <a:ext cx="525294" cy="3539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1700" b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5" name="Connettore 14">
            <a:extLst>
              <a:ext uri="{FF2B5EF4-FFF2-40B4-BE49-F238E27FC236}">
                <a16:creationId xmlns:a16="http://schemas.microsoft.com/office/drawing/2014/main" id="{6A95A711-D009-3E39-0F2E-2CA638F77875}"/>
              </a:ext>
            </a:extLst>
          </p:cNvPr>
          <p:cNvSpPr/>
          <p:nvPr/>
        </p:nvSpPr>
        <p:spPr>
          <a:xfrm>
            <a:off x="7518433" y="5535526"/>
            <a:ext cx="400594" cy="374468"/>
          </a:xfrm>
          <a:prstGeom prst="flowChartConnector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E48DE388-7509-6684-A932-A2DEB1A223BF}"/>
              </a:ext>
            </a:extLst>
          </p:cNvPr>
          <p:cNvSpPr/>
          <p:nvPr/>
        </p:nvSpPr>
        <p:spPr>
          <a:xfrm>
            <a:off x="378631" y="1989772"/>
            <a:ext cx="400594" cy="374468"/>
          </a:xfrm>
          <a:prstGeom prst="flowChartConnector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C7F4606-1FF8-367B-6B4A-1F234C3B6223}"/>
                  </a:ext>
                </a:extLst>
              </p:cNvPr>
              <p:cNvSpPr txBox="1"/>
              <p:nvPr/>
            </p:nvSpPr>
            <p:spPr>
              <a:xfrm>
                <a:off x="6188260" y="1246786"/>
                <a:ext cx="2690261" cy="360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it-IT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𝐡</m:t>
                        </m:r>
                      </m:e>
                      <m:sub>
                        <m:r>
                          <a:rPr lang="it-IT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𝐢𝐦𝐩𝐥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=3,5mm W=1,5 mm)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C7F4606-1FF8-367B-6B4A-1F234C3B6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260" y="1246786"/>
                <a:ext cx="2690261" cy="360612"/>
              </a:xfrm>
              <a:prstGeom prst="rect">
                <a:avLst/>
              </a:prstGeom>
              <a:blipFill>
                <a:blip r:embed="rId3"/>
                <a:stretch>
                  <a:fillRect l="-1134" t="-5085" b="-152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1FAB5DB9-65D9-2609-E453-075A2D318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4341" y="3418413"/>
            <a:ext cx="633330" cy="483112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0723114-CB02-E8E1-CC13-C3238DEB45A5}"/>
              </a:ext>
            </a:extLst>
          </p:cNvPr>
          <p:cNvSpPr txBox="1"/>
          <p:nvPr/>
        </p:nvSpPr>
        <p:spPr>
          <a:xfrm>
            <a:off x="9769113" y="2598140"/>
            <a:ext cx="201586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choose</a:t>
            </a:r>
            <a:r>
              <a:rPr lang="it-IT" sz="2200">
                <a:latin typeface="Times New Roman"/>
                <a:ea typeface="Calibri"/>
                <a:cs typeface="Calibri"/>
              </a:rPr>
              <a:t> L=27mm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because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compatible</a:t>
            </a:r>
            <a:r>
              <a:rPr lang="it-IT" sz="2200">
                <a:latin typeface="Times New Roman"/>
                <a:ea typeface="Calibri"/>
                <a:cs typeface="Calibri"/>
              </a:rPr>
              <a:t> with the size of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trocar</a:t>
            </a:r>
            <a:endParaRPr lang="it-IT" sz="2200" b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839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AB088-2DFF-E995-6551-BA081479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96B397-AC96-359B-5588-13841118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encapsulation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7324004-248F-6966-6488-CBA66EA3E1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Zin</a:t>
            </a:r>
            <a:r>
              <a:rPr lang="it-IT">
                <a:latin typeface="Times New Roman"/>
                <a:cs typeface="Times New Roman"/>
              </a:rPr>
              <a:t> vs </a:t>
            </a:r>
            <a:r>
              <a:rPr lang="it-IT" err="1">
                <a:latin typeface="Times New Roman"/>
                <a:cs typeface="Times New Roman"/>
              </a:rPr>
              <a:t>Dipole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Lenght</a:t>
            </a:r>
            <a:r>
              <a:rPr lang="it-IT">
                <a:latin typeface="Times New Roman"/>
                <a:cs typeface="Times New Roman"/>
              </a:rPr>
              <a:t> L</a:t>
            </a:r>
          </a:p>
        </p:txBody>
      </p:sp>
      <p:pic>
        <p:nvPicPr>
          <p:cNvPr id="4" name="Immagine 3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78DF7A48-0E19-1058-33B8-961628D6B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0"/>
          <a:stretch>
            <a:fillRect/>
          </a:stretch>
        </p:blipFill>
        <p:spPr>
          <a:xfrm>
            <a:off x="1200726" y="1328260"/>
            <a:ext cx="9951519" cy="50231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8E896D4-B203-A21A-2B5D-E9E51645F1B3}"/>
                  </a:ext>
                </a:extLst>
              </p:cNvPr>
              <p:cNvSpPr txBox="1"/>
              <p:nvPr/>
            </p:nvSpPr>
            <p:spPr>
              <a:xfrm>
                <a:off x="7504203" y="1374440"/>
                <a:ext cx="2690261" cy="360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it-IT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𝐡</m:t>
                        </m:r>
                      </m:e>
                      <m:sub>
                        <m:r>
                          <a:rPr lang="it-IT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𝐢𝐦𝐩𝐥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=3,5mm W=1,5 mm)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8E896D4-B203-A21A-2B5D-E9E51645F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203" y="1374440"/>
                <a:ext cx="2690261" cy="360612"/>
              </a:xfrm>
              <a:prstGeom prst="rect">
                <a:avLst/>
              </a:prstGeom>
              <a:blipFill>
                <a:blip r:embed="rId3"/>
                <a:stretch>
                  <a:fillRect l="-1134" t="-3333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00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EA43-3610-C285-2A5D-22875F6DF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92B63F-8EDA-0981-A04B-A337AE0F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encapsulation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734A86-ED16-3B62-8949-E16B1674B2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/>
                <a:cs typeface="Arial"/>
              </a:rPr>
              <a:t>MAG vs </a:t>
            </a:r>
            <a:r>
              <a:rPr lang="it-IT" err="1">
                <a:latin typeface="Times New Roman"/>
                <a:cs typeface="Arial"/>
              </a:rPr>
              <a:t>Dipole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Width</a:t>
            </a:r>
            <a:r>
              <a:rPr lang="it-IT">
                <a:latin typeface="Times New Roman"/>
                <a:cs typeface="Arial"/>
              </a:rPr>
              <a:t> W</a:t>
            </a:r>
          </a:p>
        </p:txBody>
      </p:sp>
      <p:pic>
        <p:nvPicPr>
          <p:cNvPr id="7" name="Immagine 6" descr="Immagine che contiene testo, linea, diagramma, pendio&#10;&#10;Il contenuto generato dall'IA potrebbe non essere corretto.">
            <a:extLst>
              <a:ext uri="{FF2B5EF4-FFF2-40B4-BE49-F238E27FC236}">
                <a16:creationId xmlns:a16="http://schemas.microsoft.com/office/drawing/2014/main" id="{F084FFFF-BF8D-D431-57BB-AB5CB116B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r="7410"/>
          <a:stretch>
            <a:fillRect/>
          </a:stretch>
        </p:blipFill>
        <p:spPr>
          <a:xfrm>
            <a:off x="1342416" y="1295185"/>
            <a:ext cx="9225989" cy="5008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2E738047-B762-7778-8A7D-C23FA17D2700}"/>
                  </a:ext>
                </a:extLst>
              </p:cNvPr>
              <p:cNvSpPr txBox="1"/>
              <p:nvPr/>
            </p:nvSpPr>
            <p:spPr>
              <a:xfrm>
                <a:off x="7817793" y="1343825"/>
                <a:ext cx="2690261" cy="360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it-IT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𝐡</m:t>
                        </m:r>
                      </m:e>
                      <m:sub>
                        <m:r>
                          <a:rPr lang="it-IT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𝐢𝐦𝐩𝐥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=3,5mm </a:t>
                </a:r>
                <a:r>
                  <a:rPr lang="it-IT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it-IT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mm)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2E738047-B762-7778-8A7D-C23FA17D2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793" y="1343825"/>
                <a:ext cx="2690261" cy="360612"/>
              </a:xfrm>
              <a:prstGeom prst="rect">
                <a:avLst/>
              </a:prstGeom>
              <a:blipFill>
                <a:blip r:embed="rId3"/>
                <a:stretch>
                  <a:fillRect l="-1131" t="-3333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nettore 2">
            <a:extLst>
              <a:ext uri="{FF2B5EF4-FFF2-40B4-BE49-F238E27FC236}">
                <a16:creationId xmlns:a16="http://schemas.microsoft.com/office/drawing/2014/main" id="{1B763870-7EE4-71F6-5ACD-4B6F50CA34A1}"/>
              </a:ext>
            </a:extLst>
          </p:cNvPr>
          <p:cNvSpPr/>
          <p:nvPr/>
        </p:nvSpPr>
        <p:spPr>
          <a:xfrm>
            <a:off x="4708198" y="5739502"/>
            <a:ext cx="371508" cy="379195"/>
          </a:xfrm>
          <a:prstGeom prst="flowChartConnector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431D5096-77CC-ECB4-7136-14058497F130}"/>
              </a:ext>
            </a:extLst>
          </p:cNvPr>
          <p:cNvCxnSpPr>
            <a:cxnSpLocks/>
          </p:cNvCxnSpPr>
          <p:nvPr/>
        </p:nvCxnSpPr>
        <p:spPr>
          <a:xfrm flipV="1">
            <a:off x="4893702" y="3735422"/>
            <a:ext cx="0" cy="195526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onnettore 9">
            <a:extLst>
              <a:ext uri="{FF2B5EF4-FFF2-40B4-BE49-F238E27FC236}">
                <a16:creationId xmlns:a16="http://schemas.microsoft.com/office/drawing/2014/main" id="{724ECE8F-868B-D17D-9D87-EA57F644B020}"/>
              </a:ext>
            </a:extLst>
          </p:cNvPr>
          <p:cNvSpPr/>
          <p:nvPr/>
        </p:nvSpPr>
        <p:spPr>
          <a:xfrm>
            <a:off x="4845270" y="3667527"/>
            <a:ext cx="99802" cy="93541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12173B4F-716B-990A-3FF3-EE98982DD869}"/>
              </a:ext>
            </a:extLst>
          </p:cNvPr>
          <p:cNvCxnSpPr>
            <a:cxnSpLocks/>
          </p:cNvCxnSpPr>
          <p:nvPr/>
        </p:nvCxnSpPr>
        <p:spPr>
          <a:xfrm flipH="1">
            <a:off x="2159540" y="3703410"/>
            <a:ext cx="2685730" cy="32012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0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029DC-E72B-35DE-DC2B-FA848279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0D14B1-883B-695D-8A1C-A0BD3AF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encapsulation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7EFB10F-5BB4-B140-92CD-6C53F9E592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Zin</a:t>
            </a:r>
            <a:r>
              <a:rPr lang="it-IT">
                <a:latin typeface="Times New Roman"/>
                <a:cs typeface="Arial"/>
              </a:rPr>
              <a:t> vs </a:t>
            </a:r>
            <a:r>
              <a:rPr lang="it-IT" err="1">
                <a:latin typeface="Times New Roman"/>
                <a:cs typeface="Arial"/>
              </a:rPr>
              <a:t>Dipole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Widht</a:t>
            </a:r>
            <a:r>
              <a:rPr lang="it-IT">
                <a:latin typeface="Times New Roman"/>
                <a:cs typeface="Arial"/>
              </a:rPr>
              <a:t> W</a:t>
            </a:r>
          </a:p>
        </p:txBody>
      </p:sp>
      <p:pic>
        <p:nvPicPr>
          <p:cNvPr id="4" name="Immagine 3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82CA0F7-48E7-B9DE-B94E-BC0287AA3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8" r="1607"/>
          <a:stretch>
            <a:fillRect/>
          </a:stretch>
        </p:blipFill>
        <p:spPr>
          <a:xfrm>
            <a:off x="1330035" y="1337015"/>
            <a:ext cx="9402619" cy="4872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EDD0CAE-918C-EBEC-76A4-EA959AAE64B8}"/>
                  </a:ext>
                </a:extLst>
              </p:cNvPr>
              <p:cNvSpPr txBox="1"/>
              <p:nvPr/>
            </p:nvSpPr>
            <p:spPr>
              <a:xfrm>
                <a:off x="7414491" y="1373959"/>
                <a:ext cx="6220690" cy="360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it-IT" sz="1600" b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𝐡</m:t>
                        </m:r>
                      </m:e>
                      <m:sub>
                        <m:r>
                          <a:rPr lang="it-IT" sz="1600" b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𝐢𝐦𝐩𝐥</m:t>
                        </m:r>
                      </m:sub>
                    </m:sSub>
                  </m:oMath>
                </a14:m>
                <a:r>
                  <a:rPr lang="it-IT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=3,5mm </a:t>
                </a:r>
                <a:r>
                  <a:rPr lang="it-IT" sz="16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L=18 mm)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EDD0CAE-918C-EBEC-76A4-EA959AAE6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491" y="1373959"/>
                <a:ext cx="6220690" cy="360612"/>
              </a:xfrm>
              <a:prstGeom prst="rect">
                <a:avLst/>
              </a:prstGeom>
              <a:blipFill>
                <a:blip r:embed="rId3"/>
                <a:stretch>
                  <a:fillRect l="-490" t="-50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780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25D357-624B-D802-E42A-D7655FBD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encapsulation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C0A26829-5558-9098-DAA8-36763EADA14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864602" y="811593"/>
                <a:ext cx="10327398" cy="461665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latin typeface="Times New Roman"/>
                    <a:cs typeface="Arial"/>
                  </a:rPr>
                  <a:t>MAG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it-IT" b="1" i="0" smtClean="0">
                            <a:latin typeface="Cambria Math" panose="02040503050406030204" pitchFamily="18" charset="0"/>
                            <a:cs typeface="Arial"/>
                          </a:rPr>
                          <m:t>𝐡</m:t>
                        </m:r>
                      </m:e>
                      <m:sub>
                        <m:r>
                          <a:rPr lang="it-IT" b="1" i="0" smtClean="0">
                            <a:latin typeface="Cambria Math" panose="02040503050406030204" pitchFamily="18" charset="0"/>
                            <a:cs typeface="Arial"/>
                          </a:rPr>
                          <m:t>𝐢𝐦𝐩𝐥</m:t>
                        </m:r>
                      </m:sub>
                    </m:sSub>
                  </m:oMath>
                </a14:m>
                <a:endParaRPr lang="it-IT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C0A26829-5558-9098-DAA8-36763EADA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864602" y="811593"/>
                <a:ext cx="10327398" cy="461665"/>
              </a:xfrm>
              <a:blipFill>
                <a:blip r:embed="rId2"/>
                <a:stretch>
                  <a:fillRect t="-17105" r="-59" b="-2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EF5FB19-ADB1-73BE-73D9-8F9EBADA7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3" r="6917"/>
          <a:stretch>
            <a:fillRect/>
          </a:stretch>
        </p:blipFill>
        <p:spPr>
          <a:xfrm>
            <a:off x="1114784" y="1297946"/>
            <a:ext cx="9254900" cy="501858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9A945C8-F69D-DEE7-D086-A11176F6099E}"/>
              </a:ext>
            </a:extLst>
          </p:cNvPr>
          <p:cNvSpPr txBox="1"/>
          <p:nvPr/>
        </p:nvSpPr>
        <p:spPr>
          <a:xfrm>
            <a:off x="7522212" y="1346586"/>
            <a:ext cx="269026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it-IT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(W=</a:t>
            </a:r>
            <a:r>
              <a:rPr lang="it-IT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it-IT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,5mm L=18 mm)</a:t>
            </a:r>
          </a:p>
        </p:txBody>
      </p:sp>
      <p:sp>
        <p:nvSpPr>
          <p:cNvPr id="10" name="Connettore 9">
            <a:extLst>
              <a:ext uri="{FF2B5EF4-FFF2-40B4-BE49-F238E27FC236}">
                <a16:creationId xmlns:a16="http://schemas.microsoft.com/office/drawing/2014/main" id="{B8A8DB09-9246-A501-8557-BCE0AB032699}"/>
              </a:ext>
            </a:extLst>
          </p:cNvPr>
          <p:cNvSpPr/>
          <p:nvPr/>
        </p:nvSpPr>
        <p:spPr>
          <a:xfrm>
            <a:off x="3083280" y="5762248"/>
            <a:ext cx="371508" cy="379195"/>
          </a:xfrm>
          <a:prstGeom prst="flowChartConnector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D9946648-CB81-7811-2A2A-3090FF5ACAE7}"/>
              </a:ext>
            </a:extLst>
          </p:cNvPr>
          <p:cNvCxnSpPr>
            <a:cxnSpLocks/>
          </p:cNvCxnSpPr>
          <p:nvPr/>
        </p:nvCxnSpPr>
        <p:spPr>
          <a:xfrm flipH="1" flipV="1">
            <a:off x="3264216" y="3818516"/>
            <a:ext cx="0" cy="195331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Connettore 12">
            <a:extLst>
              <a:ext uri="{FF2B5EF4-FFF2-40B4-BE49-F238E27FC236}">
                <a16:creationId xmlns:a16="http://schemas.microsoft.com/office/drawing/2014/main" id="{75A5696F-AA76-F69E-A804-9E43C3B6EBA9}"/>
              </a:ext>
            </a:extLst>
          </p:cNvPr>
          <p:cNvSpPr/>
          <p:nvPr/>
        </p:nvSpPr>
        <p:spPr>
          <a:xfrm>
            <a:off x="3193868" y="3657893"/>
            <a:ext cx="154382" cy="153767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2934090C-F68F-1003-059F-5F3227C99873}"/>
              </a:ext>
            </a:extLst>
          </p:cNvPr>
          <p:cNvCxnSpPr>
            <a:cxnSpLocks/>
          </p:cNvCxnSpPr>
          <p:nvPr/>
        </p:nvCxnSpPr>
        <p:spPr>
          <a:xfrm flipH="1" flipV="1">
            <a:off x="1932077" y="3735422"/>
            <a:ext cx="1207224" cy="210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46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77A67B-AF6C-7357-C44A-83E332CB5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Arial"/>
              </a:rPr>
              <a:t>Elliptical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cilinder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it-IT" err="1">
                <a:latin typeface="Times New Roman"/>
                <a:cs typeface="Arial"/>
              </a:rPr>
              <a:t>encapsulation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testo 4">
                <a:extLst>
                  <a:ext uri="{FF2B5EF4-FFF2-40B4-BE49-F238E27FC236}">
                    <a16:creationId xmlns:a16="http://schemas.microsoft.com/office/drawing/2014/main" id="{79C7AA02-CC3F-8415-F321-FFA405ED69D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it-IT">
                    <a:latin typeface="Times New Roman"/>
                    <a:cs typeface="Arial"/>
                  </a:rPr>
                  <a:t>Zin vs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it-IT" b="1" i="0" smtClean="0">
                            <a:latin typeface="Cambria Math" panose="02040503050406030204" pitchFamily="18" charset="0"/>
                            <a:cs typeface="Arial"/>
                          </a:rPr>
                          <m:t> </m:t>
                        </m:r>
                        <m:r>
                          <a:rPr lang="it-IT" b="1" i="0" smtClean="0">
                            <a:latin typeface="Cambria Math" panose="02040503050406030204" pitchFamily="18" charset="0"/>
                            <a:cs typeface="Arial"/>
                          </a:rPr>
                          <m:t>𝐡</m:t>
                        </m:r>
                      </m:e>
                      <m:sub>
                        <m:r>
                          <a:rPr lang="it-IT" b="1" i="0" smtClean="0">
                            <a:latin typeface="Cambria Math" panose="02040503050406030204" pitchFamily="18" charset="0"/>
                            <a:cs typeface="Arial"/>
                          </a:rPr>
                          <m:t>𝐢𝐦𝐩𝐥</m:t>
                        </m:r>
                      </m:sub>
                    </m:sSub>
                  </m:oMath>
                </a14:m>
                <a:endParaRPr lang="it-IT">
                  <a:latin typeface="Times New Roman"/>
                  <a:cs typeface="Arial"/>
                </a:endParaRPr>
              </a:p>
            </p:txBody>
          </p:sp>
        </mc:Choice>
        <mc:Fallback xmlns="">
          <p:sp>
            <p:nvSpPr>
              <p:cNvPr id="5" name="Segnaposto testo 4">
                <a:extLst>
                  <a:ext uri="{FF2B5EF4-FFF2-40B4-BE49-F238E27FC236}">
                    <a16:creationId xmlns:a16="http://schemas.microsoft.com/office/drawing/2014/main" id="{79C7AA02-CC3F-8415-F321-FFA405ED6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17105" r="-59" b="-2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E93C0FD9-7DC7-D021-34E8-570BE4F8F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/>
          <a:stretch>
            <a:fillRect/>
          </a:stretch>
        </p:blipFill>
        <p:spPr>
          <a:xfrm>
            <a:off x="1010655" y="1247006"/>
            <a:ext cx="10170690" cy="5193665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E9C3E8-D3BF-9D7E-93BF-1CCFFBED8849}"/>
              </a:ext>
            </a:extLst>
          </p:cNvPr>
          <p:cNvSpPr txBox="1"/>
          <p:nvPr/>
        </p:nvSpPr>
        <p:spPr>
          <a:xfrm>
            <a:off x="7446012" y="1300323"/>
            <a:ext cx="269026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it-IT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(W=</a:t>
            </a:r>
            <a:r>
              <a:rPr lang="it-IT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it-IT" sz="16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,5mm L=18 mm)</a:t>
            </a:r>
          </a:p>
        </p:txBody>
      </p:sp>
    </p:spTree>
    <p:extLst>
      <p:ext uri="{BB962C8B-B14F-4D97-AF65-F5344CB8AC3E}">
        <p14:creationId xmlns:p14="http://schemas.microsoft.com/office/powerpoint/2010/main" val="336928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7CF38C48-AE5F-6376-E719-6CB1A230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Approaching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AF4BEEE-B411-18C9-92B7-3E091348DB79}"/>
              </a:ext>
            </a:extLst>
          </p:cNvPr>
          <p:cNvSpPr txBox="1"/>
          <p:nvPr/>
        </p:nvSpPr>
        <p:spPr>
          <a:xfrm>
            <a:off x="452283" y="1778382"/>
            <a:ext cx="315615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err="1">
                <a:latin typeface="Times New Roman"/>
                <a:cs typeface="Times New Roman"/>
              </a:rPr>
              <a:t>Adding</a:t>
            </a:r>
            <a:r>
              <a:rPr lang="it-IT" sz="2200">
                <a:latin typeface="Times New Roman"/>
                <a:cs typeface="Times New Roman"/>
              </a:rPr>
              <a:t> chip footprint and matching the </a:t>
            </a:r>
            <a:r>
              <a:rPr lang="it-IT" sz="2200" err="1">
                <a:latin typeface="Times New Roman"/>
                <a:cs typeface="Times New Roman"/>
              </a:rPr>
              <a:t>impedance</a:t>
            </a:r>
            <a:endParaRPr lang="it-IT" sz="2200" b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AE909D6-C6C3-ABF4-A010-E4200839BA4B}"/>
              </a:ext>
            </a:extLst>
          </p:cNvPr>
          <p:cNvCxnSpPr/>
          <p:nvPr/>
        </p:nvCxnSpPr>
        <p:spPr>
          <a:xfrm>
            <a:off x="4031226" y="2202432"/>
            <a:ext cx="11503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3ADE1914-EDCA-3ED8-8D18-955CD82B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4" r="10837"/>
          <a:stretch>
            <a:fillRect/>
          </a:stretch>
        </p:blipFill>
        <p:spPr>
          <a:xfrm>
            <a:off x="5466736" y="1071863"/>
            <a:ext cx="2172929" cy="2182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C3C5D0D-1F19-753C-F70E-1DED8D5AE91B}"/>
                  </a:ext>
                </a:extLst>
              </p:cNvPr>
              <p:cNvSpPr txBox="1"/>
              <p:nvPr/>
            </p:nvSpPr>
            <p:spPr>
              <a:xfrm>
                <a:off x="7924801" y="1949388"/>
                <a:ext cx="4149630" cy="42742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chip</m:t>
                        </m:r>
                      </m:sub>
                    </m:sSub>
                  </m:oMath>
                </a14:m>
                <a:r>
                  <a:rPr lang="it-IT" sz="2000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(@915 MHz)= 30 - i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it-IT" sz="2000" b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195</a:t>
                </a:r>
                <a:r>
                  <a:rPr lang="el-G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endParaRPr lang="it-IT" sz="20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C3C5D0D-1F19-753C-F70E-1DED8D5AE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1" y="1949388"/>
                <a:ext cx="4149630" cy="427425"/>
              </a:xfrm>
              <a:prstGeom prst="rect">
                <a:avLst/>
              </a:prstGeom>
              <a:blipFill>
                <a:blip r:embed="rId3"/>
                <a:stretch>
                  <a:fillRect t="-7143" b="-1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442BA2A-31A0-8275-94DD-AD4CF63978DF}"/>
              </a:ext>
            </a:extLst>
          </p:cNvPr>
          <p:cNvSpPr txBox="1"/>
          <p:nvPr/>
        </p:nvSpPr>
        <p:spPr>
          <a:xfrm>
            <a:off x="1101213" y="4298433"/>
            <a:ext cx="282185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  <a:endParaRPr lang="it-IT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8EBC4385-B2E6-313F-6AF8-313D353AE32A}"/>
              </a:ext>
            </a:extLst>
          </p:cNvPr>
          <p:cNvCxnSpPr/>
          <p:nvPr/>
        </p:nvCxnSpPr>
        <p:spPr>
          <a:xfrm>
            <a:off x="3033251" y="4513876"/>
            <a:ext cx="11503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28.600 Vescica Illustrazioni stock, grafiche vettoriali royalty-free e clip  art - iStock | Urinare, Vescia, Rene">
            <a:extLst>
              <a:ext uri="{FF2B5EF4-FFF2-40B4-BE49-F238E27FC236}">
                <a16:creationId xmlns:a16="http://schemas.microsoft.com/office/drawing/2014/main" id="{D43545C3-5DFF-A6C9-90D0-C70382CDA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7" t="23020" r="26349" b="30381"/>
          <a:stretch>
            <a:fillRect/>
          </a:stretch>
        </p:blipFill>
        <p:spPr bwMode="auto">
          <a:xfrm>
            <a:off x="5466736" y="3535055"/>
            <a:ext cx="2208857" cy="218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556217-9068-C08C-DB6F-18B99962F422}"/>
              </a:ext>
            </a:extLst>
          </p:cNvPr>
          <p:cNvSpPr txBox="1"/>
          <p:nvPr/>
        </p:nvSpPr>
        <p:spPr>
          <a:xfrm>
            <a:off x="5466736" y="5920458"/>
            <a:ext cx="2208857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endParaRPr lang="it-IT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alloncini nero lattice 30 cm 20 pezzi | Mister Festa">
            <a:extLst>
              <a:ext uri="{FF2B5EF4-FFF2-40B4-BE49-F238E27FC236}">
                <a16:creationId xmlns:a16="http://schemas.microsoft.com/office/drawing/2014/main" id="{F45061E5-AF23-1491-2AD1-63A8EBD017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0" t="2181" r="13754"/>
          <a:stretch>
            <a:fillRect/>
          </a:stretch>
        </p:blipFill>
        <p:spPr bwMode="auto">
          <a:xfrm>
            <a:off x="9426640" y="3535055"/>
            <a:ext cx="1664147" cy="218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5EB2F7B-C771-CEBA-25F6-66C472439F4A}"/>
              </a:ext>
            </a:extLst>
          </p:cNvPr>
          <p:cNvSpPr txBox="1"/>
          <p:nvPr/>
        </p:nvSpPr>
        <p:spPr>
          <a:xfrm>
            <a:off x="8967019" y="5920457"/>
            <a:ext cx="2635046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r>
              <a:rPr lang="it-IT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balloon</a:t>
            </a:r>
          </a:p>
        </p:txBody>
      </p:sp>
    </p:spTree>
    <p:extLst>
      <p:ext uri="{BB962C8B-B14F-4D97-AF65-F5344CB8AC3E}">
        <p14:creationId xmlns:p14="http://schemas.microsoft.com/office/powerpoint/2010/main" val="12424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3D0D-5288-7522-D47B-E8B440FA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Final</a:t>
            </a:r>
            <a:r>
              <a:rPr lang="it-IT">
                <a:latin typeface="Times New Roman"/>
                <a:ea typeface="Calibri"/>
                <a:cs typeface="Arial"/>
              </a:rPr>
              <a:t> Model </a:t>
            </a:r>
            <a:r>
              <a:rPr lang="it-IT" err="1">
                <a:latin typeface="Times New Roman"/>
                <a:ea typeface="Calibri"/>
                <a:cs typeface="Arial"/>
              </a:rPr>
              <a:t>Dimension</a:t>
            </a:r>
            <a:endParaRPr lang="it-IT" err="1">
              <a:latin typeface="Times New Roman"/>
            </a:endParaRPr>
          </a:p>
        </p:txBody>
      </p:sp>
      <p:pic>
        <p:nvPicPr>
          <p:cNvPr id="6" name="Immagine 5" descr="Immagine che contiene simbolo, logo, cerchio, Elementi grafici&#10;&#10;Il contenuto generato dall&amp;#39;IA potrebbe non essere corretto.">
            <a:extLst>
              <a:ext uri="{FF2B5EF4-FFF2-40B4-BE49-F238E27FC236}">
                <a16:creationId xmlns:a16="http://schemas.microsoft.com/office/drawing/2014/main" id="{BAD9223A-0D9F-3C1F-7F3F-689159509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05" y="1711658"/>
            <a:ext cx="5442858" cy="30480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510FB10-AD0F-08E1-32AF-583DFAC5CEB2}"/>
              </a:ext>
            </a:extLst>
          </p:cNvPr>
          <p:cNvSpPr txBox="1"/>
          <p:nvPr/>
        </p:nvSpPr>
        <p:spPr>
          <a:xfrm>
            <a:off x="652614" y="1224735"/>
            <a:ext cx="406037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Dipole</a:t>
            </a:r>
            <a:r>
              <a:rPr lang="it-IT" sz="2200">
                <a:latin typeface="Times New Roman"/>
                <a:ea typeface="Calibri"/>
                <a:cs typeface="Calibri"/>
              </a:rPr>
              <a:t> L = 27mm x W = 1.5 mm</a:t>
            </a:r>
            <a:endParaRPr lang="it-IT" sz="2200" b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C4E645-F52F-95C8-8A57-DECD84B799F2}"/>
              </a:ext>
            </a:extLst>
          </p:cNvPr>
          <p:cNvSpPr txBox="1"/>
          <p:nvPr/>
        </p:nvSpPr>
        <p:spPr>
          <a:xfrm>
            <a:off x="283343" y="4761586"/>
            <a:ext cx="620989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Elliptical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Incapsulation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:</a:t>
            </a:r>
          </a:p>
          <a:p>
            <a:r>
              <a:rPr lang="it-IT" sz="2200" dirty="0">
                <a:latin typeface="Times New Roman"/>
                <a:ea typeface="Calibri"/>
                <a:cs typeface="Calibri"/>
              </a:rPr>
              <a:t>-Major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axis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30 mm</a:t>
            </a:r>
          </a:p>
          <a:p>
            <a:r>
              <a:rPr lang="it-IT" sz="2200" dirty="0">
                <a:latin typeface="Times New Roman"/>
                <a:ea typeface="Calibri"/>
                <a:cs typeface="Calibri"/>
              </a:rPr>
              <a:t>-Minor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axis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15 mm (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during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prototyping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could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be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higher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according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to </a:t>
            </a:r>
            <a:r>
              <a:rPr lang="it-IT" sz="2200">
                <a:latin typeface="Times New Roman"/>
                <a:ea typeface="Calibri"/>
                <a:cs typeface="Calibri"/>
              </a:rPr>
              <a:t>the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ability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in cutting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thin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kapton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F054EF-FBF5-70ED-F1EF-0D22E6482C1B}"/>
              </a:ext>
            </a:extLst>
          </p:cNvPr>
          <p:cNvSpPr txBox="1"/>
          <p:nvPr/>
        </p:nvSpPr>
        <p:spPr>
          <a:xfrm>
            <a:off x="4898635" y="1066201"/>
            <a:ext cx="198365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800" b="1" i="1" err="1">
                <a:latin typeface="Times New Roman"/>
                <a:ea typeface="Calibri"/>
                <a:cs typeface="Calibri"/>
              </a:rPr>
              <a:t>Asygn</a:t>
            </a:r>
            <a:r>
              <a:rPr lang="it-IT" sz="1800" b="1" i="1">
                <a:latin typeface="Times New Roman"/>
                <a:ea typeface="Calibri"/>
                <a:cs typeface="Calibri"/>
              </a:rPr>
              <a:t> AS3213S_5</a:t>
            </a:r>
            <a:r>
              <a:rPr lang="it-IT" b="1" i="1">
                <a:latin typeface="Times New Roman"/>
                <a:ea typeface="Calibri"/>
                <a:cs typeface="Calibri"/>
              </a:rPr>
              <a:t> Footprint</a:t>
            </a:r>
            <a:endParaRPr lang="it-IT" sz="1800" b="1" i="1">
              <a:latin typeface="Times New Roman"/>
              <a:ea typeface="Calibri"/>
              <a:cs typeface="Calibri"/>
            </a:endParaRP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12E9075F-E47F-FDD8-2C8F-F1E1521DE21D}"/>
              </a:ext>
            </a:extLst>
          </p:cNvPr>
          <p:cNvCxnSpPr/>
          <p:nvPr/>
        </p:nvCxnSpPr>
        <p:spPr>
          <a:xfrm flipV="1">
            <a:off x="3299531" y="1488011"/>
            <a:ext cx="1569297" cy="77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magine 2" descr="Immagine che contiene schermata, cartone animat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7DBADAFC-DA0C-9970-1115-D08B5DA91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7" t="-967" r="28154" b="2076"/>
          <a:stretch>
            <a:fillRect/>
          </a:stretch>
        </p:blipFill>
        <p:spPr>
          <a:xfrm>
            <a:off x="6092186" y="1693802"/>
            <a:ext cx="5678567" cy="306646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913AE9-892D-1005-B5AE-2E7660F68C1D}"/>
              </a:ext>
            </a:extLst>
          </p:cNvPr>
          <p:cNvSpPr txBox="1"/>
          <p:nvPr/>
        </p:nvSpPr>
        <p:spPr>
          <a:xfrm>
            <a:off x="6627290" y="4930864"/>
            <a:ext cx="4060371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Elliptical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Incapsulation</a:t>
            </a:r>
            <a:r>
              <a:rPr lang="it-IT" sz="2200">
                <a:latin typeface="Times New Roman"/>
                <a:ea typeface="Calibri"/>
                <a:cs typeface="Calibri"/>
              </a:rPr>
              <a:t>:</a:t>
            </a:r>
          </a:p>
          <a:p>
            <a:r>
              <a:rPr lang="it-IT" sz="2200">
                <a:latin typeface="Times New Roman"/>
                <a:ea typeface="Calibri"/>
                <a:cs typeface="Calibri"/>
              </a:rPr>
              <a:t>-Bottom silicon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layer</a:t>
            </a:r>
            <a:r>
              <a:rPr lang="it-IT" sz="2200">
                <a:latin typeface="Times New Roman"/>
                <a:ea typeface="Calibri"/>
                <a:cs typeface="Calibri"/>
              </a:rPr>
              <a:t> 1 mm</a:t>
            </a:r>
          </a:p>
          <a:p>
            <a:r>
              <a:rPr lang="it-IT" sz="2200">
                <a:latin typeface="Times New Roman"/>
                <a:ea typeface="Calibri"/>
                <a:cs typeface="Calibri"/>
              </a:rPr>
              <a:t>-Top low-</a:t>
            </a:r>
            <a:r>
              <a:rPr lang="el-GR" sz="2400">
                <a:latin typeface="Times New Roman"/>
                <a:ea typeface="Calibri"/>
                <a:cs typeface="Times New Roman"/>
              </a:rPr>
              <a:t>ε</a:t>
            </a:r>
            <a:r>
              <a:rPr lang="it-IT" sz="2200">
                <a:latin typeface="Times New Roman"/>
                <a:ea typeface="Calibri"/>
                <a:cs typeface="Calibri"/>
              </a:rPr>
              <a:t> </a:t>
            </a:r>
            <a:r>
              <a:rPr lang="it-IT" sz="2200" err="1">
                <a:latin typeface="Times New Roman"/>
                <a:ea typeface="Calibri"/>
                <a:cs typeface="Calibri"/>
              </a:rPr>
              <a:t>material</a:t>
            </a:r>
            <a:r>
              <a:rPr lang="it-IT" sz="2200">
                <a:latin typeface="Times New Roman"/>
                <a:ea typeface="Calibri"/>
                <a:cs typeface="Calibri"/>
              </a:rPr>
              <a:t> himpl 2 mm</a:t>
            </a:r>
          </a:p>
        </p:txBody>
      </p:sp>
    </p:spTree>
    <p:extLst>
      <p:ext uri="{BB962C8B-B14F-4D97-AF65-F5344CB8AC3E}">
        <p14:creationId xmlns:p14="http://schemas.microsoft.com/office/powerpoint/2010/main" val="393931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8794-9A4F-91AE-B420-AD1BDB6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Times New Roman"/>
                <a:ea typeface="Calibri"/>
                <a:cs typeface="Arial"/>
              </a:rPr>
              <a:t>Real </a:t>
            </a:r>
            <a:r>
              <a:rPr lang="it-IT" err="1">
                <a:latin typeface="Times New Roman"/>
                <a:ea typeface="Calibri"/>
                <a:cs typeface="Arial"/>
              </a:rPr>
              <a:t>Bladder</a:t>
            </a:r>
            <a:r>
              <a:rPr lang="it-IT">
                <a:latin typeface="Times New Roman"/>
                <a:ea typeface="Calibri"/>
                <a:cs typeface="Arial"/>
              </a:rPr>
              <a:t> Tag </a:t>
            </a:r>
            <a:r>
              <a:rPr lang="it-IT" err="1">
                <a:latin typeface="Times New Roman"/>
                <a:ea typeface="Calibri"/>
                <a:cs typeface="Arial"/>
              </a:rPr>
              <a:t>Impedance</a:t>
            </a:r>
            <a:endParaRPr lang="it-IT" err="1">
              <a:latin typeface="Times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55AD0-C479-A787-FB52-8714D1ACD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Including</a:t>
            </a:r>
            <a:r>
              <a:rPr lang="it-IT">
                <a:latin typeface="Times New Roman"/>
                <a:ea typeface="Calibri"/>
                <a:cs typeface="Arial"/>
              </a:rPr>
              <a:t> chip footprint</a:t>
            </a:r>
            <a:endParaRPr lang="it-IT">
              <a:latin typeface="Times New Roman"/>
              <a:ea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3570309-DB56-8E6B-67A6-8695C1323F06}"/>
              </a:ext>
            </a:extLst>
          </p:cNvPr>
          <p:cNvSpPr txBox="1"/>
          <p:nvPr/>
        </p:nvSpPr>
        <p:spPr>
          <a:xfrm>
            <a:off x="7867320" y="1158226"/>
            <a:ext cx="331347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dirty="0">
                <a:latin typeface="Times New Roman"/>
                <a:cs typeface="Times New Roman"/>
              </a:rPr>
              <a:t>Half-</a:t>
            </a:r>
            <a:r>
              <a:rPr lang="it-IT" sz="2200" dirty="0" err="1">
                <a:latin typeface="Times New Roman"/>
                <a:cs typeface="Times New Roman"/>
              </a:rPr>
              <a:t>Filled</a:t>
            </a:r>
            <a:r>
              <a:rPr lang="it-IT" sz="2200" b="0" dirty="0">
                <a:latin typeface="Times New Roman"/>
                <a:cs typeface="Times New Roman"/>
              </a:rPr>
              <a:t> </a:t>
            </a:r>
            <a:r>
              <a:rPr lang="it-IT" sz="2200" b="0" dirty="0" err="1">
                <a:latin typeface="Times New Roman"/>
                <a:cs typeface="Times New Roman"/>
              </a:rPr>
              <a:t>bladder</a:t>
            </a:r>
            <a:endParaRPr lang="it-IT" sz="2200" b="0" dirty="0">
              <a:latin typeface="Times New Roman"/>
              <a:cs typeface="Times New Roman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B8E539-E7F5-8F07-1C51-F46C28ED8D99}"/>
              </a:ext>
            </a:extLst>
          </p:cNvPr>
          <p:cNvSpPr txBox="1"/>
          <p:nvPr/>
        </p:nvSpPr>
        <p:spPr>
          <a:xfrm>
            <a:off x="-145105" y="2402344"/>
            <a:ext cx="206360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b="0" dirty="0" err="1">
                <a:latin typeface="Times New Roman"/>
                <a:cs typeface="Times New Roman"/>
              </a:rPr>
              <a:t>Empty</a:t>
            </a:r>
            <a:r>
              <a:rPr lang="it-IT" sz="2200" b="0" dirty="0">
                <a:latin typeface="Times New Roman"/>
                <a:cs typeface="Times New Roman"/>
              </a:rPr>
              <a:t> </a:t>
            </a:r>
            <a:r>
              <a:rPr lang="it-IT" sz="2200" b="0" dirty="0" err="1">
                <a:latin typeface="Times New Roman"/>
                <a:cs typeface="Times New Roman"/>
              </a:rPr>
              <a:t>bladder</a:t>
            </a:r>
            <a:endParaRPr lang="it-IT" sz="2200" b="0" dirty="0">
              <a:latin typeface="Times New Roman"/>
              <a:cs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4AC38D-89B8-B0DB-4852-E97518F20044}"/>
              </a:ext>
            </a:extLst>
          </p:cNvPr>
          <p:cNvSpPr txBox="1"/>
          <p:nvPr/>
        </p:nvSpPr>
        <p:spPr>
          <a:xfrm>
            <a:off x="7315200" y="5776718"/>
            <a:ext cx="441771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>
                <a:latin typeface="Times New Roman"/>
                <a:ea typeface="Calibri"/>
                <a:cs typeface="Calibri"/>
              </a:rPr>
              <a:t>No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variations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with filling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condition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(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already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knew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) </a:t>
            </a:r>
            <a:endParaRPr lang="it-IT" sz="2200" b="0" dirty="0">
              <a:latin typeface="Times New Roman"/>
            </a:endParaRPr>
          </a:p>
        </p:txBody>
      </p:sp>
      <p:pic>
        <p:nvPicPr>
          <p:cNvPr id="12" name="Immagine 11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AE9725EF-C6D9-A50A-782F-91795ED1B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1"/>
          <a:stretch>
            <a:fillRect/>
          </a:stretch>
        </p:blipFill>
        <p:spPr>
          <a:xfrm>
            <a:off x="1891793" y="4033600"/>
            <a:ext cx="4670727" cy="2387607"/>
          </a:xfrm>
          <a:prstGeom prst="rect">
            <a:avLst/>
          </a:prstGeom>
        </p:spPr>
      </p:pic>
      <p:pic>
        <p:nvPicPr>
          <p:cNvPr id="13" name="Immagine 12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08D67950-3E22-B0DF-7CBE-23CFF78AEF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0"/>
          <a:stretch>
            <a:fillRect/>
          </a:stretch>
        </p:blipFill>
        <p:spPr>
          <a:xfrm>
            <a:off x="7315200" y="1550097"/>
            <a:ext cx="4762326" cy="2407361"/>
          </a:xfrm>
          <a:prstGeom prst="rect">
            <a:avLst/>
          </a:prstGeom>
        </p:spPr>
      </p:pic>
      <p:pic>
        <p:nvPicPr>
          <p:cNvPr id="15" name="Immagine 14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871F345A-3FA0-0B71-219B-9EBF291E21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58"/>
          <a:stretch>
            <a:fillRect/>
          </a:stretch>
        </p:blipFill>
        <p:spPr>
          <a:xfrm>
            <a:off x="1904965" y="1507850"/>
            <a:ext cx="4550931" cy="235788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AF991B-795B-79B3-E444-DF13E5C03F4A}"/>
              </a:ext>
            </a:extLst>
          </p:cNvPr>
          <p:cNvSpPr txBox="1"/>
          <p:nvPr/>
        </p:nvSpPr>
        <p:spPr>
          <a:xfrm>
            <a:off x="-145105" y="4919263"/>
            <a:ext cx="230866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dirty="0">
                <a:latin typeface="Times New Roman"/>
                <a:cs typeface="Times New Roman"/>
              </a:rPr>
              <a:t>F</a:t>
            </a:r>
            <a:r>
              <a:rPr lang="it-IT" sz="2200" b="0" dirty="0">
                <a:latin typeface="Times New Roman"/>
                <a:cs typeface="Times New Roman"/>
              </a:rPr>
              <a:t>ull </a:t>
            </a:r>
            <a:r>
              <a:rPr lang="it-IT" sz="2200" b="0" dirty="0" err="1">
                <a:latin typeface="Times New Roman"/>
                <a:cs typeface="Times New Roman"/>
              </a:rPr>
              <a:t>bladder</a:t>
            </a:r>
            <a:endParaRPr lang="it-IT" sz="2200" b="0" dirty="0">
              <a:latin typeface="Times New Roman"/>
              <a:cs typeface="Times New Roman"/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B1E8203-9E89-AB2E-342F-4C7E5327E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49703"/>
              </p:ext>
            </p:extLst>
          </p:nvPr>
        </p:nvGraphicFramePr>
        <p:xfrm>
          <a:off x="7315200" y="4290898"/>
          <a:ext cx="4373280" cy="1374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320">
                  <a:extLst>
                    <a:ext uri="{9D8B030D-6E8A-4147-A177-3AD203B41FA5}">
                      <a16:colId xmlns:a16="http://schemas.microsoft.com/office/drawing/2014/main" val="1914808266"/>
                    </a:ext>
                  </a:extLst>
                </a:gridCol>
                <a:gridCol w="1093320">
                  <a:extLst>
                    <a:ext uri="{9D8B030D-6E8A-4147-A177-3AD203B41FA5}">
                      <a16:colId xmlns:a16="http://schemas.microsoft.com/office/drawing/2014/main" val="357519158"/>
                    </a:ext>
                  </a:extLst>
                </a:gridCol>
                <a:gridCol w="1093320">
                  <a:extLst>
                    <a:ext uri="{9D8B030D-6E8A-4147-A177-3AD203B41FA5}">
                      <a16:colId xmlns:a16="http://schemas.microsoft.com/office/drawing/2014/main" val="558194139"/>
                    </a:ext>
                  </a:extLst>
                </a:gridCol>
                <a:gridCol w="1093320">
                  <a:extLst>
                    <a:ext uri="{9D8B030D-6E8A-4147-A177-3AD203B41FA5}">
                      <a16:colId xmlns:a16="http://schemas.microsoft.com/office/drawing/2014/main" val="2198176830"/>
                    </a:ext>
                  </a:extLst>
                </a:gridCol>
              </a:tblGrid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Bladder</a:t>
                      </a:r>
                      <a:endParaRPr lang="it-IT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Re(</a:t>
                      </a:r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Zin</a:t>
                      </a:r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[</a:t>
                      </a:r>
                      <a:r>
                        <a:rPr lang="el-G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Im(</a:t>
                      </a:r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Zin</a:t>
                      </a:r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[</a:t>
                      </a:r>
                      <a:r>
                        <a:rPr lang="el-G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487617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531189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Half-filled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659812"/>
                  </a:ext>
                </a:extLst>
              </a:tr>
              <a:tr h="34359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84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230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6C1DB5-188E-D2C9-0808-6EC72AA0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Schematic</a:t>
            </a:r>
            <a:r>
              <a:rPr lang="it-IT">
                <a:latin typeface="Times New Roman"/>
                <a:ea typeface="Calibri"/>
                <a:cs typeface="Arial"/>
              </a:rPr>
              <a:t> model</a:t>
            </a:r>
            <a:endParaRPr lang="it-IT">
              <a:latin typeface="Times New Roman"/>
            </a:endParaRPr>
          </a:p>
        </p:txBody>
      </p:sp>
      <p:pic>
        <p:nvPicPr>
          <p:cNvPr id="6" name="Content Placeholder 5" descr="Immagine che contiene testo, schermata, diagramm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E7F33216-F9DC-793D-F640-0BA2486636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77789" y="2412037"/>
            <a:ext cx="5306702" cy="2691312"/>
          </a:xfr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5A82E-5A93-DF52-87D3-DC1AF80A9019}"/>
              </a:ext>
            </a:extLst>
          </p:cNvPr>
          <p:cNvSpPr txBox="1"/>
          <p:nvPr/>
        </p:nvSpPr>
        <p:spPr>
          <a:xfrm>
            <a:off x="6457076" y="4833742"/>
            <a:ext cx="21086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>
                <a:latin typeface="Times New Roman"/>
                <a:ea typeface="Calibri"/>
                <a:cs typeface="Calibri"/>
              </a:rPr>
              <a:t>82nH </a:t>
            </a:r>
            <a:r>
              <a:rPr lang="it-IT" b="1" i="1" err="1">
                <a:latin typeface="Times New Roman"/>
                <a:ea typeface="Calibri"/>
                <a:cs typeface="Calibri"/>
              </a:rPr>
              <a:t>inductor</a:t>
            </a:r>
            <a:endParaRPr lang="it-IT" b="1" i="1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D4CB82-03FD-DDA6-0A13-089C6C3BD4FC}"/>
              </a:ext>
            </a:extLst>
          </p:cNvPr>
          <p:cNvSpPr txBox="1"/>
          <p:nvPr/>
        </p:nvSpPr>
        <p:spPr>
          <a:xfrm>
            <a:off x="184101" y="1281348"/>
            <a:ext cx="947609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Ideally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would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need</a:t>
            </a:r>
            <a:r>
              <a:rPr lang="it-IT" sz="2200">
                <a:latin typeface="Times New Roman"/>
                <a:ea typeface="Calibri"/>
                <a:cs typeface="Calibri"/>
              </a:rPr>
              <a:t> an 89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series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inductor</a:t>
            </a:r>
            <a:r>
              <a:rPr lang="it-IT" sz="2200">
                <a:latin typeface="Times New Roman"/>
                <a:ea typeface="Calibri"/>
                <a:cs typeface="Calibri"/>
              </a:rPr>
              <a:t> to match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chip's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impedance</a:t>
            </a:r>
            <a:endParaRPr lang="it-IT" sz="2200" b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45E1DDE-C083-A2C1-8CE6-146541505E31}"/>
              </a:ext>
            </a:extLst>
          </p:cNvPr>
          <p:cNvSpPr txBox="1"/>
          <p:nvPr/>
        </p:nvSpPr>
        <p:spPr>
          <a:xfrm>
            <a:off x="267641" y="5463882"/>
            <a:ext cx="100106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According</a:t>
            </a:r>
            <a:r>
              <a:rPr lang="it-IT" sz="2200">
                <a:latin typeface="Times New Roman"/>
                <a:ea typeface="Calibri"/>
                <a:cs typeface="Calibri"/>
              </a:rPr>
              <a:t> to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available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real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inductors</a:t>
            </a:r>
            <a:r>
              <a:rPr lang="it-IT" sz="2200">
                <a:latin typeface="Times New Roman"/>
                <a:ea typeface="Calibri"/>
                <a:cs typeface="Calibri"/>
              </a:rPr>
              <a:t>, 82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showed</a:t>
            </a:r>
            <a:r>
              <a:rPr lang="it-IT" sz="2200">
                <a:latin typeface="Times New Roman"/>
                <a:ea typeface="Calibri"/>
                <a:cs typeface="Calibri"/>
              </a:rPr>
              <a:t> best performances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8" name="Immagine 7" descr="Immagine che contiene diagramma, schermata, line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690D792F-A35C-D774-CC9A-9720D5DD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3" r="11262" b="357"/>
          <a:stretch>
            <a:fillRect/>
          </a:stretch>
        </p:blipFill>
        <p:spPr>
          <a:xfrm>
            <a:off x="179434" y="2645817"/>
            <a:ext cx="6411032" cy="2009930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E978484-385B-4F0B-8F91-7DDDC21BB0C3}"/>
              </a:ext>
            </a:extLst>
          </p:cNvPr>
          <p:cNvCxnSpPr/>
          <p:nvPr/>
        </p:nvCxnSpPr>
        <p:spPr>
          <a:xfrm flipV="1">
            <a:off x="3381780" y="2755210"/>
            <a:ext cx="7845014" cy="9099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857B529F-AF2B-2F97-FADA-87A7AEAEBCE0}"/>
              </a:ext>
            </a:extLst>
          </p:cNvPr>
          <p:cNvCxnSpPr>
            <a:cxnSpLocks/>
          </p:cNvCxnSpPr>
          <p:nvPr/>
        </p:nvCxnSpPr>
        <p:spPr>
          <a:xfrm>
            <a:off x="3393152" y="4040475"/>
            <a:ext cx="3295761" cy="4320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2DF84A2-EA41-6DC8-ECDF-0518ACD9F254}"/>
              </a:ext>
            </a:extLst>
          </p:cNvPr>
          <p:cNvCxnSpPr>
            <a:cxnSpLocks/>
          </p:cNvCxnSpPr>
          <p:nvPr/>
        </p:nvCxnSpPr>
        <p:spPr>
          <a:xfrm flipV="1">
            <a:off x="7055300" y="2459507"/>
            <a:ext cx="8927" cy="3299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79212A6-B1BC-C029-3B6B-5A67B1E23B39}"/>
              </a:ext>
            </a:extLst>
          </p:cNvPr>
          <p:cNvSpPr txBox="1"/>
          <p:nvPr/>
        </p:nvSpPr>
        <p:spPr>
          <a:xfrm>
            <a:off x="6098131" y="2020601"/>
            <a:ext cx="211767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ea typeface="Calibri"/>
                <a:cs typeface="Calibri"/>
              </a:rPr>
              <a:t>Reader Antenna</a:t>
            </a:r>
            <a:endParaRPr lang="it-IT" sz="2200" b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916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F9E185-B0A4-DC30-C78A-20663B3E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Times New Roman"/>
                <a:cs typeface="Arial"/>
              </a:rPr>
              <a:t>Real </a:t>
            </a:r>
            <a:r>
              <a:rPr lang="it-IT" err="1">
                <a:latin typeface="Times New Roman"/>
                <a:cs typeface="Arial"/>
              </a:rPr>
              <a:t>bladder</a:t>
            </a:r>
            <a:r>
              <a:rPr lang="it-IT">
                <a:latin typeface="Times New Roman"/>
                <a:cs typeface="Arial"/>
              </a:rPr>
              <a:t> </a:t>
            </a:r>
            <a:r>
              <a:rPr lang="el-GR">
                <a:latin typeface="Times New Roman"/>
                <a:ea typeface="Calibri"/>
                <a:cs typeface="Calibri"/>
              </a:rPr>
              <a:t>τ</a:t>
            </a:r>
            <a:r>
              <a:rPr lang="it-IT">
                <a:latin typeface="Times New Roman"/>
                <a:cs typeface="Arial"/>
              </a:rPr>
              <a:t> </a:t>
            </a:r>
            <a:endParaRPr lang="it-IT">
              <a:latin typeface="Times New Roman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48FAC5F-7CDE-FA17-32E7-DDC12B2C3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50% air and 50% urine</a:t>
            </a:r>
          </a:p>
        </p:txBody>
      </p:sp>
      <p:pic>
        <p:nvPicPr>
          <p:cNvPr id="3" name="Immagine 2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918467C8-CE07-9F87-4BB0-666401F34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6" t="90" r="6018"/>
          <a:stretch>
            <a:fillRect/>
          </a:stretch>
        </p:blipFill>
        <p:spPr>
          <a:xfrm>
            <a:off x="753020" y="1404322"/>
            <a:ext cx="8292657" cy="4450669"/>
          </a:xfrm>
          <a:prstGeom prst="rect">
            <a:avLst/>
          </a:pr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DA43878-5884-3B69-95F6-50B41E655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04923"/>
              </p:ext>
            </p:extLst>
          </p:nvPr>
        </p:nvGraphicFramePr>
        <p:xfrm>
          <a:off x="9337367" y="3002232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τ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745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6FAAB9B5-EEBD-589F-C81F-628FD4AF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en-US">
                <a:latin typeface="Times New Roman"/>
                <a:cs typeface="Arial"/>
              </a:rPr>
              <a:t>Real bladder G</a:t>
            </a:r>
            <a:r>
              <a:rPr lang="en-US" sz="2800">
                <a:latin typeface="Times New Roman"/>
                <a:cs typeface="Arial"/>
              </a:rPr>
              <a:t>T</a:t>
            </a:r>
            <a:endParaRPr lang="en-US" sz="2800">
              <a:latin typeface="Times New Roman"/>
              <a:ea typeface="Calibri"/>
            </a:endParaRPr>
          </a:p>
        </p:txBody>
      </p:sp>
      <p:sp>
        <p:nvSpPr>
          <p:cNvPr id="1033" name="Text Placeholder 3">
            <a:extLst>
              <a:ext uri="{FF2B5EF4-FFF2-40B4-BE49-F238E27FC236}">
                <a16:creationId xmlns:a16="http://schemas.microsoft.com/office/drawing/2014/main" id="{6ECAA7E1-4A63-61E2-E692-65305C6E24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50% air and 50% urine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26ECF33-887F-C344-3792-A153D6366974}"/>
              </a:ext>
            </a:extLst>
          </p:cNvPr>
          <p:cNvSpPr txBox="1"/>
          <p:nvPr/>
        </p:nvSpPr>
        <p:spPr>
          <a:xfrm>
            <a:off x="727587" y="5397910"/>
            <a:ext cx="10972800" cy="76352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200" err="1">
                <a:latin typeface="Times New Roman"/>
                <a:ea typeface="+mn-lt"/>
                <a:cs typeface="+mn-lt"/>
              </a:rPr>
              <a:t>Nothing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changes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between</a:t>
            </a:r>
            <a:r>
              <a:rPr lang="it-IT" sz="2200">
                <a:latin typeface="Times New Roman"/>
                <a:ea typeface="+mn-lt"/>
                <a:cs typeface="+mn-lt"/>
              </a:rPr>
              <a:t> the </a:t>
            </a:r>
            <a:r>
              <a:rPr lang="it-IT" sz="2200" err="1">
                <a:latin typeface="Times New Roman"/>
                <a:ea typeface="+mn-lt"/>
                <a:cs typeface="+mn-lt"/>
              </a:rPr>
              <a:t>three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types</a:t>
            </a:r>
            <a:r>
              <a:rPr lang="it-IT" sz="2200">
                <a:latin typeface="Times New Roman"/>
                <a:ea typeface="+mn-lt"/>
                <a:cs typeface="+mn-lt"/>
              </a:rPr>
              <a:t> of filling (</a:t>
            </a:r>
            <a:r>
              <a:rPr lang="it-IT" sz="2200" err="1">
                <a:latin typeface="Times New Roman"/>
                <a:ea typeface="+mn-lt"/>
                <a:cs typeface="+mn-lt"/>
              </a:rPr>
              <a:t>empty</a:t>
            </a:r>
            <a:r>
              <a:rPr lang="it-IT" sz="2200">
                <a:latin typeface="Times New Roman"/>
                <a:ea typeface="+mn-lt"/>
                <a:cs typeface="+mn-lt"/>
              </a:rPr>
              <a:t>, 50/50, full), </a:t>
            </a:r>
            <a:r>
              <a:rPr lang="it-IT" sz="2200" err="1">
                <a:latin typeface="Times New Roman"/>
                <a:ea typeface="+mn-lt"/>
                <a:cs typeface="+mn-lt"/>
              </a:rPr>
              <a:t>therefore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fluid</a:t>
            </a:r>
            <a:r>
              <a:rPr lang="it-IT" sz="2200">
                <a:latin typeface="Times New Roman"/>
                <a:ea typeface="+mn-lt"/>
                <a:cs typeface="+mn-lt"/>
              </a:rPr>
              <a:t> in the </a:t>
            </a:r>
            <a:r>
              <a:rPr lang="it-IT" sz="2200" err="1">
                <a:latin typeface="Times New Roman"/>
                <a:ea typeface="+mn-lt"/>
                <a:cs typeface="+mn-lt"/>
              </a:rPr>
              <a:t>bladder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is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not</a:t>
            </a:r>
            <a:r>
              <a:rPr lang="it-IT" sz="2200">
                <a:latin typeface="Times New Roman"/>
                <a:ea typeface="+mn-lt"/>
                <a:cs typeface="+mn-lt"/>
              </a:rPr>
              <a:t> a </a:t>
            </a:r>
            <a:r>
              <a:rPr lang="it-IT" sz="2200" err="1">
                <a:latin typeface="Times New Roman"/>
                <a:ea typeface="+mn-lt"/>
                <a:cs typeface="+mn-lt"/>
              </a:rPr>
              <a:t>determining</a:t>
            </a:r>
            <a:r>
              <a:rPr lang="it-IT" sz="2200">
                <a:latin typeface="Times New Roman"/>
                <a:ea typeface="+mn-lt"/>
                <a:cs typeface="+mn-lt"/>
              </a:rPr>
              <a:t> </a:t>
            </a:r>
            <a:r>
              <a:rPr lang="it-IT" sz="2200" err="1">
                <a:latin typeface="Times New Roman"/>
                <a:ea typeface="+mn-lt"/>
                <a:cs typeface="+mn-lt"/>
              </a:rPr>
              <a:t>factor</a:t>
            </a:r>
            <a:r>
              <a:rPr lang="it-IT" sz="2200">
                <a:latin typeface="Times New Roman"/>
                <a:ea typeface="+mn-lt"/>
                <a:cs typeface="+mn-lt"/>
              </a:rPr>
              <a:t>.</a:t>
            </a:r>
            <a:endParaRPr lang="it-IT" sz="2200" b="0">
              <a:solidFill>
                <a:schemeClr val="tx1"/>
              </a:solidFill>
            </a:endParaRPr>
          </a:p>
        </p:txBody>
      </p:sp>
      <p:pic>
        <p:nvPicPr>
          <p:cNvPr id="3" name="Immagine 2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5B547B6-7C4A-91AF-BA0E-8173D818D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04" y="1459157"/>
            <a:ext cx="8404747" cy="3938753"/>
          </a:xfrm>
          <a:prstGeom prst="rect">
            <a:avLst/>
          </a:pr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427C289A-C2B6-EC7D-4949-9598161AB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116790"/>
              </p:ext>
            </p:extLst>
          </p:nvPr>
        </p:nvGraphicFramePr>
        <p:xfrm>
          <a:off x="9248877" y="2851300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 [dB]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56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ADDC-BE92-1A34-767B-73220B87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353" y="60152"/>
            <a:ext cx="9130693" cy="853536"/>
          </a:xfrm>
        </p:spPr>
        <p:txBody>
          <a:bodyPr>
            <a:normAutofit/>
          </a:bodyPr>
          <a:lstStyle/>
          <a:p>
            <a:r>
              <a:rPr lang="it-IT" err="1">
                <a:latin typeface="Times New Roman"/>
                <a:ea typeface="Calibri"/>
                <a:cs typeface="Times New Roman"/>
              </a:rPr>
              <a:t>Balloon's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latin typeface="Times New Roman"/>
                <a:ea typeface="Calibri"/>
                <a:cs typeface="Times New Roman"/>
              </a:rPr>
              <a:t>dielectric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latin typeface="Times New Roman"/>
                <a:ea typeface="Calibri"/>
                <a:cs typeface="Times New Roman"/>
              </a:rPr>
              <a:t>characteristics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DF4D8-ACD2-77D4-045B-B26A56549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3353" y="4062008"/>
            <a:ext cx="7937953" cy="5443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 sz="2200">
                <a:latin typeface="Times New Roman"/>
                <a:ea typeface="Calibri"/>
                <a:cs typeface="Arial"/>
              </a:rPr>
              <a:t>Balloon </a:t>
            </a:r>
            <a:r>
              <a:rPr lang="it-IT" sz="2200" err="1">
                <a:latin typeface="Times New Roman"/>
                <a:ea typeface="Calibri"/>
                <a:cs typeface="Arial"/>
              </a:rPr>
              <a:t>thickness</a:t>
            </a:r>
            <a:r>
              <a:rPr lang="it-IT" sz="2200">
                <a:latin typeface="Times New Roman"/>
                <a:ea typeface="Calibri"/>
                <a:cs typeface="Arial"/>
              </a:rPr>
              <a:t> </a:t>
            </a:r>
            <a:r>
              <a:rPr lang="it-IT" sz="2200" err="1">
                <a:latin typeface="Times New Roman"/>
                <a:ea typeface="Calibri"/>
                <a:cs typeface="Arial"/>
              </a:rPr>
              <a:t>considered</a:t>
            </a:r>
            <a:r>
              <a:rPr lang="it-IT" sz="2200">
                <a:latin typeface="Times New Roman"/>
                <a:ea typeface="Calibri"/>
                <a:cs typeface="Arial"/>
              </a:rPr>
              <a:t>= 0,1 mm</a:t>
            </a:r>
            <a:endParaRPr lang="it-IT" sz="2200">
              <a:latin typeface="Times New Roman"/>
              <a:ea typeface="Calibri" panose="020F0502020204030204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BA4CF-0DE5-E3EB-F2EA-4800F2F905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4602" y="685623"/>
            <a:ext cx="10327398" cy="461665"/>
          </a:xfrm>
        </p:spPr>
        <p:txBody>
          <a:bodyPr/>
          <a:lstStyle/>
          <a:p>
            <a:r>
              <a:rPr lang="it-IT">
                <a:latin typeface="Times New Roman"/>
                <a:cs typeface="Arial"/>
              </a:rPr>
              <a:t>Cole – Cole model for latex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E6B1265-5E11-BB05-B470-52F2E182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0" y="1510579"/>
            <a:ext cx="10825239" cy="94506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03FD3C-40EC-840C-B2C6-FB4825FDCAD4}"/>
              </a:ext>
            </a:extLst>
          </p:cNvPr>
          <p:cNvSpPr txBox="1"/>
          <p:nvPr/>
        </p:nvSpPr>
        <p:spPr>
          <a:xfrm>
            <a:off x="6723353" y="4612637"/>
            <a:ext cx="2709882" cy="1690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200" err="1">
                <a:latin typeface="Times New Roman"/>
                <a:ea typeface="Calibri"/>
                <a:cs typeface="Times New Roman"/>
              </a:rPr>
              <a:t>Results</a:t>
            </a:r>
            <a:r>
              <a:rPr lang="it-IT" sz="2200">
                <a:latin typeface="Times New Roman"/>
                <a:ea typeface="Calibri"/>
                <a:cs typeface="Times New Roman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l-GR" sz="2400">
                <a:latin typeface="Times New Roman"/>
                <a:ea typeface="Calibri"/>
                <a:cs typeface="Times New Roman"/>
              </a:rPr>
              <a:t>ε </a:t>
            </a:r>
            <a:r>
              <a:rPr lang="it-IT" sz="2400">
                <a:latin typeface="Times New Roman"/>
                <a:ea typeface="Calibri" panose="020F0502020204030204"/>
                <a:cs typeface="Times New Roman"/>
              </a:rPr>
              <a:t>= 15 </a:t>
            </a:r>
            <a:endParaRPr lang="en-US" sz="240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l-GR" sz="2400">
                <a:latin typeface="Times New Roman"/>
                <a:ea typeface="Calibri"/>
                <a:cs typeface="Times New Roman"/>
              </a:rPr>
              <a:t>σ </a:t>
            </a:r>
            <a:r>
              <a:rPr lang="it-IT" sz="2400">
                <a:latin typeface="Times New Roman"/>
                <a:ea typeface="Calibri" panose="020F0502020204030204"/>
                <a:cs typeface="Times New Roman"/>
              </a:rPr>
              <a:t>=  0,5</a:t>
            </a:r>
          </a:p>
          <a:p>
            <a:endParaRPr lang="it-IT" sz="2200">
              <a:ea typeface="Calibri"/>
              <a:cs typeface="Calibri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F72E730-3B51-3BA5-26B5-908E41E785C3}"/>
              </a:ext>
            </a:extLst>
          </p:cNvPr>
          <p:cNvSpPr txBox="1"/>
          <p:nvPr/>
        </p:nvSpPr>
        <p:spPr>
          <a:xfrm>
            <a:off x="5368412" y="6519446"/>
            <a:ext cx="783631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l"/>
            <a:r>
              <a:rPr lang="it-IT" sz="1600">
                <a:latin typeface="Times New Roman"/>
                <a:cs typeface="Times New Roman"/>
              </a:rPr>
              <a:t>"</a:t>
            </a:r>
            <a:r>
              <a:rPr lang="it-IT" sz="1600" b="0" err="1">
                <a:latin typeface="Times New Roman"/>
                <a:cs typeface="Times New Roman"/>
              </a:rPr>
              <a:t>Characterisation</a:t>
            </a:r>
            <a:r>
              <a:rPr lang="it-IT" sz="1600" b="0">
                <a:latin typeface="Times New Roman"/>
                <a:cs typeface="Times New Roman"/>
              </a:rPr>
              <a:t> of the </a:t>
            </a:r>
            <a:r>
              <a:rPr lang="it-IT" sz="1600" b="0" err="1">
                <a:latin typeface="Times New Roman"/>
                <a:cs typeface="Times New Roman"/>
              </a:rPr>
              <a:t>dielectric</a:t>
            </a:r>
            <a:r>
              <a:rPr lang="it-IT" sz="1600" b="0">
                <a:latin typeface="Times New Roman"/>
                <a:cs typeface="Times New Roman"/>
              </a:rPr>
              <a:t> </a:t>
            </a:r>
            <a:r>
              <a:rPr lang="it-IT" sz="1600" b="0" err="1">
                <a:latin typeface="Times New Roman"/>
                <a:cs typeface="Times New Roman"/>
              </a:rPr>
              <a:t>properties</a:t>
            </a:r>
            <a:r>
              <a:rPr lang="it-IT" sz="1600" b="0">
                <a:latin typeface="Times New Roman"/>
                <a:cs typeface="Times New Roman"/>
              </a:rPr>
              <a:t> of rubber latex from 0.5 to 33 GHz</a:t>
            </a:r>
            <a:r>
              <a:rPr lang="it-IT" sz="1600">
                <a:latin typeface="Times New Roman"/>
                <a:cs typeface="Times New Roman"/>
              </a:rPr>
              <a:t>"</a:t>
            </a:r>
            <a:endParaRPr lang="it-IT" sz="1600" b="0">
              <a:latin typeface="Times New Roman"/>
              <a:cs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DEFA250-A5C4-FCFF-0220-B64EF13BCF2D}"/>
              </a:ext>
            </a:extLst>
          </p:cNvPr>
          <p:cNvSpPr txBox="1"/>
          <p:nvPr/>
        </p:nvSpPr>
        <p:spPr>
          <a:xfrm>
            <a:off x="697476" y="3080119"/>
            <a:ext cx="4756188" cy="2862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+mn-lt"/>
                <a:cs typeface="Calibri"/>
              </a:rPr>
              <a:t>Equation models the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complex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permittivity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el-GR" sz="2200">
                <a:latin typeface="Times New Roman"/>
                <a:ea typeface="Calibri"/>
                <a:cs typeface="Calibri"/>
              </a:rPr>
              <a:t>ε</a:t>
            </a:r>
            <a:r>
              <a:rPr lang="it-IT" sz="2200">
                <a:latin typeface="Times New Roman"/>
                <a:ea typeface="+mn-lt"/>
                <a:cs typeface="Calibri"/>
              </a:rPr>
              <a:t>* </a:t>
            </a:r>
            <a:r>
              <a:rPr lang="it-IT" sz="2200" err="1">
                <a:latin typeface="Times New Roman"/>
                <a:ea typeface="+mn-lt"/>
                <a:cs typeface="Calibri"/>
              </a:rPr>
              <a:t>as</a:t>
            </a:r>
            <a:r>
              <a:rPr lang="it-IT" sz="2200">
                <a:latin typeface="Times New Roman"/>
                <a:ea typeface="+mn-lt"/>
                <a:cs typeface="Calibri"/>
              </a:rPr>
              <a:t> the sum of </a:t>
            </a:r>
            <a:r>
              <a:rPr lang="it-IT" sz="2200" err="1">
                <a:latin typeface="Times New Roman"/>
                <a:ea typeface="+mn-lt"/>
                <a:cs typeface="Calibri"/>
              </a:rPr>
              <a:t>two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dielectric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relaxations</a:t>
            </a:r>
            <a:r>
              <a:rPr lang="it-IT" sz="2200">
                <a:latin typeface="Times New Roman"/>
                <a:ea typeface="+mn-lt"/>
                <a:cs typeface="Calibri"/>
              </a:rPr>
              <a:t> and a </a:t>
            </a:r>
            <a:r>
              <a:rPr lang="it-IT" sz="2200" err="1">
                <a:latin typeface="Times New Roman"/>
                <a:ea typeface="+mn-lt"/>
                <a:cs typeface="Calibri"/>
              </a:rPr>
              <a:t>conductivity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term</a:t>
            </a:r>
            <a:r>
              <a:rPr lang="it-IT" sz="2200">
                <a:latin typeface="Times New Roman"/>
                <a:ea typeface="+mn-lt"/>
                <a:cs typeface="Calibri"/>
              </a:rPr>
              <a:t>, </a:t>
            </a:r>
            <a:r>
              <a:rPr lang="it-IT" sz="2200" err="1">
                <a:latin typeface="Times New Roman"/>
                <a:ea typeface="+mn-lt"/>
                <a:cs typeface="Calibri"/>
              </a:rPr>
              <a:t>where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el-GR" sz="2200">
                <a:latin typeface="Times New Roman"/>
                <a:ea typeface="Calibri"/>
                <a:cs typeface="Calibri"/>
              </a:rPr>
              <a:t>ε</a:t>
            </a:r>
            <a:r>
              <a:rPr lang="it-IT" sz="1600">
                <a:latin typeface="Times New Roman"/>
                <a:ea typeface="+mn-lt"/>
                <a:cs typeface="Calibri"/>
              </a:rPr>
              <a:t>∞,d</a:t>
            </a:r>
            <a:r>
              <a:rPr lang="it-IT" sz="2200">
                <a:latin typeface="Times New Roman"/>
                <a:ea typeface="+mn-lt"/>
                <a:cs typeface="Calibri"/>
              </a:rPr>
              <a:t>, </a:t>
            </a:r>
            <a:r>
              <a:rPr lang="el-GR" sz="2200">
                <a:latin typeface="Calibri"/>
                <a:ea typeface="Calibri"/>
                <a:cs typeface="Calibri"/>
              </a:rPr>
              <a:t>Δε</a:t>
            </a:r>
            <a:r>
              <a:rPr lang="it-IT" sz="1600">
                <a:latin typeface="Calibri"/>
                <a:ea typeface="Calibri"/>
                <a:cs typeface="Calibri"/>
              </a:rPr>
              <a:t>1</a:t>
            </a:r>
            <a:r>
              <a:rPr lang="it-IT" sz="2200">
                <a:latin typeface="Times New Roman"/>
                <a:ea typeface="+mn-lt"/>
                <a:cs typeface="Calibri"/>
              </a:rPr>
              <a:t>, and Δ</a:t>
            </a:r>
            <a:r>
              <a:rPr lang="el-GR" sz="2200">
                <a:ea typeface="Calibri"/>
                <a:cs typeface="Calibri"/>
              </a:rPr>
              <a:t>ε</a:t>
            </a:r>
            <a:r>
              <a:rPr lang="it-IT" sz="1600">
                <a:latin typeface="Times New Roman"/>
                <a:ea typeface="+mn-lt"/>
                <a:cs typeface="Calibri"/>
              </a:rPr>
              <a:t>2</a:t>
            </a:r>
            <a:r>
              <a:rPr lang="it-IT" sz="2200">
                <a:latin typeface="Times New Roman"/>
                <a:ea typeface="+mn-lt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depend</a:t>
            </a:r>
            <a:r>
              <a:rPr lang="it-IT" sz="2200">
                <a:latin typeface="Times New Roman"/>
                <a:ea typeface="+mn-lt"/>
                <a:cs typeface="Calibri"/>
              </a:rPr>
              <a:t> on the dry rubber </a:t>
            </a:r>
            <a:r>
              <a:rPr lang="it-IT" sz="2200" err="1">
                <a:latin typeface="Times New Roman"/>
                <a:ea typeface="+mn-lt"/>
                <a:cs typeface="Calibri"/>
              </a:rPr>
              <a:t>content</a:t>
            </a:r>
            <a:r>
              <a:rPr lang="it-IT" sz="2200">
                <a:latin typeface="Times New Roman"/>
                <a:ea typeface="+mn-lt"/>
                <a:cs typeface="Calibri"/>
              </a:rPr>
              <a:t> (DRC), </a:t>
            </a:r>
            <a:r>
              <a:rPr lang="el-GR" sz="2200">
                <a:latin typeface="Calibri"/>
                <a:ea typeface="Calibri"/>
                <a:cs typeface="Calibri"/>
              </a:rPr>
              <a:t>σ</a:t>
            </a:r>
            <a:r>
              <a:rPr lang="it-IT" sz="1600">
                <a:latin typeface="Calibri"/>
                <a:ea typeface="Calibri"/>
                <a:cs typeface="Calibri"/>
              </a:rPr>
              <a:t>d</a:t>
            </a:r>
            <a:r>
              <a:rPr lang="it-IT" sz="2200">
                <a:latin typeface="Calibri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+mn-lt"/>
                <a:cs typeface="Calibri"/>
              </a:rPr>
              <a:t>depends</a:t>
            </a:r>
            <a:r>
              <a:rPr lang="it-IT" sz="2200">
                <a:latin typeface="Times New Roman"/>
                <a:ea typeface="+mn-lt"/>
                <a:cs typeface="Calibri"/>
              </a:rPr>
              <a:t> on </a:t>
            </a:r>
            <a:r>
              <a:rPr lang="it-IT" sz="2200" err="1">
                <a:latin typeface="Times New Roman"/>
                <a:ea typeface="+mn-lt"/>
                <a:cs typeface="Calibri"/>
              </a:rPr>
              <a:t>both</a:t>
            </a:r>
            <a:r>
              <a:rPr lang="it-IT" sz="2200">
                <a:latin typeface="Times New Roman"/>
                <a:ea typeface="+mn-lt"/>
                <a:cs typeface="Calibri"/>
              </a:rPr>
              <a:t> temperature and DRC, and </a:t>
            </a:r>
            <a:r>
              <a:rPr lang="el-GR" sz="2200">
                <a:latin typeface="Times New Roman"/>
                <a:ea typeface="Calibri"/>
                <a:cs typeface="Calibri"/>
              </a:rPr>
              <a:t>ε</a:t>
            </a:r>
            <a:r>
              <a:rPr lang="it-IT" sz="1600">
                <a:latin typeface="Times New Roman"/>
                <a:ea typeface="+mn-lt"/>
                <a:cs typeface="Calibri"/>
              </a:rPr>
              <a:t>0,space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is</a:t>
            </a:r>
            <a:r>
              <a:rPr lang="it-IT" sz="2200">
                <a:latin typeface="Times New Roman"/>
                <a:ea typeface="+mn-lt"/>
                <a:cs typeface="Calibri"/>
              </a:rPr>
              <a:t> the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permittivity</a:t>
            </a:r>
            <a:r>
              <a:rPr lang="it-IT" sz="2200">
                <a:latin typeface="Times New Roman"/>
                <a:ea typeface="+mn-lt"/>
                <a:cs typeface="Calibri"/>
              </a:rPr>
              <a:t> of free </a:t>
            </a:r>
            <a:r>
              <a:rPr lang="it-IT" sz="2200" err="1">
                <a:latin typeface="Times New Roman"/>
                <a:ea typeface="+mn-lt"/>
                <a:cs typeface="Calibri"/>
              </a:rPr>
              <a:t>space</a:t>
            </a:r>
            <a:r>
              <a:rPr lang="it-IT" sz="2200">
                <a:latin typeface="Times New Roman"/>
                <a:ea typeface="+mn-lt"/>
                <a:cs typeface="Calibri"/>
              </a:rPr>
              <a:t>.</a:t>
            </a:r>
            <a:endParaRPr lang="it-IT">
              <a:latin typeface="Times New Roman"/>
              <a:cs typeface="Calibri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C755F2E-4310-59F1-84EF-C717994B2A22}"/>
              </a:ext>
            </a:extLst>
          </p:cNvPr>
          <p:cNvSpPr txBox="1"/>
          <p:nvPr/>
        </p:nvSpPr>
        <p:spPr>
          <a:xfrm>
            <a:off x="6723353" y="3070189"/>
            <a:ext cx="470938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sz="2000" err="1">
                <a:latin typeface="Times New Roman"/>
                <a:ea typeface="Calibri"/>
                <a:cs typeface="Times New Roman"/>
              </a:rPr>
              <a:t>Used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fluid</a:t>
            </a:r>
            <a:r>
              <a:rPr lang="it-IT" sz="2000">
                <a:latin typeface="Times New Roman"/>
                <a:ea typeface="Calibri"/>
                <a:cs typeface="Times New Roman"/>
              </a:rPr>
              <a:t>: saline </a:t>
            </a:r>
            <a:r>
              <a:rPr lang="it-IT" sz="2000" err="1">
                <a:latin typeface="Times New Roman"/>
                <a:ea typeface="Calibri"/>
                <a:cs typeface="Times New Roman"/>
              </a:rPr>
              <a:t>solution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</a:t>
            </a:r>
            <a:r>
              <a:rPr lang="it-IT" sz="2000">
                <a:latin typeface="Times New Roman"/>
                <a:ea typeface="Calibri"/>
                <a:cs typeface="Times New Roman"/>
                <a:sym typeface="Wingdings" panose="05000000000000000000" pitchFamily="2" charset="2"/>
              </a:rPr>
              <a:t></a:t>
            </a:r>
            <a:r>
              <a:rPr lang="it-IT" sz="2000">
                <a:latin typeface="Times New Roman"/>
                <a:ea typeface="Calibri"/>
                <a:cs typeface="Times New Roman"/>
              </a:rPr>
              <a:t> </a:t>
            </a:r>
            <a:r>
              <a:rPr lang="el-GR" sz="2000">
                <a:latin typeface="Times New Roman"/>
                <a:ea typeface="Calibri"/>
                <a:cs typeface="Calibri"/>
              </a:rPr>
              <a:t>ε</a:t>
            </a:r>
            <a:r>
              <a:rPr lang="it-IT" sz="2000">
                <a:latin typeface="Times New Roman"/>
                <a:ea typeface="Calibri"/>
                <a:cs typeface="Calibri"/>
              </a:rPr>
              <a:t>= 72, </a:t>
            </a:r>
            <a:r>
              <a:rPr lang="el-GR" sz="2000">
                <a:latin typeface="Times New Roman"/>
                <a:ea typeface="Calibri"/>
                <a:cs typeface="Calibri"/>
              </a:rPr>
              <a:t>σ</a:t>
            </a:r>
            <a:r>
              <a:rPr lang="it-IT" sz="2000">
                <a:latin typeface="Times New Roman"/>
                <a:ea typeface="Calibri"/>
                <a:cs typeface="Calibri"/>
              </a:rPr>
              <a:t> = 1,5 (</a:t>
            </a:r>
            <a:r>
              <a:rPr lang="it-IT" sz="2000" err="1">
                <a:latin typeface="Times New Roman"/>
                <a:ea typeface="Calibri"/>
                <a:cs typeface="Calibri"/>
              </a:rPr>
              <a:t>Very</a:t>
            </a:r>
            <a:r>
              <a:rPr lang="it-IT" sz="2000">
                <a:latin typeface="Times New Roman"/>
                <a:ea typeface="Calibri"/>
                <a:cs typeface="Calibri"/>
              </a:rPr>
              <a:t>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similar</a:t>
            </a:r>
            <a:r>
              <a:rPr lang="it-IT" sz="2000">
                <a:latin typeface="Times New Roman"/>
                <a:ea typeface="Calibri"/>
                <a:cs typeface="Calibri"/>
              </a:rPr>
              <a:t> to the one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used</a:t>
            </a:r>
            <a:r>
              <a:rPr lang="it-IT" sz="2000">
                <a:latin typeface="Times New Roman"/>
                <a:ea typeface="Calibri"/>
                <a:cs typeface="Calibri"/>
              </a:rPr>
              <a:t>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until</a:t>
            </a:r>
            <a:r>
              <a:rPr lang="it-IT" sz="2000">
                <a:latin typeface="Times New Roman"/>
                <a:ea typeface="Calibri"/>
                <a:cs typeface="Calibri"/>
              </a:rPr>
              <a:t> </a:t>
            </a:r>
            <a:r>
              <a:rPr lang="it-IT" sz="2000" err="1">
                <a:latin typeface="Times New Roman"/>
                <a:ea typeface="Calibri"/>
                <a:cs typeface="Calibri"/>
              </a:rPr>
              <a:t>now</a:t>
            </a:r>
            <a:r>
              <a:rPr lang="it-IT" sz="2000">
                <a:latin typeface="Times New Roman"/>
                <a:ea typeface="Calibri"/>
                <a:cs typeface="Calibri"/>
              </a:rPr>
              <a:t>)</a:t>
            </a:r>
            <a:endParaRPr lang="it-IT" sz="2000" b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856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2AFA16-E028-344D-EBE2-4482E951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602" y="91509"/>
            <a:ext cx="10327398" cy="853536"/>
          </a:xfrm>
        </p:spPr>
        <p:txBody>
          <a:bodyPr/>
          <a:lstStyle/>
          <a:p>
            <a:r>
              <a:rPr lang="it-IT" err="1">
                <a:latin typeface="Times New Roman"/>
                <a:ea typeface="Calibri"/>
                <a:cs typeface="Times New Roman"/>
              </a:rPr>
              <a:t>Bladder</a:t>
            </a:r>
            <a:r>
              <a:rPr lang="it-IT">
                <a:latin typeface="Times New Roman"/>
                <a:ea typeface="Calibri"/>
                <a:cs typeface="Times New Roman"/>
              </a:rPr>
              <a:t> </a:t>
            </a:r>
            <a:r>
              <a:rPr lang="it-IT" err="1">
                <a:latin typeface="Times New Roman"/>
                <a:ea typeface="Calibri"/>
                <a:cs typeface="Times New Roman"/>
              </a:rPr>
              <a:t>as</a:t>
            </a:r>
            <a:r>
              <a:rPr lang="it-IT">
                <a:latin typeface="Times New Roman"/>
                <a:ea typeface="Calibri"/>
                <a:cs typeface="Times New Roman"/>
              </a:rPr>
              <a:t> balloon </a:t>
            </a:r>
            <a:r>
              <a:rPr lang="el-GR">
                <a:latin typeface="Times New Roman"/>
                <a:ea typeface="Calibri"/>
                <a:cs typeface="Times New Roman"/>
              </a:rPr>
              <a:t>τ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0D772B-F2EE-6AB9-0516-7CC84327A1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4602" y="888116"/>
            <a:ext cx="10327398" cy="461665"/>
          </a:xfrm>
        </p:spPr>
        <p:txBody>
          <a:bodyPr/>
          <a:lstStyle/>
          <a:p>
            <a:endParaRPr lang="it-IT"/>
          </a:p>
          <a:p>
            <a:endParaRPr lang="it-IT"/>
          </a:p>
        </p:txBody>
      </p:sp>
      <p:sp>
        <p:nvSpPr>
          <p:cNvPr id="6" name="Segnaposto testo 4">
            <a:extLst>
              <a:ext uri="{FF2B5EF4-FFF2-40B4-BE49-F238E27FC236}">
                <a16:creationId xmlns:a16="http://schemas.microsoft.com/office/drawing/2014/main" id="{54FE79F6-6D5B-CA91-6308-00DEEE3BA5EA}"/>
              </a:ext>
            </a:extLst>
          </p:cNvPr>
          <p:cNvSpPr txBox="1">
            <a:spLocks/>
          </p:cNvSpPr>
          <p:nvPr/>
        </p:nvSpPr>
        <p:spPr>
          <a:xfrm>
            <a:off x="1864602" y="811961"/>
            <a:ext cx="10327398" cy="461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b="1" kern="1200">
                <a:solidFill>
                  <a:srgbClr val="2E75B6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latin typeface="Times New Roman"/>
                <a:ea typeface="Calibri"/>
                <a:cs typeface="Arial"/>
              </a:rPr>
              <a:t>50% air and 50% urine</a:t>
            </a:r>
            <a:endParaRPr lang="it-IT">
              <a:latin typeface="Times New Roman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BDE317B-272E-F40C-5DAA-6989564AF733}"/>
              </a:ext>
            </a:extLst>
          </p:cNvPr>
          <p:cNvSpPr txBox="1"/>
          <p:nvPr/>
        </p:nvSpPr>
        <p:spPr>
          <a:xfrm>
            <a:off x="442869" y="1318259"/>
            <a:ext cx="747442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ran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all</a:t>
            </a:r>
            <a:r>
              <a:rPr lang="it-IT" sz="2200">
                <a:latin typeface="Times New Roman"/>
                <a:ea typeface="Calibri"/>
                <a:cs typeface="Calibri"/>
              </a:rPr>
              <a:t>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simulations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using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always</a:t>
            </a:r>
            <a:r>
              <a:rPr lang="it-IT" sz="2200">
                <a:latin typeface="Times New Roman"/>
                <a:ea typeface="Calibri"/>
                <a:cs typeface="Calibri"/>
              </a:rPr>
              <a:t>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same</a:t>
            </a:r>
            <a:r>
              <a:rPr lang="it-IT" sz="2200">
                <a:latin typeface="Times New Roman"/>
                <a:ea typeface="Calibri"/>
                <a:cs typeface="Calibri"/>
              </a:rPr>
              <a:t> 82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inductor</a:t>
            </a:r>
            <a:endParaRPr lang="it-IT" sz="2200" b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4" name="Immagine 3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2C98E379-F398-E57A-A498-786A6670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2" r="5303"/>
          <a:stretch>
            <a:fillRect/>
          </a:stretch>
        </p:blipFill>
        <p:spPr>
          <a:xfrm>
            <a:off x="796213" y="1749146"/>
            <a:ext cx="8479245" cy="4537205"/>
          </a:xfrm>
          <a:prstGeom prst="rect">
            <a:avLst/>
          </a:prstGeom>
        </p:spPr>
      </p:pic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9781158F-09FE-D99E-B1DC-0ECFB622D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71859"/>
              </p:ext>
            </p:extLst>
          </p:nvPr>
        </p:nvGraphicFramePr>
        <p:xfrm>
          <a:off x="9504516" y="3429000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τ</a:t>
                      </a:r>
                      <a:endParaRPr lang="it-IT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442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E43070-3109-6A24-74FF-9378D5300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Bladder</a:t>
            </a:r>
            <a:r>
              <a:rPr lang="it-IT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it-IT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as</a:t>
            </a:r>
            <a:r>
              <a:rPr lang="it-IT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balloon G</a:t>
            </a:r>
            <a:r>
              <a:rPr lang="it-IT" sz="28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89DE90-D61E-851B-CB35-3276E0F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50% air and 50% urine</a:t>
            </a:r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magine 2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C102392-A88F-2C5D-5216-2098CA1A01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8" r="5481"/>
          <a:stretch>
            <a:fillRect/>
          </a:stretch>
        </p:blipFill>
        <p:spPr>
          <a:xfrm>
            <a:off x="525554" y="1414154"/>
            <a:ext cx="8563805" cy="4524529"/>
          </a:xfrm>
          <a:prstGeom prst="rect">
            <a:avLst/>
          </a:pr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8F97BE9-B4C2-53F1-EAD9-65BF31360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55529"/>
              </p:ext>
            </p:extLst>
          </p:nvPr>
        </p:nvGraphicFramePr>
        <p:xfrm>
          <a:off x="9460456" y="3002232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 [dB]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450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C57FF6-558B-B5FD-E29F-C986A76A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</a:t>
            </a:r>
            <a:r>
              <a:rPr lang="el-GR">
                <a:latin typeface="Times New Roman"/>
                <a:cs typeface="Times New Roman"/>
              </a:rPr>
              <a:t>τ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B4D2F54-888E-EA42-9B9C-D2BF7AFA6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F4412AC-DB4B-F782-A478-508448110A18}"/>
              </a:ext>
            </a:extLst>
          </p:cNvPr>
          <p:cNvSpPr/>
          <p:nvPr/>
        </p:nvSpPr>
        <p:spPr>
          <a:xfrm rot="5400000">
            <a:off x="5581430" y="5498907"/>
            <a:ext cx="381000" cy="182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45522E4-1C27-7D88-BA06-8A6737CAB051}"/>
              </a:ext>
            </a:extLst>
          </p:cNvPr>
          <p:cNvSpPr txBox="1"/>
          <p:nvPr/>
        </p:nvSpPr>
        <p:spPr>
          <a:xfrm>
            <a:off x="2231" y="1190789"/>
            <a:ext cx="1070439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With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half</a:t>
            </a:r>
            <a:r>
              <a:rPr lang="it-IT" sz="2200">
                <a:latin typeface="Times New Roman"/>
                <a:ea typeface="Calibri"/>
                <a:cs typeface="Calibri"/>
              </a:rPr>
              <a:t> and full filling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conditions</a:t>
            </a:r>
            <a:r>
              <a:rPr lang="it-IT" sz="2200">
                <a:latin typeface="Times New Roman"/>
                <a:ea typeface="Calibri"/>
                <a:cs typeface="Calibri"/>
              </a:rPr>
              <a:t>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impedance</a:t>
            </a:r>
            <a:r>
              <a:rPr lang="it-IT" sz="2200">
                <a:latin typeface="Times New Roman"/>
                <a:ea typeface="Calibri"/>
                <a:cs typeface="Calibri"/>
              </a:rPr>
              <a:t> matching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still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reaches</a:t>
            </a:r>
            <a:r>
              <a:rPr lang="it-IT" sz="2200">
                <a:latin typeface="Times New Roman"/>
                <a:ea typeface="Calibri"/>
                <a:cs typeface="Calibri"/>
              </a:rPr>
              <a:t> good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values</a:t>
            </a:r>
            <a:endParaRPr lang="it-IT" sz="2200" b="0" err="1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4" name="Immagine 3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66D42408-2300-054B-F02D-3AF96087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67" t="1683" r="6472" b="-265"/>
          <a:stretch>
            <a:fillRect/>
          </a:stretch>
        </p:blipFill>
        <p:spPr>
          <a:xfrm>
            <a:off x="688786" y="1857588"/>
            <a:ext cx="8219240" cy="4465147"/>
          </a:xfrm>
          <a:prstGeom prst="rect">
            <a:avLst/>
          </a:prstGeom>
        </p:spPr>
      </p:pic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47470E5-D49A-FEB3-1261-0E8C781FF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734987"/>
              </p:ext>
            </p:extLst>
          </p:nvPr>
        </p:nvGraphicFramePr>
        <p:xfrm>
          <a:off x="9357032" y="3429000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τ</a:t>
                      </a:r>
                      <a:endParaRPr lang="it-IT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742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692DC3-2EB0-73D6-4D93-53488156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G</a:t>
            </a:r>
            <a:r>
              <a:rPr lang="it-IT" sz="2800">
                <a:latin typeface="Times New Roman"/>
                <a:cs typeface="Times New Roman"/>
              </a:rPr>
              <a:t>T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5048E1D-85F5-7361-5436-545B33512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F2CD9A4-5836-7A90-28D5-EEF488D23473}"/>
              </a:ext>
            </a:extLst>
          </p:cNvPr>
          <p:cNvSpPr/>
          <p:nvPr/>
        </p:nvSpPr>
        <p:spPr>
          <a:xfrm rot="5400000">
            <a:off x="5621645" y="5110659"/>
            <a:ext cx="381000" cy="2704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23DED99D-B514-520B-C9E2-1D6BE4E3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5" r="5594" b="240"/>
          <a:stretch>
            <a:fillRect/>
          </a:stretch>
        </p:blipFill>
        <p:spPr>
          <a:xfrm>
            <a:off x="668672" y="1631512"/>
            <a:ext cx="8042709" cy="4392662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459B8E5-6033-8F1D-7CDC-1F50B1F7C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206398"/>
              </p:ext>
            </p:extLst>
          </p:nvPr>
        </p:nvGraphicFramePr>
        <p:xfrm>
          <a:off x="9263810" y="3401075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 [dB]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947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9A0AA1-966D-8EE2-A012-B5EBB0E4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358773"/>
            <a:ext cx="10327398" cy="853536"/>
          </a:xfrm>
        </p:spPr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</a:t>
            </a:r>
            <a:r>
              <a:rPr lang="el-GR">
                <a:latin typeface="Times New Roman"/>
                <a:cs typeface="Times New Roman"/>
              </a:rPr>
              <a:t>τ</a:t>
            </a:r>
            <a:endParaRPr lang="it-IT" b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it-IT">
              <a:ea typeface="Calibri"/>
            </a:endParaRP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253D27B-BBD0-2E2B-97AC-5091551EC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2E68AD-EFFE-B84B-6B8F-F91DB10B070F}"/>
              </a:ext>
            </a:extLst>
          </p:cNvPr>
          <p:cNvSpPr txBox="1"/>
          <p:nvPr/>
        </p:nvSpPr>
        <p:spPr>
          <a:xfrm>
            <a:off x="197164" y="1126650"/>
            <a:ext cx="1072714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Due to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thin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layer</a:t>
            </a:r>
            <a:r>
              <a:rPr lang="it-IT" sz="2200">
                <a:latin typeface="Times New Roman"/>
                <a:ea typeface="Calibri"/>
                <a:cs typeface="Calibri"/>
              </a:rPr>
              <a:t> of the balloon, the tag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will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sense</a:t>
            </a:r>
            <a:r>
              <a:rPr lang="it-IT" sz="2200">
                <a:latin typeface="Times New Roman"/>
                <a:ea typeface="Calibri"/>
                <a:cs typeface="Calibri"/>
              </a:rPr>
              <a:t>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content</a:t>
            </a:r>
            <a:r>
              <a:rPr lang="it-IT" sz="2200">
                <a:latin typeface="Times New Roman"/>
                <a:ea typeface="Calibri"/>
                <a:cs typeface="Calibri"/>
              </a:rPr>
              <a:t> of the "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bladder</a:t>
            </a:r>
            <a:r>
              <a:rPr lang="it-IT" sz="2200">
                <a:latin typeface="Times New Roman"/>
                <a:ea typeface="Calibri"/>
                <a:cs typeface="Calibri"/>
              </a:rPr>
              <a:t>". For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empty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configuration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there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is</a:t>
            </a:r>
            <a:r>
              <a:rPr lang="it-IT" sz="2200">
                <a:latin typeface="Times New Roman"/>
                <a:ea typeface="Calibri"/>
                <a:cs typeface="Calibri"/>
              </a:rPr>
              <a:t> a big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change</a:t>
            </a:r>
            <a:r>
              <a:rPr lang="it-IT" sz="2200">
                <a:latin typeface="Times New Roman"/>
                <a:ea typeface="Calibri"/>
                <a:cs typeface="Calibri"/>
              </a:rPr>
              <a:t> in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impedance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4" name="Immagine 3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C52FD397-6E5C-5C80-647A-B67EAB30C5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9" t="24" r="6390" b="-338"/>
          <a:stretch>
            <a:fillRect/>
          </a:stretch>
        </p:blipFill>
        <p:spPr>
          <a:xfrm>
            <a:off x="1124122" y="1980186"/>
            <a:ext cx="7597091" cy="4199101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DF29C4B-E4BF-8136-36E7-003731F5C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697240"/>
              </p:ext>
            </p:extLst>
          </p:nvPr>
        </p:nvGraphicFramePr>
        <p:xfrm>
          <a:off x="9332637" y="3652968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τ</a:t>
                      </a:r>
                      <a:endParaRPr lang="it-IT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623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F3311B-3514-3467-1976-47DCB8D7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cs typeface="Times New Roman"/>
              </a:rPr>
              <a:t>Bladder</a:t>
            </a:r>
            <a:r>
              <a:rPr lang="it-IT">
                <a:latin typeface="Times New Roman"/>
                <a:cs typeface="Times New Roman"/>
              </a:rPr>
              <a:t> </a:t>
            </a:r>
            <a:r>
              <a:rPr lang="it-IT" err="1">
                <a:latin typeface="Times New Roman"/>
                <a:cs typeface="Times New Roman"/>
              </a:rPr>
              <a:t>as</a:t>
            </a:r>
            <a:r>
              <a:rPr lang="it-IT">
                <a:latin typeface="Times New Roman"/>
                <a:cs typeface="Times New Roman"/>
              </a:rPr>
              <a:t> balloon G</a:t>
            </a:r>
            <a:r>
              <a:rPr lang="it-IT" sz="2800">
                <a:latin typeface="Times New Roman"/>
                <a:cs typeface="Times New Roman"/>
              </a:rPr>
              <a:t>T</a:t>
            </a:r>
            <a:endParaRPr lang="it-IT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3978692-6D86-05C7-5369-A4DAE227CC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AAA3A4-38B5-C46A-E1B7-078B3664A43A}"/>
              </a:ext>
            </a:extLst>
          </p:cNvPr>
          <p:cNvSpPr txBox="1"/>
          <p:nvPr/>
        </p:nvSpPr>
        <p:spPr>
          <a:xfrm>
            <a:off x="203770" y="1321373"/>
            <a:ext cx="1089773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Despite</a:t>
            </a:r>
            <a:r>
              <a:rPr lang="it-IT" sz="2200">
                <a:latin typeface="Times New Roman"/>
                <a:ea typeface="Calibri"/>
                <a:cs typeface="Calibri"/>
              </a:rPr>
              <a:t> the matching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worsening</a:t>
            </a:r>
            <a:r>
              <a:rPr lang="it-IT" sz="2200">
                <a:latin typeface="Times New Roman"/>
                <a:ea typeface="Calibri"/>
                <a:cs typeface="Calibri"/>
              </a:rPr>
              <a:t>, a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Gt</a:t>
            </a:r>
            <a:r>
              <a:rPr lang="it-IT" sz="2200">
                <a:latin typeface="Times New Roman"/>
                <a:ea typeface="Calibri"/>
                <a:cs typeface="Calibri"/>
              </a:rPr>
              <a:t> = -35 dB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should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still</a:t>
            </a:r>
            <a:r>
              <a:rPr lang="it-IT" sz="2200">
                <a:latin typeface="Times New Roman"/>
                <a:ea typeface="Calibri"/>
                <a:cs typeface="Calibri"/>
              </a:rPr>
              <a:t> be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enough</a:t>
            </a:r>
            <a:r>
              <a:rPr lang="it-IT" sz="2200">
                <a:latin typeface="Times New Roman"/>
                <a:ea typeface="Calibri"/>
                <a:cs typeface="Calibri"/>
              </a:rPr>
              <a:t> to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communicate</a:t>
            </a:r>
            <a:endParaRPr lang="it-IT" sz="2200" b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4" name="Immagine 3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8D69F5C-8A67-6B5F-11C0-F01A69150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37" r="6190" b="254"/>
          <a:stretch>
            <a:fillRect/>
          </a:stretch>
        </p:blipFill>
        <p:spPr>
          <a:xfrm>
            <a:off x="793484" y="1826627"/>
            <a:ext cx="7844919" cy="4246032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A6FF1D4-76E6-DB64-15EF-B6A77B9EA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79924"/>
              </p:ext>
            </p:extLst>
          </p:nvPr>
        </p:nvGraphicFramePr>
        <p:xfrm>
          <a:off x="9234313" y="3522875"/>
          <a:ext cx="2451510" cy="853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755">
                  <a:extLst>
                    <a:ext uri="{9D8B030D-6E8A-4147-A177-3AD203B41FA5}">
                      <a16:colId xmlns:a16="http://schemas.microsoft.com/office/drawing/2014/main" val="660381719"/>
                    </a:ext>
                  </a:extLst>
                </a:gridCol>
                <a:gridCol w="1225755">
                  <a:extLst>
                    <a:ext uri="{9D8B030D-6E8A-4147-A177-3AD203B41FA5}">
                      <a16:colId xmlns:a16="http://schemas.microsoft.com/office/drawing/2014/main" val="2258728260"/>
                    </a:ext>
                  </a:extLst>
                </a:gridCol>
              </a:tblGrid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[MHz]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 [dB]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057876"/>
                  </a:ext>
                </a:extLst>
              </a:tr>
              <a:tr h="426768"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-35.3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852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9766-7A7D-1441-2F61-D7B4CC20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ea typeface="Calibri"/>
                <a:cs typeface="Arial"/>
              </a:rPr>
              <a:t>Conclusions</a:t>
            </a:r>
            <a:endParaRPr lang="it-IT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D8C9C8-F346-DE2A-7F37-685F85D3F009}"/>
              </a:ext>
            </a:extLst>
          </p:cNvPr>
          <p:cNvSpPr txBox="1"/>
          <p:nvPr/>
        </p:nvSpPr>
        <p:spPr>
          <a:xfrm>
            <a:off x="1351669" y="1485177"/>
            <a:ext cx="97644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it-IT" sz="2200">
                <a:latin typeface="Times New Roman"/>
                <a:ea typeface="Calibri"/>
                <a:cs typeface="Calibri"/>
              </a:rPr>
              <a:t>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simulated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prototype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showed</a:t>
            </a:r>
            <a:r>
              <a:rPr lang="it-IT" sz="2200">
                <a:latin typeface="Times New Roman"/>
                <a:ea typeface="Calibri"/>
                <a:cs typeface="Calibri"/>
              </a:rPr>
              <a:t> good performances in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almost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all</a:t>
            </a:r>
            <a:r>
              <a:rPr lang="it-IT" sz="2200">
                <a:latin typeface="Times New Roman"/>
                <a:ea typeface="Calibri"/>
                <a:cs typeface="Calibri"/>
              </a:rPr>
              <a:t>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cases</a:t>
            </a:r>
            <a:r>
              <a:rPr lang="it-IT" sz="2200">
                <a:latin typeface="Times New Roman"/>
                <a:ea typeface="Calibri"/>
                <a:cs typeface="Calibri"/>
              </a:rPr>
              <a:t>,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also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considering</a:t>
            </a:r>
            <a:r>
              <a:rPr lang="it-IT" sz="2200">
                <a:latin typeface="Times New Roman"/>
                <a:ea typeface="Calibri"/>
                <a:cs typeface="Calibri"/>
              </a:rPr>
              <a:t> a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thin</a:t>
            </a:r>
            <a:r>
              <a:rPr lang="it-IT" sz="2200">
                <a:latin typeface="Times New Roman"/>
                <a:ea typeface="Calibri"/>
                <a:cs typeface="Calibri"/>
              </a:rPr>
              <a:t> balloon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instead</a:t>
            </a:r>
            <a:r>
              <a:rPr lang="it-IT" sz="2200">
                <a:latin typeface="Times New Roman"/>
                <a:ea typeface="Calibri"/>
                <a:cs typeface="Calibri"/>
              </a:rPr>
              <a:t> of a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realistic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bladder</a:t>
            </a:r>
            <a:r>
              <a:rPr lang="it-IT" sz="2200">
                <a:latin typeface="Times New Roman"/>
                <a:ea typeface="Calibri"/>
                <a:cs typeface="Calibri"/>
              </a:rPr>
              <a:t>.</a:t>
            </a:r>
            <a:endParaRPr lang="it-IT" sz="2200" b="0" err="1">
              <a:latin typeface="Times New Roman"/>
              <a:cs typeface="Times New Roman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9C86676-B507-592B-FA25-1EC7EC6CDFA9}"/>
              </a:ext>
            </a:extLst>
          </p:cNvPr>
          <p:cNvSpPr txBox="1"/>
          <p:nvPr/>
        </p:nvSpPr>
        <p:spPr>
          <a:xfrm>
            <a:off x="1351669" y="2797454"/>
            <a:ext cx="97644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it-IT" sz="2200">
                <a:latin typeface="Times New Roman"/>
                <a:ea typeface="Calibri"/>
                <a:cs typeface="Calibri"/>
              </a:rPr>
              <a:t>82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nH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Inductor</a:t>
            </a:r>
            <a:r>
              <a:rPr lang="it-IT" sz="2200">
                <a:latin typeface="Times New Roman"/>
                <a:ea typeface="Calibri"/>
                <a:cs typeface="Calibri"/>
              </a:rPr>
              <a:t> can match the tag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impedance</a:t>
            </a:r>
            <a:r>
              <a:rPr lang="it-IT" sz="2200">
                <a:latin typeface="Times New Roman"/>
                <a:ea typeface="Calibri"/>
                <a:cs typeface="Calibri"/>
              </a:rPr>
              <a:t> for full and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half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filled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bladder</a:t>
            </a:r>
            <a:endParaRPr lang="it-IT" sz="2200">
              <a:latin typeface="Times New Roman"/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66AC8C8-FBE2-0565-35EA-B391D5A26EFE}"/>
              </a:ext>
            </a:extLst>
          </p:cNvPr>
          <p:cNvSpPr txBox="1"/>
          <p:nvPr/>
        </p:nvSpPr>
        <p:spPr>
          <a:xfrm>
            <a:off x="1351668" y="3662320"/>
            <a:ext cx="976448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it-IT" sz="2200" err="1">
                <a:latin typeface="Times New Roman"/>
                <a:ea typeface="Calibri"/>
                <a:cs typeface="Calibri"/>
              </a:rPr>
              <a:t>Even</a:t>
            </a:r>
            <a:r>
              <a:rPr lang="it-IT" sz="2200">
                <a:latin typeface="Times New Roman"/>
                <a:ea typeface="Calibri"/>
                <a:cs typeface="Calibri"/>
              </a:rPr>
              <a:t> in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worst</a:t>
            </a:r>
            <a:r>
              <a:rPr lang="it-IT" sz="2200">
                <a:latin typeface="Times New Roman"/>
                <a:ea typeface="Calibri"/>
                <a:cs typeface="Calibri"/>
              </a:rPr>
              <a:t> case (</a:t>
            </a:r>
            <a:r>
              <a:rPr lang="it-IT" sz="2200" err="1">
                <a:latin typeface="Times New Roman"/>
                <a:ea typeface="Calibri"/>
                <a:cs typeface="Calibri"/>
              </a:rPr>
              <a:t>empty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bladder</a:t>
            </a:r>
            <a:r>
              <a:rPr lang="it-IT" sz="2200">
                <a:latin typeface="Times New Roman"/>
                <a:ea typeface="Calibri"/>
                <a:cs typeface="Calibri"/>
              </a:rPr>
              <a:t>),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transducer</a:t>
            </a:r>
            <a:r>
              <a:rPr lang="it-IT" sz="2200">
                <a:latin typeface="Times New Roman"/>
                <a:ea typeface="Calibri"/>
                <a:cs typeface="Calibri"/>
              </a:rPr>
              <a:t> gain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should</a:t>
            </a:r>
            <a:r>
              <a:rPr lang="it-IT" sz="2200">
                <a:latin typeface="Times New Roman"/>
                <a:ea typeface="Calibri"/>
                <a:cs typeface="Calibri"/>
              </a:rPr>
              <a:t> be high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enough</a:t>
            </a:r>
            <a:r>
              <a:rPr lang="it-IT" sz="2200">
                <a:latin typeface="Times New Roman"/>
                <a:ea typeface="Calibri"/>
                <a:cs typeface="Calibri"/>
              </a:rPr>
              <a:t> to close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communication</a:t>
            </a:r>
            <a:r>
              <a:rPr lang="it-IT" sz="2200">
                <a:latin typeface="Times New Roman"/>
                <a:ea typeface="Calibri"/>
                <a:cs typeface="Calibri"/>
              </a:rPr>
              <a:t> link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A8DB6BD-E0AA-E5EB-9172-BB1F7B34DB26}"/>
              </a:ext>
            </a:extLst>
          </p:cNvPr>
          <p:cNvSpPr txBox="1"/>
          <p:nvPr/>
        </p:nvSpPr>
        <p:spPr>
          <a:xfrm>
            <a:off x="1721782" y="4974596"/>
            <a:ext cx="97644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 err="1">
                <a:latin typeface="Times New Roman"/>
                <a:ea typeface="Calibri"/>
                <a:cs typeface="Calibri"/>
              </a:rPr>
              <a:t>Now</a:t>
            </a:r>
            <a:r>
              <a:rPr lang="it-IT" sz="2200" b="1">
                <a:latin typeface="Times New Roman"/>
                <a:ea typeface="Calibri"/>
                <a:cs typeface="Calibri"/>
              </a:rPr>
              <a:t>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it's</a:t>
            </a:r>
            <a:r>
              <a:rPr lang="it-IT" sz="2200" b="1">
                <a:latin typeface="Times New Roman"/>
                <a:ea typeface="Calibri"/>
                <a:cs typeface="Calibri"/>
              </a:rPr>
              <a:t> time for </a:t>
            </a:r>
            <a:r>
              <a:rPr lang="it-IT" sz="2200" b="1" err="1">
                <a:latin typeface="Times New Roman"/>
                <a:ea typeface="Calibri"/>
                <a:cs typeface="Calibri"/>
              </a:rPr>
              <a:t>prototyping</a:t>
            </a:r>
            <a:r>
              <a:rPr lang="it-IT" sz="2200" b="1">
                <a:latin typeface="Times New Roman"/>
                <a:ea typeface="Calibri"/>
                <a:cs typeface="Calibri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631457018"/>
      </p:ext>
    </p:extLst>
  </p:cSld>
  <p:clrMapOvr>
    <a:masterClrMapping/>
  </p:clrMapOvr>
</p:sld>
</file>

<file path=ppt/theme/theme1.xml><?xml version="1.0" encoding="utf-8"?>
<a:theme xmlns:a="http://schemas.openxmlformats.org/drawingml/2006/main" name="LAB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B_template" id="{9DFF2ABC-D06F-447C-AEB7-12299DFB1B22}" vid="{FDC4B10C-3902-42F0-893F-4098321572B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Widescreen</PresentationFormat>
  <Paragraphs>180</Paragraphs>
  <Slides>25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Franklin Gothic Book</vt:lpstr>
      <vt:lpstr>Times New Roman</vt:lpstr>
      <vt:lpstr>Wingdings</vt:lpstr>
      <vt:lpstr>LAB_template</vt:lpstr>
      <vt:lpstr>Presentazione standard di PowerPoint</vt:lpstr>
      <vt:lpstr>Modeling </vt:lpstr>
      <vt:lpstr>Modeling</vt:lpstr>
      <vt:lpstr>Encapsulation modeling</vt:lpstr>
      <vt:lpstr>Materials</vt:lpstr>
      <vt:lpstr>Elliptical cilinder encapsulation</vt:lpstr>
      <vt:lpstr>Elliptical cilinder encapsulation</vt:lpstr>
      <vt:lpstr>Elliptical cilinder encapsulation</vt:lpstr>
      <vt:lpstr>Elliptical cilinder encapsulation</vt:lpstr>
      <vt:lpstr>Elliptical cilinder encapsulation</vt:lpstr>
      <vt:lpstr>Elliptical cilinder encapsulation</vt:lpstr>
      <vt:lpstr>Approaching the final design</vt:lpstr>
      <vt:lpstr>Final Model Dimension</vt:lpstr>
      <vt:lpstr>Real Bladder Tag Impedance</vt:lpstr>
      <vt:lpstr>Schematic model</vt:lpstr>
      <vt:lpstr>Real bladder τ </vt:lpstr>
      <vt:lpstr>Real bladder GT</vt:lpstr>
      <vt:lpstr>Balloon's dielectric characteristics </vt:lpstr>
      <vt:lpstr>Bladder as balloon τ</vt:lpstr>
      <vt:lpstr>Bladder as balloon GT</vt:lpstr>
      <vt:lpstr>Bladder as balloon τ</vt:lpstr>
      <vt:lpstr>Bladder as balloon GT</vt:lpstr>
      <vt:lpstr>Bladder as balloon τ </vt:lpstr>
      <vt:lpstr>Bladder as balloon GT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silvia gialloreto</dc:creator>
  <cp:lastModifiedBy>silvia gialloreto</cp:lastModifiedBy>
  <cp:revision>31</cp:revision>
  <dcterms:created xsi:type="dcterms:W3CDTF">2025-06-24T13:21:22Z</dcterms:created>
  <dcterms:modified xsi:type="dcterms:W3CDTF">2025-06-25T13:09:19Z</dcterms:modified>
</cp:coreProperties>
</file>