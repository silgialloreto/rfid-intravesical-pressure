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18"/>
  </p:notesMasterIdLst>
  <p:sldIdLst>
    <p:sldId id="461" r:id="rId3"/>
    <p:sldId id="504" r:id="rId4"/>
    <p:sldId id="505" r:id="rId5"/>
    <p:sldId id="506" r:id="rId6"/>
    <p:sldId id="492" r:id="rId7"/>
    <p:sldId id="494" r:id="rId8"/>
    <p:sldId id="493" r:id="rId9"/>
    <p:sldId id="503" r:id="rId10"/>
    <p:sldId id="495" r:id="rId11"/>
    <p:sldId id="496" r:id="rId12"/>
    <p:sldId id="502" r:id="rId13"/>
    <p:sldId id="501" r:id="rId14"/>
    <p:sldId id="499" r:id="rId15"/>
    <p:sldId id="500" r:id="rId16"/>
    <p:sldId id="507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D7B8E2"/>
    <a:srgbClr val="F8BE90"/>
    <a:srgbClr val="CDC0DA"/>
    <a:srgbClr val="D7E3BB"/>
    <a:srgbClr val="E6B8B8"/>
    <a:srgbClr val="B8CCE4"/>
    <a:srgbClr val="FFFFFF"/>
    <a:srgbClr val="423B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3082C-5A64-4AF5-BF1C-27F3B7C5CA06}" v="602" dt="2025-06-22T09:58:49.815"/>
    <p1510:client id="{3716B978-5EE5-1572-5FB6-A8207AD05935}" v="58" dt="2025-06-22T14:13:45.464"/>
    <p1510:client id="{66412893-8F82-047F-3E3C-9101EC47D76F}" v="700" dt="2025-06-22T14:41:58.238"/>
    <p1510:client id="{8DD39802-AFBB-4586-A781-B3C62B5396AD}" v="567" dt="2025-06-23T06:52:25.408"/>
    <p1510:client id="{B4CDBF2B-6588-4CC7-AE2C-93139CE21FDD}" v="89" dt="2025-06-22T15:04:33.462"/>
    <p1510:client id="{E81D6AED-15F0-29C6-CECD-CCA23F959382}" v="1365" dt="2025-06-22T16:25:19.218"/>
    <p1510:client id="{F6117722-D9F4-FDB6-82E9-74C04F6F52ED}" v="522" dt="2025-06-22T08:58:57.350"/>
    <p1510:client id="{F6A4ED86-DA3E-CE57-F2DD-A685FE6DF778}" v="511" dt="2025-06-22T21:32:14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1983A-6425-2141-9F43-39E5E7745742}" type="datetimeFigureOut">
              <a:rPr lang="it-IT" smtClean="0"/>
              <a:t>22/06/2025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E4CE6-0AC0-E44D-94E0-732FAD2AE76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400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2FC391-0479-4A70-8AC8-8F764AAA773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99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8271" y="1122363"/>
            <a:ext cx="11221375" cy="2387600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79392" y="3602038"/>
            <a:ext cx="11230253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2E75B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45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395241" y="64457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79882D6-253F-46D5-B3D2-8D1B605E7A3B}"/>
              </a:ext>
            </a:extLst>
          </p:cNvPr>
          <p:cNvCxnSpPr/>
          <p:nvPr/>
        </p:nvCxnSpPr>
        <p:spPr>
          <a:xfrm>
            <a:off x="838200" y="6383047"/>
            <a:ext cx="1121767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52723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1">
                <a:solidFill>
                  <a:srgbClr val="89898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5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9A82568C-2370-45A7-961E-F9E653627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12940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64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4" name="Segnaposto testo 6">
            <a:extLst>
              <a:ext uri="{FF2B5EF4-FFF2-40B4-BE49-F238E27FC236}">
                <a16:creationId xmlns:a16="http://schemas.microsoft.com/office/drawing/2014/main" id="{D308B5DC-C138-4600-8A87-837422B4D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3445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2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9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63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3E61D8A-A0C3-43C8-979A-B90A341476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5457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380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146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E73864F7-59EF-314A-8279-AC337101DA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758" y="3451244"/>
            <a:ext cx="11539916" cy="11236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Franklin Gothic Book" panose="020B0503020102020204" pitchFamily="34" charset="0"/>
              </a:defRPr>
            </a:lvl1pPr>
          </a:lstStyle>
          <a:p>
            <a:r>
              <a:rPr lang="it-IT">
                <a:latin typeface="Franklin Gothic Book" panose="020B0503020102020204" pitchFamily="34" charset="0"/>
              </a:rPr>
              <a:t>Title of Presentation</a:t>
            </a:r>
          </a:p>
          <a:p>
            <a:r>
              <a:rPr lang="it-IT" err="1">
                <a:latin typeface="Franklin Gothic Book" panose="020B0503020102020204" pitchFamily="34" charset="0"/>
              </a:rPr>
              <a:t>xxxxx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endParaRPr lang="it-IT"/>
          </a:p>
        </p:txBody>
      </p:sp>
      <p:sp>
        <p:nvSpPr>
          <p:cNvPr id="40" name="Segnaposto testo 38">
            <a:extLst>
              <a:ext uri="{FF2B5EF4-FFF2-40B4-BE49-F238E27FC236}">
                <a16:creationId xmlns:a16="http://schemas.microsoft.com/office/drawing/2014/main" id="{6D51B3B8-B2A0-EF41-AE94-48746A45E2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16352" y="4720137"/>
            <a:ext cx="6711697" cy="533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Presenter’s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r>
              <a:rPr lang="it-IT" err="1">
                <a:latin typeface="Franklin Gothic Book" panose="020B0503020102020204" pitchFamily="34" charset="0"/>
              </a:rPr>
              <a:t>name</a:t>
            </a:r>
            <a:endParaRPr lang="it-IT"/>
          </a:p>
        </p:txBody>
      </p:sp>
      <p:sp>
        <p:nvSpPr>
          <p:cNvPr id="41" name="Segnaposto testo 38">
            <a:extLst>
              <a:ext uri="{FF2B5EF4-FFF2-40B4-BE49-F238E27FC236}">
                <a16:creationId xmlns:a16="http://schemas.microsoft.com/office/drawing/2014/main" id="{37201834-3313-2D4B-B6DA-60461E6B5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6352" y="5279112"/>
            <a:ext cx="6711697" cy="3309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Affiliation</a:t>
            </a:r>
            <a:endParaRPr lang="it-IT"/>
          </a:p>
        </p:txBody>
      </p:sp>
      <p:sp>
        <p:nvSpPr>
          <p:cNvPr id="45" name="Segnaposto testo 38">
            <a:extLst>
              <a:ext uri="{FF2B5EF4-FFF2-40B4-BE49-F238E27FC236}">
                <a16:creationId xmlns:a16="http://schemas.microsoft.com/office/drawing/2014/main" id="{4D29FA17-9537-3A49-86F9-75044E80F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6352" y="5615856"/>
            <a:ext cx="6711697" cy="3941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u="sng">
                <a:solidFill>
                  <a:srgbClr val="0432FF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presenter@mail.com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4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8271" y="1122363"/>
            <a:ext cx="11221375" cy="2387600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79392" y="3602038"/>
            <a:ext cx="11230253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2E75B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414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8831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1">
                <a:solidFill>
                  <a:srgbClr val="89898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84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9A82568C-2370-45A7-961E-F9E653627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63848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535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4" name="Segnaposto testo 6">
            <a:extLst>
              <a:ext uri="{FF2B5EF4-FFF2-40B4-BE49-F238E27FC236}">
                <a16:creationId xmlns:a16="http://schemas.microsoft.com/office/drawing/2014/main" id="{D308B5DC-C138-4600-8A87-837422B4D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069628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894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5180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0347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3E61D8A-A0C3-43C8-979A-B90A341476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145583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706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1590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395241" y="64457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265D8A9-9CC6-468C-BD14-16D6904F1E95}" type="slidenum">
              <a:rPr lang="it-IT" smtClean="0"/>
              <a:t>‹N›</a:t>
            </a:fld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79882D6-253F-46D5-B3D2-8D1B605E7A3B}"/>
              </a:ext>
            </a:extLst>
          </p:cNvPr>
          <p:cNvCxnSpPr/>
          <p:nvPr/>
        </p:nvCxnSpPr>
        <p:spPr>
          <a:xfrm>
            <a:off x="838200" y="6383047"/>
            <a:ext cx="1121767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11297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E73864F7-59EF-314A-8279-AC337101DA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758" y="3451244"/>
            <a:ext cx="11539916" cy="11236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>
                <a:latin typeface="Franklin Gothic Book" panose="020B0503020102020204" pitchFamily="34" charset="0"/>
              </a:rPr>
              <a:t>Title of Presentation</a:t>
            </a:r>
          </a:p>
          <a:p>
            <a:r>
              <a:rPr lang="it-IT" err="1">
                <a:latin typeface="Franklin Gothic Book" panose="020B0503020102020204" pitchFamily="34" charset="0"/>
              </a:rPr>
              <a:t>xxxxx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endParaRPr lang="it-IT"/>
          </a:p>
        </p:txBody>
      </p:sp>
      <p:sp>
        <p:nvSpPr>
          <p:cNvPr id="40" name="Segnaposto testo 38">
            <a:extLst>
              <a:ext uri="{FF2B5EF4-FFF2-40B4-BE49-F238E27FC236}">
                <a16:creationId xmlns:a16="http://schemas.microsoft.com/office/drawing/2014/main" id="{6D51B3B8-B2A0-EF41-AE94-48746A45E2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16352" y="4720137"/>
            <a:ext cx="6711697" cy="533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Presenter’s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r>
              <a:rPr lang="it-IT" err="1">
                <a:latin typeface="Franklin Gothic Book" panose="020B0503020102020204" pitchFamily="34" charset="0"/>
              </a:rPr>
              <a:t>name</a:t>
            </a:r>
            <a:endParaRPr lang="it-IT"/>
          </a:p>
        </p:txBody>
      </p:sp>
      <p:sp>
        <p:nvSpPr>
          <p:cNvPr id="41" name="Segnaposto testo 38">
            <a:extLst>
              <a:ext uri="{FF2B5EF4-FFF2-40B4-BE49-F238E27FC236}">
                <a16:creationId xmlns:a16="http://schemas.microsoft.com/office/drawing/2014/main" id="{37201834-3313-2D4B-B6DA-60461E6B5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6352" y="5279112"/>
            <a:ext cx="6711697" cy="3309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Affiliation</a:t>
            </a:r>
            <a:endParaRPr lang="it-IT"/>
          </a:p>
        </p:txBody>
      </p:sp>
      <p:sp>
        <p:nvSpPr>
          <p:cNvPr id="45" name="Segnaposto testo 38">
            <a:extLst>
              <a:ext uri="{FF2B5EF4-FFF2-40B4-BE49-F238E27FC236}">
                <a16:creationId xmlns:a16="http://schemas.microsoft.com/office/drawing/2014/main" id="{4D29FA17-9537-3A49-86F9-75044E80F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6352" y="5615856"/>
            <a:ext cx="6711697" cy="3941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u="sng">
                <a:solidFill>
                  <a:srgbClr val="0432FF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presenter@mail.com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431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37677" y="101341"/>
            <a:ext cx="10327398" cy="853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887"/>
          <a:stretch/>
        </p:blipFill>
        <p:spPr>
          <a:xfrm>
            <a:off x="88579" y="6272199"/>
            <a:ext cx="437893" cy="605937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14EC9C-E930-4EA2-B815-6B0CB7188FEE}"/>
              </a:ext>
            </a:extLst>
          </p:cNvPr>
          <p:cNvSpPr txBox="1"/>
          <p:nvPr/>
        </p:nvSpPr>
        <p:spPr>
          <a:xfrm>
            <a:off x="508000" y="6344336"/>
            <a:ext cx="4314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Pervasive Electromagnetics </a:t>
            </a:r>
            <a:r>
              <a:rPr lang="en-US" sz="2400" b="0" noProof="0">
                <a:solidFill>
                  <a:srgbClr val="2E7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8811807-2A74-9EAA-8BFD-BC7B0921E5F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 l="249" r="344" b="3193"/>
          <a:stretch/>
        </p:blipFill>
        <p:spPr>
          <a:xfrm>
            <a:off x="88579" y="101341"/>
            <a:ext cx="3090862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3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6" r:id="rId13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10036D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37677" y="101341"/>
            <a:ext cx="10327398" cy="853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887"/>
          <a:stretch/>
        </p:blipFill>
        <p:spPr>
          <a:xfrm>
            <a:off x="88579" y="6176963"/>
            <a:ext cx="493311" cy="68262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14EC9C-E930-4EA2-B815-6B0CB7188FEE}"/>
              </a:ext>
            </a:extLst>
          </p:cNvPr>
          <p:cNvSpPr txBox="1"/>
          <p:nvPr/>
        </p:nvSpPr>
        <p:spPr>
          <a:xfrm>
            <a:off x="581890" y="6356549"/>
            <a:ext cx="4314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Pervasive Electromagnetics </a:t>
            </a:r>
            <a:r>
              <a:rPr lang="en-US" sz="2000" b="0" noProof="0">
                <a:solidFill>
                  <a:srgbClr val="2E7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C26F915-7A8E-61FC-1929-CAAE5142C421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 l="249" r="344" b="3193"/>
          <a:stretch/>
        </p:blipFill>
        <p:spPr>
          <a:xfrm>
            <a:off x="88579" y="101341"/>
            <a:ext cx="3090862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6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90" r:id="rId12"/>
    <p:sldLayoutId id="2147483691" r:id="rId13"/>
    <p:sldLayoutId id="2147483692" r:id="rId14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10036D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6C2ACEAF-6931-6048-9058-EB8E92E72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77364" y="2839619"/>
            <a:ext cx="9837271" cy="1862669"/>
          </a:xfrm>
        </p:spPr>
        <p:txBody>
          <a:bodyPr>
            <a:normAutofit/>
          </a:bodyPr>
          <a:lstStyle/>
          <a:p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Wireless UHF RFID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based</a:t>
            </a:r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bladder</a:t>
            </a:r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 pressure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sensor</a:t>
            </a:r>
            <a:endParaRPr lang="it-IT" sz="3000" b="0" i="1">
              <a:solidFill>
                <a:srgbClr val="10036D"/>
              </a:solidFill>
              <a:latin typeface="Arial" panose="020B0604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2BAE768-4E6A-E840-B7B5-4D045C73B34E}"/>
              </a:ext>
            </a:extLst>
          </p:cNvPr>
          <p:cNvSpPr txBox="1">
            <a:spLocks/>
          </p:cNvSpPr>
          <p:nvPr/>
        </p:nvSpPr>
        <p:spPr>
          <a:xfrm>
            <a:off x="287821" y="638158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3680A9F2-A430-874E-8228-994E40F61F2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CF159AA-BF05-B546-B125-18E15ECAF26C}"/>
              </a:ext>
            </a:extLst>
          </p:cNvPr>
          <p:cNvSpPr/>
          <p:nvPr/>
        </p:nvSpPr>
        <p:spPr>
          <a:xfrm>
            <a:off x="76199" y="5887092"/>
            <a:ext cx="4963887" cy="970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B823108-9897-C247-AF0F-D8C27D02E1B6}"/>
              </a:ext>
            </a:extLst>
          </p:cNvPr>
          <p:cNvSpPr txBox="1">
            <a:spLocks noChangeArrowheads="1"/>
          </p:cNvSpPr>
          <p:nvPr/>
        </p:nvSpPr>
        <p:spPr>
          <a:xfrm>
            <a:off x="1659421" y="5285828"/>
            <a:ext cx="2312861" cy="13498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400" err="1"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800" err="1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aboratorio</a:t>
            </a:r>
            <a:r>
              <a:rPr lang="en-US" sz="1800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defRPr/>
            </a:pPr>
            <a:r>
              <a:rPr lang="en-US" sz="2400" err="1"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800" err="1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lettromagnetismo</a:t>
            </a:r>
            <a:r>
              <a:rPr lang="en-US" sz="1800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defRPr/>
            </a:pPr>
            <a:r>
              <a:rPr lang="en-US" sz="2400" err="1"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err="1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ervasivo</a:t>
            </a:r>
            <a:endParaRPr lang="en-US" sz="1800">
              <a:solidFill>
                <a:srgbClr val="002060"/>
              </a:solidFill>
              <a:effectLst>
                <a:outerShdw blurRad="288925" dir="2700000" algn="tl">
                  <a:srgbClr val="DDDDDD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defRPr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8B164D0-FF84-F14C-9AF7-00FED4BF6B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821" y="5072738"/>
            <a:ext cx="1340782" cy="162870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CA5A61-617F-9846-B258-D62BD53C5F7F}"/>
              </a:ext>
            </a:extLst>
          </p:cNvPr>
          <p:cNvSpPr txBox="1"/>
          <p:nvPr/>
        </p:nvSpPr>
        <p:spPr>
          <a:xfrm>
            <a:off x="3238262" y="1170027"/>
            <a:ext cx="57154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Sistemi Wearable e Telemetria Medica</a:t>
            </a:r>
          </a:p>
          <a:p>
            <a:pPr algn="ctr"/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A.A 2024-25</a:t>
            </a:r>
          </a:p>
          <a:p>
            <a:pPr algn="ctr"/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project)</a:t>
            </a:r>
          </a:p>
        </p:txBody>
      </p:sp>
      <p:sp>
        <p:nvSpPr>
          <p:cNvPr id="9" name="CasellaDiTesto 7">
            <a:extLst>
              <a:ext uri="{FF2B5EF4-FFF2-40B4-BE49-F238E27FC236}">
                <a16:creationId xmlns:a16="http://schemas.microsoft.com/office/drawing/2014/main" id="{217ED77A-7079-47BE-941F-2EEF719C7A53}"/>
              </a:ext>
            </a:extLst>
          </p:cNvPr>
          <p:cNvSpPr txBox="1"/>
          <p:nvPr/>
        </p:nvSpPr>
        <p:spPr>
          <a:xfrm>
            <a:off x="7560086" y="5640814"/>
            <a:ext cx="4198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Prof.		G. Marrocco </a:t>
            </a:r>
          </a:p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Tutor: 	              Ing. Francesca Nanni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A42914-1344-E470-172A-056551191293}"/>
              </a:ext>
            </a:extLst>
          </p:cNvPr>
          <p:cNvSpPr txBox="1"/>
          <p:nvPr/>
        </p:nvSpPr>
        <p:spPr>
          <a:xfrm>
            <a:off x="5262714" y="4595126"/>
            <a:ext cx="166656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117314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7CF38C48-AE5F-6376-E719-6CB1A230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Approaching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AF4BEEE-B411-18C9-92B7-3E091348DB79}"/>
              </a:ext>
            </a:extLst>
          </p:cNvPr>
          <p:cNvSpPr txBox="1"/>
          <p:nvPr/>
        </p:nvSpPr>
        <p:spPr>
          <a:xfrm>
            <a:off x="452283" y="1778382"/>
            <a:ext cx="315615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dirty="0" err="1">
                <a:latin typeface="Times New Roman"/>
                <a:cs typeface="Times New Roman"/>
              </a:rPr>
              <a:t>Adding</a:t>
            </a:r>
            <a:r>
              <a:rPr lang="it-IT" sz="2200" dirty="0">
                <a:latin typeface="Times New Roman"/>
                <a:cs typeface="Times New Roman"/>
              </a:rPr>
              <a:t> chip footprint and matching the </a:t>
            </a:r>
            <a:r>
              <a:rPr lang="it-IT" sz="2200" dirty="0" err="1">
                <a:latin typeface="Times New Roman"/>
                <a:cs typeface="Times New Roman"/>
              </a:rPr>
              <a:t>impedance</a:t>
            </a:r>
            <a:endParaRPr lang="it-IT" sz="2200" b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AE909D6-C6C3-ABF4-A010-E4200839BA4B}"/>
              </a:ext>
            </a:extLst>
          </p:cNvPr>
          <p:cNvCxnSpPr/>
          <p:nvPr/>
        </p:nvCxnSpPr>
        <p:spPr>
          <a:xfrm>
            <a:off x="4031226" y="2202432"/>
            <a:ext cx="11503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Immagine 12">
            <a:extLst>
              <a:ext uri="{FF2B5EF4-FFF2-40B4-BE49-F238E27FC236}">
                <a16:creationId xmlns:a16="http://schemas.microsoft.com/office/drawing/2014/main" id="{3ADE1914-EDCA-3ED8-8D18-955CD82B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34" r="10837"/>
          <a:stretch>
            <a:fillRect/>
          </a:stretch>
        </p:blipFill>
        <p:spPr>
          <a:xfrm>
            <a:off x="5466736" y="1071863"/>
            <a:ext cx="2172929" cy="2182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C3C5D0D-1F19-753C-F70E-1DED8D5AE91B}"/>
                  </a:ext>
                </a:extLst>
              </p:cNvPr>
              <p:cNvSpPr txBox="1"/>
              <p:nvPr/>
            </p:nvSpPr>
            <p:spPr>
              <a:xfrm>
                <a:off x="7924801" y="1949388"/>
                <a:ext cx="4149630" cy="42742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chip</m:t>
                        </m:r>
                      </m:sub>
                    </m:sSub>
                  </m:oMath>
                </a14:m>
                <a:r>
                  <a:rPr lang="it-IT" sz="2000" b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(@915 MHz)= 30 - i</a:t>
                </a:r>
                <a14:m>
                  <m:oMath xmlns:m="http://schemas.openxmlformats.org/officeDocument/2006/math">
                    <m:r>
                      <a:rPr lang="it-IT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it-IT" sz="2000" b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195</a:t>
                </a:r>
                <a:r>
                  <a:rPr lang="el-G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endParaRPr lang="it-IT" sz="200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C3C5D0D-1F19-753C-F70E-1DED8D5AE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1" y="1949388"/>
                <a:ext cx="4149630" cy="427425"/>
              </a:xfrm>
              <a:prstGeom prst="rect">
                <a:avLst/>
              </a:prstGeom>
              <a:blipFill>
                <a:blip r:embed="rId3"/>
                <a:stretch>
                  <a:fillRect t="-7143" b="-1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442BA2A-31A0-8275-94DD-AD4CF63978DF}"/>
              </a:ext>
            </a:extLst>
          </p:cNvPr>
          <p:cNvSpPr txBox="1"/>
          <p:nvPr/>
        </p:nvSpPr>
        <p:spPr>
          <a:xfrm>
            <a:off x="1101213" y="4298433"/>
            <a:ext cx="282185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2200" b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Simulations</a:t>
            </a:r>
            <a:endParaRPr lang="it-IT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8EBC4385-B2E6-313F-6AF8-313D353AE32A}"/>
              </a:ext>
            </a:extLst>
          </p:cNvPr>
          <p:cNvCxnSpPr/>
          <p:nvPr/>
        </p:nvCxnSpPr>
        <p:spPr>
          <a:xfrm>
            <a:off x="3033251" y="4513876"/>
            <a:ext cx="11503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28.600 Vescica Illustrazioni stock, grafiche vettoriali royalty-free e clip  art - iStock | Urinare, Vescia, Rene">
            <a:extLst>
              <a:ext uri="{FF2B5EF4-FFF2-40B4-BE49-F238E27FC236}">
                <a16:creationId xmlns:a16="http://schemas.microsoft.com/office/drawing/2014/main" id="{D43545C3-5DFF-A6C9-90D0-C70382CDA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7" t="23020" r="26349" b="30381"/>
          <a:stretch>
            <a:fillRect/>
          </a:stretch>
        </p:blipFill>
        <p:spPr bwMode="auto">
          <a:xfrm>
            <a:off x="5466736" y="3535055"/>
            <a:ext cx="2208857" cy="218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A556217-9068-C08C-DB6F-18B99962F422}"/>
              </a:ext>
            </a:extLst>
          </p:cNvPr>
          <p:cNvSpPr txBox="1"/>
          <p:nvPr/>
        </p:nvSpPr>
        <p:spPr>
          <a:xfrm>
            <a:off x="5466736" y="5920458"/>
            <a:ext cx="2208857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it-IT" sz="2200" b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endParaRPr lang="it-IT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alloncini nero lattice 30 cm 20 pezzi | Mister Festa">
            <a:extLst>
              <a:ext uri="{FF2B5EF4-FFF2-40B4-BE49-F238E27FC236}">
                <a16:creationId xmlns:a16="http://schemas.microsoft.com/office/drawing/2014/main" id="{F45061E5-AF23-1491-2AD1-63A8EBD017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0" t="2181" r="13754"/>
          <a:stretch>
            <a:fillRect/>
          </a:stretch>
        </p:blipFill>
        <p:spPr bwMode="auto">
          <a:xfrm>
            <a:off x="9426640" y="3535055"/>
            <a:ext cx="1664147" cy="218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5EB2F7B-C771-CEBA-25F6-66C472439F4A}"/>
              </a:ext>
            </a:extLst>
          </p:cNvPr>
          <p:cNvSpPr txBox="1"/>
          <p:nvPr/>
        </p:nvSpPr>
        <p:spPr>
          <a:xfrm>
            <a:off x="8967019" y="5920457"/>
            <a:ext cx="2635046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2200" b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r>
              <a:rPr lang="it-IT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balloon</a:t>
            </a:r>
          </a:p>
        </p:txBody>
      </p:sp>
    </p:spTree>
    <p:extLst>
      <p:ext uri="{BB962C8B-B14F-4D97-AF65-F5344CB8AC3E}">
        <p14:creationId xmlns:p14="http://schemas.microsoft.com/office/powerpoint/2010/main" val="124240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3D0D-5288-7522-D47B-E8B440FA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ea typeface="Calibri"/>
                <a:cs typeface="Arial"/>
              </a:rPr>
              <a:t>Final</a:t>
            </a:r>
            <a:r>
              <a:rPr lang="it-IT">
                <a:latin typeface="Times New Roman"/>
                <a:ea typeface="Calibri"/>
                <a:cs typeface="Arial"/>
              </a:rPr>
              <a:t> Model </a:t>
            </a:r>
            <a:r>
              <a:rPr lang="it-IT" err="1">
                <a:latin typeface="Times New Roman"/>
                <a:ea typeface="Calibri"/>
                <a:cs typeface="Arial"/>
              </a:rPr>
              <a:t>Dimension</a:t>
            </a:r>
            <a:endParaRPr lang="it-IT" err="1">
              <a:latin typeface="Times New Roman"/>
            </a:endParaRPr>
          </a:p>
        </p:txBody>
      </p:sp>
      <p:pic>
        <p:nvPicPr>
          <p:cNvPr id="6" name="Immagine 5" descr="Immagine che contiene simbolo, logo, cerchio, Elementi grafici&#10;&#10;Il contenuto generato dall&amp;#39;IA potrebbe non essere corretto.">
            <a:extLst>
              <a:ext uri="{FF2B5EF4-FFF2-40B4-BE49-F238E27FC236}">
                <a16:creationId xmlns:a16="http://schemas.microsoft.com/office/drawing/2014/main" id="{BAD9223A-0D9F-3C1F-7F3F-689159509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1" y="2143837"/>
            <a:ext cx="5442858" cy="30480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510FB10-AD0F-08E1-32AF-583DFAC5CEB2}"/>
              </a:ext>
            </a:extLst>
          </p:cNvPr>
          <p:cNvSpPr txBox="1"/>
          <p:nvPr/>
        </p:nvSpPr>
        <p:spPr>
          <a:xfrm>
            <a:off x="652614" y="1656914"/>
            <a:ext cx="406037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/>
                <a:ea typeface="Calibri"/>
                <a:cs typeface="Calibri"/>
              </a:rPr>
              <a:t>Dipole</a:t>
            </a:r>
            <a:r>
              <a:rPr lang="it-IT" sz="2200">
                <a:latin typeface="Times New Roman"/>
                <a:ea typeface="Calibri"/>
                <a:cs typeface="Calibri"/>
              </a:rPr>
              <a:t> L = 27mm x W = 1.5 mm</a:t>
            </a:r>
            <a:endParaRPr lang="it-IT" sz="2200" b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C4E645-F52F-95C8-8A57-DECD84B799F2}"/>
              </a:ext>
            </a:extLst>
          </p:cNvPr>
          <p:cNvSpPr txBox="1"/>
          <p:nvPr/>
        </p:nvSpPr>
        <p:spPr>
          <a:xfrm>
            <a:off x="1943823" y="5181073"/>
            <a:ext cx="406037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 err="1">
                <a:latin typeface="Times New Roman"/>
                <a:ea typeface="Calibri"/>
                <a:cs typeface="Calibri"/>
              </a:rPr>
              <a:t>Elliptical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Incapsulation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:</a:t>
            </a:r>
          </a:p>
          <a:p>
            <a:r>
              <a:rPr lang="it-IT" sz="2200" dirty="0">
                <a:latin typeface="Times New Roman"/>
                <a:ea typeface="Calibri"/>
                <a:cs typeface="Calibri"/>
              </a:rPr>
              <a:t>-Major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axis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30 mm</a:t>
            </a:r>
          </a:p>
          <a:p>
            <a:r>
              <a:rPr lang="it-IT" sz="2200" dirty="0">
                <a:latin typeface="Times New Roman"/>
                <a:ea typeface="Calibri"/>
                <a:cs typeface="Calibri"/>
              </a:rPr>
              <a:t>-Minor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axis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15 mm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5F054EF-FBF5-70ED-F1EF-0D22E6482C1B}"/>
              </a:ext>
            </a:extLst>
          </p:cNvPr>
          <p:cNvSpPr txBox="1"/>
          <p:nvPr/>
        </p:nvSpPr>
        <p:spPr>
          <a:xfrm>
            <a:off x="5012366" y="1441514"/>
            <a:ext cx="198365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it-IT" sz="1800" b="1" i="1" dirty="0" err="1">
                <a:latin typeface="Times New Roman"/>
                <a:ea typeface="Calibri"/>
                <a:cs typeface="Calibri"/>
              </a:rPr>
              <a:t>Asygn</a:t>
            </a:r>
            <a:r>
              <a:rPr lang="it-IT" sz="1800" b="1" i="1" dirty="0">
                <a:latin typeface="Times New Roman"/>
                <a:ea typeface="Calibri"/>
                <a:cs typeface="Calibri"/>
              </a:rPr>
              <a:t> AS3213S_5</a:t>
            </a:r>
            <a:r>
              <a:rPr lang="it-IT" b="1" i="1" dirty="0">
                <a:latin typeface="Times New Roman"/>
                <a:ea typeface="Calibri"/>
                <a:cs typeface="Calibri"/>
              </a:rPr>
              <a:t> Footprint</a:t>
            </a:r>
            <a:endParaRPr lang="it-IT" sz="1800" b="1" i="1" dirty="0">
              <a:latin typeface="Times New Roman"/>
              <a:ea typeface="Calibri"/>
              <a:cs typeface="Calibri"/>
            </a:endParaRP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2E9075F-E47F-FDD8-2C8F-F1E1521DE21D}"/>
              </a:ext>
            </a:extLst>
          </p:cNvPr>
          <p:cNvCxnSpPr/>
          <p:nvPr/>
        </p:nvCxnSpPr>
        <p:spPr>
          <a:xfrm flipV="1">
            <a:off x="3424635" y="1920190"/>
            <a:ext cx="1569297" cy="773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Immagine 2" descr="Immagine che contiene schermata, cartone animato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7DBADAFC-DA0C-9970-1115-D08B5DA91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7" t="-967" r="28154" b="2076"/>
          <a:stretch>
            <a:fillRect/>
          </a:stretch>
        </p:blipFill>
        <p:spPr>
          <a:xfrm>
            <a:off x="6114933" y="2114608"/>
            <a:ext cx="5678567" cy="306646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3913AE9-892D-1005-B5AE-2E7660F68C1D}"/>
              </a:ext>
            </a:extLst>
          </p:cNvPr>
          <p:cNvSpPr txBox="1"/>
          <p:nvPr/>
        </p:nvSpPr>
        <p:spPr>
          <a:xfrm>
            <a:off x="7639499" y="5181073"/>
            <a:ext cx="4060371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 err="1">
                <a:latin typeface="Times New Roman"/>
                <a:ea typeface="Calibri"/>
                <a:cs typeface="Calibri"/>
              </a:rPr>
              <a:t>Elliptical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Incapsulation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:</a:t>
            </a:r>
          </a:p>
          <a:p>
            <a:r>
              <a:rPr lang="it-IT" sz="2200" dirty="0">
                <a:latin typeface="Times New Roman"/>
                <a:ea typeface="Calibri"/>
                <a:cs typeface="Calibri"/>
              </a:rPr>
              <a:t>-Bottom silicon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layer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1 mm</a:t>
            </a:r>
          </a:p>
          <a:p>
            <a:r>
              <a:rPr lang="it-IT" sz="2200" dirty="0">
                <a:latin typeface="Times New Roman"/>
                <a:ea typeface="Calibri"/>
                <a:cs typeface="Calibri"/>
              </a:rPr>
              <a:t>-Top low-</a:t>
            </a:r>
            <a:r>
              <a:rPr lang="el-GR" sz="2400" dirty="0">
                <a:latin typeface="Times New Roman"/>
                <a:ea typeface="Calibri"/>
                <a:cs typeface="Times New Roman"/>
              </a:rPr>
              <a:t>ε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 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material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2 mm</a:t>
            </a:r>
          </a:p>
        </p:txBody>
      </p:sp>
    </p:spTree>
    <p:extLst>
      <p:ext uri="{BB962C8B-B14F-4D97-AF65-F5344CB8AC3E}">
        <p14:creationId xmlns:p14="http://schemas.microsoft.com/office/powerpoint/2010/main" val="393931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10F045A4-D4CE-25CE-06FC-309DA1404F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705" b="4129"/>
          <a:stretch>
            <a:fillRect/>
          </a:stretch>
        </p:blipFill>
        <p:spPr>
          <a:xfrm>
            <a:off x="3394961" y="4000160"/>
            <a:ext cx="4953194" cy="2466130"/>
          </a:xfrm>
          <a:prstGeom prst="rect">
            <a:avLst/>
          </a:prstGeom>
        </p:spPr>
      </p:pic>
      <p:pic>
        <p:nvPicPr>
          <p:cNvPr id="5" name="Immagine 4" descr="Immagine che contiene testo, line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E467ADC3-45B3-458D-CC11-5FFFC4454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153"/>
          <a:stretch>
            <a:fillRect/>
          </a:stretch>
        </p:blipFill>
        <p:spPr>
          <a:xfrm>
            <a:off x="5719155" y="1422710"/>
            <a:ext cx="6364383" cy="25276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18794-9A4F-91AE-B420-AD1BDB62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Times New Roman"/>
                <a:ea typeface="Calibri"/>
                <a:cs typeface="Arial"/>
              </a:rPr>
              <a:t>Real </a:t>
            </a:r>
            <a:r>
              <a:rPr lang="it-IT" err="1">
                <a:latin typeface="Times New Roman"/>
                <a:ea typeface="Calibri"/>
                <a:cs typeface="Arial"/>
              </a:rPr>
              <a:t>Bladder</a:t>
            </a:r>
            <a:r>
              <a:rPr lang="it-IT">
                <a:latin typeface="Times New Roman"/>
                <a:ea typeface="Calibri"/>
                <a:cs typeface="Arial"/>
              </a:rPr>
              <a:t> Tag </a:t>
            </a:r>
            <a:r>
              <a:rPr lang="it-IT" err="1">
                <a:latin typeface="Times New Roman"/>
                <a:ea typeface="Calibri"/>
                <a:cs typeface="Arial"/>
              </a:rPr>
              <a:t>Impedance</a:t>
            </a:r>
            <a:endParaRPr lang="it-IT" err="1">
              <a:latin typeface="Times New Roman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55AD0-C479-A787-FB52-8714D1ACD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>
                <a:latin typeface="Times New Roman"/>
                <a:ea typeface="Calibri"/>
                <a:cs typeface="Arial"/>
              </a:rPr>
              <a:t>Including</a:t>
            </a:r>
            <a:r>
              <a:rPr lang="it-IT" dirty="0">
                <a:latin typeface="Times New Roman"/>
                <a:ea typeface="Calibri"/>
                <a:cs typeface="Arial"/>
              </a:rPr>
              <a:t> chip footprint</a:t>
            </a:r>
            <a:endParaRPr lang="it-IT" dirty="0">
              <a:latin typeface="Times New Roman"/>
              <a:ea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3570309-DB56-8E6B-67A6-8695C1323F06}"/>
              </a:ext>
            </a:extLst>
          </p:cNvPr>
          <p:cNvSpPr txBox="1"/>
          <p:nvPr/>
        </p:nvSpPr>
        <p:spPr>
          <a:xfrm>
            <a:off x="7582993" y="1119210"/>
            <a:ext cx="33134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dirty="0">
                <a:latin typeface="Times New Roman"/>
                <a:cs typeface="Times New Roman"/>
              </a:rPr>
              <a:t>Half-</a:t>
            </a:r>
            <a:r>
              <a:rPr lang="it-IT" sz="2200" err="1">
                <a:latin typeface="Times New Roman"/>
                <a:cs typeface="Times New Roman"/>
              </a:rPr>
              <a:t>Filled</a:t>
            </a:r>
            <a:r>
              <a:rPr lang="it-IT" sz="2200" b="0" dirty="0">
                <a:latin typeface="Times New Roman"/>
                <a:cs typeface="Times New Roman"/>
              </a:rPr>
              <a:t> </a:t>
            </a:r>
            <a:r>
              <a:rPr lang="it-IT" sz="2200" b="0" err="1">
                <a:latin typeface="Times New Roman"/>
                <a:cs typeface="Times New Roman"/>
              </a:rPr>
              <a:t>bladder</a:t>
            </a:r>
            <a:endParaRPr lang="it-IT" sz="2200" b="0">
              <a:latin typeface="Times New Roman"/>
              <a:cs typeface="Times New Roman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58AA59A-E3D9-5BF7-43C3-42DD6B40C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220"/>
          <a:stretch>
            <a:fillRect/>
          </a:stretch>
        </p:blipFill>
        <p:spPr>
          <a:xfrm>
            <a:off x="108461" y="1401226"/>
            <a:ext cx="4857135" cy="254539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B8E539-E7F5-8F07-1C51-F46C28ED8D99}"/>
              </a:ext>
            </a:extLst>
          </p:cNvPr>
          <p:cNvSpPr txBox="1"/>
          <p:nvPr/>
        </p:nvSpPr>
        <p:spPr>
          <a:xfrm>
            <a:off x="1120877" y="1093482"/>
            <a:ext cx="310699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b="0" err="1">
                <a:latin typeface="Times New Roman"/>
                <a:cs typeface="Times New Roman"/>
              </a:rPr>
              <a:t>Empty</a:t>
            </a:r>
            <a:r>
              <a:rPr lang="it-IT" sz="2200" b="0" dirty="0">
                <a:latin typeface="Times New Roman"/>
                <a:cs typeface="Times New Roman"/>
              </a:rPr>
              <a:t> </a:t>
            </a:r>
            <a:r>
              <a:rPr lang="it-IT" sz="2200" b="0" err="1">
                <a:latin typeface="Times New Roman"/>
                <a:cs typeface="Times New Roman"/>
              </a:rPr>
              <a:t>bladder</a:t>
            </a:r>
            <a:endParaRPr lang="it-IT" sz="2200" b="0">
              <a:latin typeface="Times New Roman"/>
              <a:cs typeface="Times New Roman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9AF991B-795B-79B3-E444-DF13E5C03F4A}"/>
              </a:ext>
            </a:extLst>
          </p:cNvPr>
          <p:cNvSpPr txBox="1"/>
          <p:nvPr/>
        </p:nvSpPr>
        <p:spPr>
          <a:xfrm>
            <a:off x="4119412" y="3718314"/>
            <a:ext cx="310699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dirty="0">
                <a:latin typeface="Times New Roman"/>
                <a:cs typeface="Times New Roman"/>
              </a:rPr>
              <a:t>F</a:t>
            </a:r>
            <a:r>
              <a:rPr lang="it-IT" sz="2200" b="0" dirty="0">
                <a:latin typeface="Times New Roman"/>
                <a:cs typeface="Times New Roman"/>
              </a:rPr>
              <a:t>ull </a:t>
            </a:r>
            <a:r>
              <a:rPr lang="it-IT" sz="2200" b="0" err="1">
                <a:latin typeface="Times New Roman"/>
                <a:cs typeface="Times New Roman"/>
              </a:rPr>
              <a:t>bladder</a:t>
            </a:r>
            <a:endParaRPr lang="it-IT" sz="2200" b="0">
              <a:latin typeface="Times New Roman"/>
              <a:cs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4AC38D-89B8-B0DB-4852-E97518F20044}"/>
              </a:ext>
            </a:extLst>
          </p:cNvPr>
          <p:cNvSpPr txBox="1"/>
          <p:nvPr/>
        </p:nvSpPr>
        <p:spPr>
          <a:xfrm>
            <a:off x="8899825" y="4567668"/>
            <a:ext cx="298326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>
                <a:latin typeface="Times New Roman"/>
                <a:ea typeface="Calibri"/>
                <a:cs typeface="Calibri"/>
              </a:rPr>
              <a:t>No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variations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with filling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condition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(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we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already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knew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) </a:t>
            </a:r>
            <a:endParaRPr lang="it-IT" sz="2200" b="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823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6C1DB5-188E-D2C9-0808-6EC72AA0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latin typeface="Times New Roman"/>
                <a:ea typeface="Calibri"/>
                <a:cs typeface="Arial"/>
              </a:rPr>
              <a:t>Schematic</a:t>
            </a:r>
            <a:r>
              <a:rPr lang="it-IT" dirty="0">
                <a:latin typeface="Times New Roman"/>
                <a:ea typeface="Calibri"/>
                <a:cs typeface="Arial"/>
              </a:rPr>
              <a:t> model</a:t>
            </a:r>
            <a:endParaRPr lang="it-IT" dirty="0">
              <a:latin typeface="Times New Roman"/>
            </a:endParaRPr>
          </a:p>
        </p:txBody>
      </p:sp>
      <p:pic>
        <p:nvPicPr>
          <p:cNvPr id="6" name="Content Placeholder 5" descr="Immagine che contiene testo, schermata, diagramma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E7F33216-F9DC-793D-F640-0BA2486636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77789" y="2412037"/>
            <a:ext cx="5306702" cy="2691312"/>
          </a:xfr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5A82E-5A93-DF52-87D3-DC1AF80A9019}"/>
              </a:ext>
            </a:extLst>
          </p:cNvPr>
          <p:cNvSpPr txBox="1"/>
          <p:nvPr/>
        </p:nvSpPr>
        <p:spPr>
          <a:xfrm>
            <a:off x="6457076" y="4833742"/>
            <a:ext cx="21086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i="1" dirty="0">
                <a:latin typeface="Times New Roman"/>
                <a:ea typeface="Calibri"/>
                <a:cs typeface="Calibri"/>
              </a:rPr>
              <a:t>82nH </a:t>
            </a:r>
            <a:r>
              <a:rPr lang="it-IT" b="1" i="1" dirty="0" err="1">
                <a:latin typeface="Times New Roman"/>
                <a:ea typeface="Calibri"/>
                <a:cs typeface="Calibri"/>
              </a:rPr>
              <a:t>inductor</a:t>
            </a:r>
            <a:endParaRPr lang="it-IT" b="1" i="1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D4CB82-03FD-DDA6-0A13-089C6C3BD4FC}"/>
              </a:ext>
            </a:extLst>
          </p:cNvPr>
          <p:cNvSpPr txBox="1"/>
          <p:nvPr/>
        </p:nvSpPr>
        <p:spPr>
          <a:xfrm>
            <a:off x="184101" y="1281348"/>
            <a:ext cx="947609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 err="1">
                <a:latin typeface="Times New Roman"/>
                <a:ea typeface="Calibri"/>
                <a:cs typeface="Calibri"/>
              </a:rPr>
              <a:t>Ideally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we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would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need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an 89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nH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series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inductor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to match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chip's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impedance</a:t>
            </a:r>
            <a:endParaRPr lang="it-IT" sz="2200" b="0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45E1DDE-C083-A2C1-8CE6-146541505E31}"/>
              </a:ext>
            </a:extLst>
          </p:cNvPr>
          <p:cNvSpPr txBox="1"/>
          <p:nvPr/>
        </p:nvSpPr>
        <p:spPr>
          <a:xfrm>
            <a:off x="267641" y="5463882"/>
            <a:ext cx="1001063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 err="1">
                <a:latin typeface="Times New Roman"/>
                <a:ea typeface="Calibri"/>
                <a:cs typeface="Calibri"/>
              </a:rPr>
              <a:t>According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to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available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real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inductors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, 82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nH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showed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best performances</a:t>
            </a:r>
            <a:endParaRPr lang="it-IT" sz="2200" b="0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</p:txBody>
      </p:sp>
      <p:pic>
        <p:nvPicPr>
          <p:cNvPr id="8" name="Immagine 7" descr="Immagine che contiene diagramma, schermata, linea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690D792F-A35C-D774-CC9A-9720D5DDC1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83" r="11262" b="357"/>
          <a:stretch>
            <a:fillRect/>
          </a:stretch>
        </p:blipFill>
        <p:spPr>
          <a:xfrm>
            <a:off x="179434" y="2645817"/>
            <a:ext cx="6411032" cy="2009930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E978484-385B-4F0B-8F91-7DDDC21BB0C3}"/>
              </a:ext>
            </a:extLst>
          </p:cNvPr>
          <p:cNvCxnSpPr/>
          <p:nvPr/>
        </p:nvCxnSpPr>
        <p:spPr>
          <a:xfrm flipV="1">
            <a:off x="3381780" y="2755210"/>
            <a:ext cx="7845014" cy="9099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857B529F-AF2B-2F97-FADA-87A7AEAEBCE0}"/>
              </a:ext>
            </a:extLst>
          </p:cNvPr>
          <p:cNvCxnSpPr>
            <a:cxnSpLocks/>
          </p:cNvCxnSpPr>
          <p:nvPr/>
        </p:nvCxnSpPr>
        <p:spPr>
          <a:xfrm>
            <a:off x="3393152" y="4040475"/>
            <a:ext cx="3295761" cy="4320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92DF84A2-EA41-6DC8-ECDF-0518ACD9F254}"/>
              </a:ext>
            </a:extLst>
          </p:cNvPr>
          <p:cNvCxnSpPr>
            <a:cxnSpLocks/>
          </p:cNvCxnSpPr>
          <p:nvPr/>
        </p:nvCxnSpPr>
        <p:spPr>
          <a:xfrm flipV="1">
            <a:off x="7055300" y="2459507"/>
            <a:ext cx="8927" cy="3299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79212A6-B1BC-C029-3B6B-5A67B1E23B39}"/>
              </a:ext>
            </a:extLst>
          </p:cNvPr>
          <p:cNvSpPr txBox="1"/>
          <p:nvPr/>
        </p:nvSpPr>
        <p:spPr>
          <a:xfrm>
            <a:off x="6098131" y="2020601"/>
            <a:ext cx="211767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ea typeface="Calibri"/>
                <a:cs typeface="Calibri"/>
              </a:rPr>
              <a:t>Reader Antenna</a:t>
            </a:r>
            <a:endParaRPr lang="it-IT" sz="2200" b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191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F9E185-B0A4-DC30-C78A-20663B3E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Times New Roman"/>
                <a:cs typeface="Arial"/>
              </a:rPr>
              <a:t>Real </a:t>
            </a:r>
            <a:r>
              <a:rPr lang="it-IT" err="1">
                <a:latin typeface="Times New Roman"/>
                <a:cs typeface="Arial"/>
              </a:rPr>
              <a:t>bladder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el-GR">
                <a:latin typeface="Times New Roman"/>
                <a:ea typeface="Calibri"/>
                <a:cs typeface="Calibri"/>
              </a:rPr>
              <a:t>τ</a:t>
            </a:r>
            <a:r>
              <a:rPr lang="it-IT">
                <a:latin typeface="Times New Roman"/>
                <a:cs typeface="Arial"/>
              </a:rPr>
              <a:t> </a:t>
            </a:r>
            <a:endParaRPr lang="it-IT">
              <a:latin typeface="Times New Roman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8FAC5F-7CDE-FA17-32E7-DDC12B2C3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50% air and 50% urine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03BA3C-C976-48C9-D641-FF139C55A3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63"/>
          <a:stretch>
            <a:fillRect/>
          </a:stretch>
        </p:blipFill>
        <p:spPr bwMode="auto">
          <a:xfrm>
            <a:off x="78658" y="1638877"/>
            <a:ext cx="12034684" cy="4048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74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6FAAB9B5-EEBD-589F-C81F-628FD4AF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en-US">
                <a:latin typeface="Times New Roman"/>
                <a:cs typeface="Arial"/>
              </a:rPr>
              <a:t>Real bladder G</a:t>
            </a:r>
            <a:r>
              <a:rPr lang="en-US" sz="2800">
                <a:latin typeface="Times New Roman"/>
                <a:cs typeface="Arial"/>
              </a:rPr>
              <a:t>T</a:t>
            </a:r>
            <a:endParaRPr lang="en-US" sz="2800">
              <a:latin typeface="Times New Roman"/>
              <a:ea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5372BB-A6C9-741B-2AE1-1B6E610A7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15"/>
          <a:stretch>
            <a:fillRect/>
          </a:stretch>
        </p:blipFill>
        <p:spPr bwMode="auto">
          <a:xfrm>
            <a:off x="314631" y="1158226"/>
            <a:ext cx="11712791" cy="385876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3" name="Text Placeholder 3">
            <a:extLst>
              <a:ext uri="{FF2B5EF4-FFF2-40B4-BE49-F238E27FC236}">
                <a16:creationId xmlns:a16="http://schemas.microsoft.com/office/drawing/2014/main" id="{6ECAA7E1-4A63-61E2-E692-65305C6E24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air and 50% urine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26ECF33-887F-C344-3792-A153D6366974}"/>
              </a:ext>
            </a:extLst>
          </p:cNvPr>
          <p:cNvSpPr txBox="1"/>
          <p:nvPr/>
        </p:nvSpPr>
        <p:spPr>
          <a:xfrm>
            <a:off x="727587" y="5397910"/>
            <a:ext cx="10972800" cy="76352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dirty="0" err="1">
                <a:latin typeface="Times New Roman"/>
                <a:ea typeface="+mn-lt"/>
                <a:cs typeface="+mn-lt"/>
              </a:rPr>
              <a:t>Nothing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changes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between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the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three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types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of filling (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empty</a:t>
            </a:r>
            <a:r>
              <a:rPr lang="it-IT" sz="2200" dirty="0">
                <a:latin typeface="Times New Roman"/>
                <a:ea typeface="+mn-lt"/>
                <a:cs typeface="+mn-lt"/>
              </a:rPr>
              <a:t>, 50/50, full),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therefore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fluid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in the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bladder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is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not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a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determining</a:t>
            </a:r>
            <a:r>
              <a:rPr lang="it-IT" sz="2200" dirty="0">
                <a:latin typeface="Times New Roman"/>
                <a:ea typeface="+mn-lt"/>
                <a:cs typeface="+mn-lt"/>
              </a:rPr>
              <a:t> </a:t>
            </a:r>
            <a:r>
              <a:rPr lang="it-IT" sz="2200" dirty="0" err="1">
                <a:latin typeface="Times New Roman"/>
                <a:ea typeface="+mn-lt"/>
                <a:cs typeface="+mn-lt"/>
              </a:rPr>
              <a:t>factor</a:t>
            </a:r>
            <a:r>
              <a:rPr lang="it-IT" sz="2200" dirty="0">
                <a:latin typeface="Times New Roman"/>
                <a:ea typeface="+mn-lt"/>
                <a:cs typeface="+mn-lt"/>
              </a:rPr>
              <a:t>.</a:t>
            </a:r>
            <a:endParaRPr lang="it-IT" sz="2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565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ADDC-BE92-1A34-767B-73220B87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353" y="60152"/>
            <a:ext cx="9130693" cy="853536"/>
          </a:xfrm>
        </p:spPr>
        <p:txBody>
          <a:bodyPr>
            <a:normAutofit/>
          </a:bodyPr>
          <a:lstStyle/>
          <a:p>
            <a:r>
              <a:rPr lang="it-IT" err="1">
                <a:latin typeface="Times New Roman"/>
                <a:ea typeface="Calibri"/>
                <a:cs typeface="Times New Roman"/>
              </a:rPr>
              <a:t>Balloon's</a:t>
            </a:r>
            <a:r>
              <a:rPr lang="it-IT"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latin typeface="Times New Roman"/>
                <a:ea typeface="Calibri"/>
                <a:cs typeface="Times New Roman"/>
              </a:rPr>
              <a:t>dielectric</a:t>
            </a:r>
            <a:r>
              <a:rPr lang="it-IT"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latin typeface="Times New Roman"/>
                <a:ea typeface="Calibri"/>
                <a:cs typeface="Times New Roman"/>
              </a:rPr>
              <a:t>characteristics</a:t>
            </a:r>
            <a:r>
              <a:rPr lang="it-IT">
                <a:latin typeface="Times New Roman"/>
                <a:ea typeface="Calibri"/>
                <a:cs typeface="Times New Roman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DF4D8-ACD2-77D4-045B-B26A56549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3353" y="4062008"/>
            <a:ext cx="7937953" cy="544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it-IT" sz="2200">
                <a:latin typeface="Times New Roman"/>
                <a:ea typeface="Calibri"/>
                <a:cs typeface="Arial"/>
              </a:rPr>
              <a:t>Balloon </a:t>
            </a:r>
            <a:r>
              <a:rPr lang="it-IT" sz="2200" err="1">
                <a:latin typeface="Times New Roman"/>
                <a:ea typeface="Calibri"/>
                <a:cs typeface="Arial"/>
              </a:rPr>
              <a:t>thickness</a:t>
            </a:r>
            <a:r>
              <a:rPr lang="it-IT" sz="2200">
                <a:latin typeface="Times New Roman"/>
                <a:ea typeface="Calibri"/>
                <a:cs typeface="Arial"/>
              </a:rPr>
              <a:t> </a:t>
            </a:r>
            <a:r>
              <a:rPr lang="it-IT" sz="2200" err="1">
                <a:latin typeface="Times New Roman"/>
                <a:ea typeface="Calibri"/>
                <a:cs typeface="Arial"/>
              </a:rPr>
              <a:t>considered</a:t>
            </a:r>
            <a:r>
              <a:rPr lang="it-IT" sz="2200">
                <a:latin typeface="Times New Roman"/>
                <a:ea typeface="Calibri"/>
                <a:cs typeface="Arial"/>
              </a:rPr>
              <a:t>= 0,1 mm</a:t>
            </a:r>
            <a:endParaRPr lang="it-IT" sz="2200">
              <a:latin typeface="Times New Roman"/>
              <a:ea typeface="Calibri" panose="020F0502020204030204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BA4CF-0DE5-E3EB-F2EA-4800F2F905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4602" y="685623"/>
            <a:ext cx="10327398" cy="461665"/>
          </a:xfrm>
        </p:spPr>
        <p:txBody>
          <a:bodyPr/>
          <a:lstStyle/>
          <a:p>
            <a:r>
              <a:rPr lang="it-IT">
                <a:latin typeface="Times New Roman"/>
                <a:cs typeface="Arial"/>
              </a:rPr>
              <a:t>Cole – Cole model for latex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E6B1265-5E11-BB05-B470-52F2E1827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0" y="1510579"/>
            <a:ext cx="10825239" cy="94506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403FD3C-40EC-840C-B2C6-FB4825FDCAD4}"/>
              </a:ext>
            </a:extLst>
          </p:cNvPr>
          <p:cNvSpPr txBox="1"/>
          <p:nvPr/>
        </p:nvSpPr>
        <p:spPr>
          <a:xfrm>
            <a:off x="6723353" y="4612637"/>
            <a:ext cx="2709882" cy="1690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200" err="1">
                <a:latin typeface="Times New Roman"/>
                <a:ea typeface="Calibri"/>
                <a:cs typeface="Times New Roman"/>
              </a:rPr>
              <a:t>Results</a:t>
            </a:r>
            <a:r>
              <a:rPr lang="it-IT" sz="2200">
                <a:latin typeface="Times New Roman"/>
                <a:ea typeface="Calibri"/>
                <a:cs typeface="Times New Roman"/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l-GR" sz="2400">
                <a:latin typeface="Times New Roman"/>
                <a:ea typeface="Calibri"/>
                <a:cs typeface="Times New Roman"/>
              </a:rPr>
              <a:t>ε </a:t>
            </a:r>
            <a:r>
              <a:rPr lang="it-IT" sz="2400">
                <a:latin typeface="Times New Roman"/>
                <a:ea typeface="Calibri" panose="020F0502020204030204"/>
                <a:cs typeface="Times New Roman"/>
              </a:rPr>
              <a:t>= 15 </a:t>
            </a:r>
            <a:endParaRPr lang="en-US" sz="240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l-GR" sz="2400">
                <a:latin typeface="Times New Roman"/>
                <a:ea typeface="Calibri"/>
                <a:cs typeface="Times New Roman"/>
              </a:rPr>
              <a:t>σ </a:t>
            </a:r>
            <a:r>
              <a:rPr lang="it-IT" sz="2400">
                <a:latin typeface="Times New Roman"/>
                <a:ea typeface="Calibri" panose="020F0502020204030204"/>
                <a:cs typeface="Times New Roman"/>
              </a:rPr>
              <a:t>=  0,5</a:t>
            </a:r>
          </a:p>
          <a:p>
            <a:endParaRPr lang="it-IT" sz="2200">
              <a:ea typeface="Calibri"/>
              <a:cs typeface="Calibri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F72E730-3B51-3BA5-26B5-908E41E785C3}"/>
              </a:ext>
            </a:extLst>
          </p:cNvPr>
          <p:cNvSpPr txBox="1"/>
          <p:nvPr/>
        </p:nvSpPr>
        <p:spPr>
          <a:xfrm>
            <a:off x="5368412" y="6519446"/>
            <a:ext cx="783631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l"/>
            <a:r>
              <a:rPr lang="it-IT" sz="1600">
                <a:latin typeface="Times New Roman"/>
                <a:cs typeface="Times New Roman"/>
              </a:rPr>
              <a:t>"</a:t>
            </a:r>
            <a:r>
              <a:rPr lang="it-IT" sz="1600" b="0" err="1">
                <a:latin typeface="Times New Roman"/>
                <a:cs typeface="Times New Roman"/>
              </a:rPr>
              <a:t>Characterisation</a:t>
            </a:r>
            <a:r>
              <a:rPr lang="it-IT" sz="1600" b="0">
                <a:latin typeface="Times New Roman"/>
                <a:cs typeface="Times New Roman"/>
              </a:rPr>
              <a:t> of the </a:t>
            </a:r>
            <a:r>
              <a:rPr lang="it-IT" sz="1600" b="0" err="1">
                <a:latin typeface="Times New Roman"/>
                <a:cs typeface="Times New Roman"/>
              </a:rPr>
              <a:t>dielectric</a:t>
            </a:r>
            <a:r>
              <a:rPr lang="it-IT" sz="1600" b="0">
                <a:latin typeface="Times New Roman"/>
                <a:cs typeface="Times New Roman"/>
              </a:rPr>
              <a:t> </a:t>
            </a:r>
            <a:r>
              <a:rPr lang="it-IT" sz="1600" b="0" err="1">
                <a:latin typeface="Times New Roman"/>
                <a:cs typeface="Times New Roman"/>
              </a:rPr>
              <a:t>properties</a:t>
            </a:r>
            <a:r>
              <a:rPr lang="it-IT" sz="1600" b="0">
                <a:latin typeface="Times New Roman"/>
                <a:cs typeface="Times New Roman"/>
              </a:rPr>
              <a:t> of rubber latex from 0.5 to 33 GHz</a:t>
            </a:r>
            <a:r>
              <a:rPr lang="it-IT" sz="1600">
                <a:latin typeface="Times New Roman"/>
                <a:cs typeface="Times New Roman"/>
              </a:rPr>
              <a:t>"</a:t>
            </a:r>
            <a:endParaRPr lang="it-IT" sz="1600" b="0">
              <a:latin typeface="Times New Roman"/>
              <a:cs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DEFA250-A5C4-FCFF-0220-B64EF13BCF2D}"/>
              </a:ext>
            </a:extLst>
          </p:cNvPr>
          <p:cNvSpPr txBox="1"/>
          <p:nvPr/>
        </p:nvSpPr>
        <p:spPr>
          <a:xfrm>
            <a:off x="697476" y="3080119"/>
            <a:ext cx="4756188" cy="2862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/>
                <a:ea typeface="+mn-lt"/>
                <a:cs typeface="Calibri"/>
              </a:rPr>
              <a:t>Equation models the </a:t>
            </a:r>
            <a:r>
              <a:rPr lang="it-IT" sz="2200" err="1">
                <a:latin typeface="Times New Roman"/>
                <a:ea typeface="+mn-lt"/>
                <a:cs typeface="Calibri"/>
              </a:rPr>
              <a:t>complex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permittivity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el-GR" sz="2200">
                <a:latin typeface="Times New Roman"/>
                <a:ea typeface="Calibri"/>
                <a:cs typeface="Calibri"/>
              </a:rPr>
              <a:t>ε</a:t>
            </a:r>
            <a:r>
              <a:rPr lang="it-IT" sz="2200">
                <a:latin typeface="Times New Roman"/>
                <a:ea typeface="+mn-lt"/>
                <a:cs typeface="Calibri"/>
              </a:rPr>
              <a:t>* </a:t>
            </a:r>
            <a:r>
              <a:rPr lang="it-IT" sz="2200" err="1">
                <a:latin typeface="Times New Roman"/>
                <a:ea typeface="+mn-lt"/>
                <a:cs typeface="Calibri"/>
              </a:rPr>
              <a:t>as</a:t>
            </a:r>
            <a:r>
              <a:rPr lang="it-IT" sz="2200">
                <a:latin typeface="Times New Roman"/>
                <a:ea typeface="+mn-lt"/>
                <a:cs typeface="Calibri"/>
              </a:rPr>
              <a:t> the sum of </a:t>
            </a:r>
            <a:r>
              <a:rPr lang="it-IT" sz="2200" err="1">
                <a:latin typeface="Times New Roman"/>
                <a:ea typeface="+mn-lt"/>
                <a:cs typeface="Calibri"/>
              </a:rPr>
              <a:t>two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dielectric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relaxations</a:t>
            </a:r>
            <a:r>
              <a:rPr lang="it-IT" sz="2200">
                <a:latin typeface="Times New Roman"/>
                <a:ea typeface="+mn-lt"/>
                <a:cs typeface="Calibri"/>
              </a:rPr>
              <a:t> and a </a:t>
            </a:r>
            <a:r>
              <a:rPr lang="it-IT" sz="2200" err="1">
                <a:latin typeface="Times New Roman"/>
                <a:ea typeface="+mn-lt"/>
                <a:cs typeface="Calibri"/>
              </a:rPr>
              <a:t>conductivity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term</a:t>
            </a:r>
            <a:r>
              <a:rPr lang="it-IT" sz="2200">
                <a:latin typeface="Times New Roman"/>
                <a:ea typeface="+mn-lt"/>
                <a:cs typeface="Calibri"/>
              </a:rPr>
              <a:t>, </a:t>
            </a:r>
            <a:r>
              <a:rPr lang="it-IT" sz="2200" err="1">
                <a:latin typeface="Times New Roman"/>
                <a:ea typeface="+mn-lt"/>
                <a:cs typeface="Calibri"/>
              </a:rPr>
              <a:t>where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el-GR" sz="2200">
                <a:latin typeface="Times New Roman"/>
                <a:ea typeface="Calibri"/>
                <a:cs typeface="Calibri"/>
              </a:rPr>
              <a:t>ε</a:t>
            </a:r>
            <a:r>
              <a:rPr lang="it-IT" sz="1600">
                <a:latin typeface="Times New Roman"/>
                <a:ea typeface="+mn-lt"/>
                <a:cs typeface="Calibri"/>
              </a:rPr>
              <a:t>∞,d</a:t>
            </a:r>
            <a:r>
              <a:rPr lang="it-IT" sz="2200">
                <a:latin typeface="Times New Roman"/>
                <a:ea typeface="+mn-lt"/>
                <a:cs typeface="Calibri"/>
              </a:rPr>
              <a:t>, </a:t>
            </a:r>
            <a:r>
              <a:rPr lang="el-GR" sz="2200">
                <a:latin typeface="Calibri"/>
                <a:ea typeface="Calibri"/>
                <a:cs typeface="Calibri"/>
              </a:rPr>
              <a:t>Δε</a:t>
            </a:r>
            <a:r>
              <a:rPr lang="it-IT" sz="1600">
                <a:latin typeface="Calibri"/>
                <a:ea typeface="Calibri"/>
                <a:cs typeface="Calibri"/>
              </a:rPr>
              <a:t>1</a:t>
            </a:r>
            <a:r>
              <a:rPr lang="it-IT" sz="2200">
                <a:latin typeface="Times New Roman"/>
                <a:ea typeface="+mn-lt"/>
                <a:cs typeface="Calibri"/>
              </a:rPr>
              <a:t>, and Δ</a:t>
            </a:r>
            <a:r>
              <a:rPr lang="el-GR" sz="2200">
                <a:ea typeface="Calibri"/>
                <a:cs typeface="Calibri"/>
              </a:rPr>
              <a:t>ε</a:t>
            </a:r>
            <a:r>
              <a:rPr lang="it-IT" sz="1600">
                <a:latin typeface="Times New Roman"/>
                <a:ea typeface="+mn-lt"/>
                <a:cs typeface="Calibri"/>
              </a:rPr>
              <a:t>2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depend</a:t>
            </a:r>
            <a:r>
              <a:rPr lang="it-IT" sz="2200">
                <a:latin typeface="Times New Roman"/>
                <a:ea typeface="+mn-lt"/>
                <a:cs typeface="Calibri"/>
              </a:rPr>
              <a:t> on the dry rubber </a:t>
            </a:r>
            <a:r>
              <a:rPr lang="it-IT" sz="2200" err="1">
                <a:latin typeface="Times New Roman"/>
                <a:ea typeface="+mn-lt"/>
                <a:cs typeface="Calibri"/>
              </a:rPr>
              <a:t>content</a:t>
            </a:r>
            <a:r>
              <a:rPr lang="it-IT" sz="2200">
                <a:latin typeface="Times New Roman"/>
                <a:ea typeface="+mn-lt"/>
                <a:cs typeface="Calibri"/>
              </a:rPr>
              <a:t> (DRC), </a:t>
            </a:r>
            <a:r>
              <a:rPr lang="el-GR" sz="2200">
                <a:latin typeface="Calibri"/>
                <a:ea typeface="Calibri"/>
                <a:cs typeface="Calibri"/>
              </a:rPr>
              <a:t>σ</a:t>
            </a:r>
            <a:r>
              <a:rPr lang="it-IT" sz="1600">
                <a:latin typeface="Calibri"/>
                <a:ea typeface="Calibri"/>
                <a:cs typeface="Calibri"/>
              </a:rPr>
              <a:t>d</a:t>
            </a:r>
            <a:r>
              <a:rPr lang="it-IT" sz="2200">
                <a:latin typeface="Calibri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depends</a:t>
            </a:r>
            <a:r>
              <a:rPr lang="it-IT" sz="2200">
                <a:latin typeface="Times New Roman"/>
                <a:ea typeface="+mn-lt"/>
                <a:cs typeface="Calibri"/>
              </a:rPr>
              <a:t> on </a:t>
            </a:r>
            <a:r>
              <a:rPr lang="it-IT" sz="2200" err="1">
                <a:latin typeface="Times New Roman"/>
                <a:ea typeface="+mn-lt"/>
                <a:cs typeface="Calibri"/>
              </a:rPr>
              <a:t>both</a:t>
            </a:r>
            <a:r>
              <a:rPr lang="it-IT" sz="2200">
                <a:latin typeface="Times New Roman"/>
                <a:ea typeface="+mn-lt"/>
                <a:cs typeface="Calibri"/>
              </a:rPr>
              <a:t> temperature and DRC, and </a:t>
            </a:r>
            <a:r>
              <a:rPr lang="el-GR" sz="2200">
                <a:latin typeface="Times New Roman"/>
                <a:ea typeface="Calibri"/>
                <a:cs typeface="Calibri"/>
              </a:rPr>
              <a:t>ε</a:t>
            </a:r>
            <a:r>
              <a:rPr lang="it-IT" sz="1600">
                <a:latin typeface="Times New Roman"/>
                <a:ea typeface="+mn-lt"/>
                <a:cs typeface="Calibri"/>
              </a:rPr>
              <a:t>0,space </a:t>
            </a:r>
            <a:r>
              <a:rPr lang="it-IT" sz="2200" err="1">
                <a:latin typeface="Times New Roman"/>
                <a:ea typeface="+mn-lt"/>
                <a:cs typeface="Calibri"/>
              </a:rPr>
              <a:t>is</a:t>
            </a:r>
            <a:r>
              <a:rPr lang="it-IT" sz="2200">
                <a:latin typeface="Times New Roman"/>
                <a:ea typeface="+mn-lt"/>
                <a:cs typeface="Calibri"/>
              </a:rPr>
              <a:t> the </a:t>
            </a:r>
            <a:r>
              <a:rPr lang="it-IT" sz="2200" err="1">
                <a:latin typeface="Times New Roman"/>
                <a:ea typeface="+mn-lt"/>
                <a:cs typeface="Calibri"/>
              </a:rPr>
              <a:t>permittivity</a:t>
            </a:r>
            <a:r>
              <a:rPr lang="it-IT" sz="2200">
                <a:latin typeface="Times New Roman"/>
                <a:ea typeface="+mn-lt"/>
                <a:cs typeface="Calibri"/>
              </a:rPr>
              <a:t> of free </a:t>
            </a:r>
            <a:r>
              <a:rPr lang="it-IT" sz="2200" err="1">
                <a:latin typeface="Times New Roman"/>
                <a:ea typeface="+mn-lt"/>
                <a:cs typeface="Calibri"/>
              </a:rPr>
              <a:t>space</a:t>
            </a:r>
            <a:r>
              <a:rPr lang="it-IT" sz="2200">
                <a:latin typeface="Times New Roman"/>
                <a:ea typeface="+mn-lt"/>
                <a:cs typeface="Calibri"/>
              </a:rPr>
              <a:t>.</a:t>
            </a:r>
            <a:endParaRPr lang="it-IT">
              <a:latin typeface="Times New Roman"/>
              <a:cs typeface="Calibri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C755F2E-4310-59F1-84EF-C717994B2A22}"/>
              </a:ext>
            </a:extLst>
          </p:cNvPr>
          <p:cNvSpPr txBox="1"/>
          <p:nvPr/>
        </p:nvSpPr>
        <p:spPr>
          <a:xfrm>
            <a:off x="6723353" y="3070189"/>
            <a:ext cx="470938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it-IT" sz="2000" err="1">
                <a:latin typeface="Times New Roman"/>
                <a:ea typeface="Calibri"/>
                <a:cs typeface="Times New Roman"/>
              </a:rPr>
              <a:t>Used</a:t>
            </a:r>
            <a:r>
              <a:rPr lang="it-IT" sz="2000">
                <a:latin typeface="Times New Roman"/>
                <a:ea typeface="Calibri"/>
                <a:cs typeface="Times New Roman"/>
              </a:rPr>
              <a:t> </a:t>
            </a:r>
            <a:r>
              <a:rPr lang="it-IT" sz="2000" err="1">
                <a:latin typeface="Times New Roman"/>
                <a:ea typeface="Calibri"/>
                <a:cs typeface="Times New Roman"/>
              </a:rPr>
              <a:t>fluid</a:t>
            </a:r>
            <a:r>
              <a:rPr lang="it-IT" sz="2000">
                <a:latin typeface="Times New Roman"/>
                <a:ea typeface="Calibri"/>
                <a:cs typeface="Times New Roman"/>
              </a:rPr>
              <a:t>: saline </a:t>
            </a:r>
            <a:r>
              <a:rPr lang="it-IT" sz="2000" err="1">
                <a:latin typeface="Times New Roman"/>
                <a:ea typeface="Calibri"/>
                <a:cs typeface="Times New Roman"/>
              </a:rPr>
              <a:t>solution</a:t>
            </a:r>
            <a:r>
              <a:rPr lang="it-IT" sz="2000">
                <a:latin typeface="Times New Roman"/>
                <a:ea typeface="Calibri"/>
                <a:cs typeface="Times New Roman"/>
              </a:rPr>
              <a:t> </a:t>
            </a:r>
            <a:r>
              <a:rPr lang="it-IT" sz="2000">
                <a:latin typeface="Times New Roman"/>
                <a:ea typeface="Calibri"/>
                <a:cs typeface="Times New Roman"/>
                <a:sym typeface="Wingdings" panose="05000000000000000000" pitchFamily="2" charset="2"/>
              </a:rPr>
              <a:t></a:t>
            </a:r>
            <a:r>
              <a:rPr lang="it-IT" sz="2000">
                <a:latin typeface="Times New Roman"/>
                <a:ea typeface="Calibri"/>
                <a:cs typeface="Times New Roman"/>
              </a:rPr>
              <a:t> </a:t>
            </a:r>
            <a:r>
              <a:rPr lang="el-GR" sz="2000">
                <a:latin typeface="Times New Roman"/>
                <a:ea typeface="Calibri"/>
                <a:cs typeface="Calibri"/>
              </a:rPr>
              <a:t>ε</a:t>
            </a:r>
            <a:r>
              <a:rPr lang="it-IT" sz="2000">
                <a:latin typeface="Times New Roman"/>
                <a:ea typeface="Calibri"/>
                <a:cs typeface="Calibri"/>
              </a:rPr>
              <a:t>= 72, </a:t>
            </a:r>
            <a:r>
              <a:rPr lang="el-GR" sz="2000">
                <a:latin typeface="Times New Roman"/>
                <a:ea typeface="Calibri"/>
                <a:cs typeface="Calibri"/>
              </a:rPr>
              <a:t>σ</a:t>
            </a:r>
            <a:r>
              <a:rPr lang="it-IT" sz="2000">
                <a:latin typeface="Times New Roman"/>
                <a:ea typeface="Calibri"/>
                <a:cs typeface="Calibri"/>
              </a:rPr>
              <a:t> = 1,5 (</a:t>
            </a:r>
            <a:r>
              <a:rPr lang="it-IT" sz="2000" err="1">
                <a:latin typeface="Times New Roman"/>
                <a:ea typeface="Calibri"/>
                <a:cs typeface="Calibri"/>
              </a:rPr>
              <a:t>Very</a:t>
            </a:r>
            <a:r>
              <a:rPr lang="it-IT" sz="2000">
                <a:latin typeface="Times New Roman"/>
                <a:ea typeface="Calibri"/>
                <a:cs typeface="Calibri"/>
              </a:rPr>
              <a:t> </a:t>
            </a:r>
            <a:r>
              <a:rPr lang="it-IT" sz="2000" err="1">
                <a:latin typeface="Times New Roman"/>
                <a:ea typeface="Calibri"/>
                <a:cs typeface="Calibri"/>
              </a:rPr>
              <a:t>similar</a:t>
            </a:r>
            <a:r>
              <a:rPr lang="it-IT" sz="2000">
                <a:latin typeface="Times New Roman"/>
                <a:ea typeface="Calibri"/>
                <a:cs typeface="Calibri"/>
              </a:rPr>
              <a:t> to the one </a:t>
            </a:r>
            <a:r>
              <a:rPr lang="it-IT" sz="2000" err="1">
                <a:latin typeface="Times New Roman"/>
                <a:ea typeface="Calibri"/>
                <a:cs typeface="Calibri"/>
              </a:rPr>
              <a:t>used</a:t>
            </a:r>
            <a:r>
              <a:rPr lang="it-IT" sz="2000">
                <a:latin typeface="Times New Roman"/>
                <a:ea typeface="Calibri"/>
                <a:cs typeface="Calibri"/>
              </a:rPr>
              <a:t> </a:t>
            </a:r>
            <a:r>
              <a:rPr lang="it-IT" sz="2000" err="1">
                <a:latin typeface="Times New Roman"/>
                <a:ea typeface="Calibri"/>
                <a:cs typeface="Calibri"/>
              </a:rPr>
              <a:t>until</a:t>
            </a:r>
            <a:r>
              <a:rPr lang="it-IT" sz="2000">
                <a:latin typeface="Times New Roman"/>
                <a:ea typeface="Calibri"/>
                <a:cs typeface="Calibri"/>
              </a:rPr>
              <a:t> </a:t>
            </a:r>
            <a:r>
              <a:rPr lang="it-IT" sz="2000" err="1">
                <a:latin typeface="Times New Roman"/>
                <a:ea typeface="Calibri"/>
                <a:cs typeface="Calibri"/>
              </a:rPr>
              <a:t>now</a:t>
            </a:r>
            <a:r>
              <a:rPr lang="it-IT" sz="2000">
                <a:latin typeface="Times New Roman"/>
                <a:ea typeface="Calibri"/>
                <a:cs typeface="Calibri"/>
              </a:rPr>
              <a:t>)</a:t>
            </a:r>
            <a:endParaRPr lang="it-IT" sz="2000" b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85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2AFA16-E028-344D-EBE2-4482E951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602" y="91509"/>
            <a:ext cx="10327398" cy="853536"/>
          </a:xfrm>
        </p:spPr>
        <p:txBody>
          <a:bodyPr/>
          <a:lstStyle/>
          <a:p>
            <a:r>
              <a:rPr lang="it-IT" err="1">
                <a:latin typeface="Times New Roman"/>
                <a:ea typeface="Calibri"/>
                <a:cs typeface="Times New Roman"/>
              </a:rPr>
              <a:t>Bladder</a:t>
            </a:r>
            <a:r>
              <a:rPr lang="it-IT"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latin typeface="Times New Roman"/>
                <a:ea typeface="Calibri"/>
                <a:cs typeface="Times New Roman"/>
              </a:rPr>
              <a:t>as</a:t>
            </a:r>
            <a:r>
              <a:rPr lang="it-IT">
                <a:latin typeface="Times New Roman"/>
                <a:ea typeface="Calibri"/>
                <a:cs typeface="Times New Roman"/>
              </a:rPr>
              <a:t> balloon </a:t>
            </a:r>
            <a:r>
              <a:rPr lang="el-GR">
                <a:latin typeface="Times New Roman"/>
                <a:ea typeface="Calibri"/>
                <a:cs typeface="Times New Roman"/>
              </a:rPr>
              <a:t>τ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0D772B-F2EE-6AB9-0516-7CC84327A1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4602" y="888116"/>
            <a:ext cx="10327398" cy="461665"/>
          </a:xfrm>
        </p:spPr>
        <p:txBody>
          <a:bodyPr/>
          <a:lstStyle/>
          <a:p>
            <a:endParaRPr lang="it-IT"/>
          </a:p>
          <a:p>
            <a:endParaRPr lang="it-IT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2156E5D-0AA5-2115-8E41-3C1E3003C4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83"/>
          <a:stretch>
            <a:fillRect/>
          </a:stretch>
        </p:blipFill>
        <p:spPr bwMode="auto">
          <a:xfrm>
            <a:off x="68058" y="1741652"/>
            <a:ext cx="12055883" cy="403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egnaposto testo 4">
            <a:extLst>
              <a:ext uri="{FF2B5EF4-FFF2-40B4-BE49-F238E27FC236}">
                <a16:creationId xmlns:a16="http://schemas.microsoft.com/office/drawing/2014/main" id="{54FE79F6-6D5B-CA91-6308-00DEEE3BA5EA}"/>
              </a:ext>
            </a:extLst>
          </p:cNvPr>
          <p:cNvSpPr txBox="1">
            <a:spLocks/>
          </p:cNvSpPr>
          <p:nvPr/>
        </p:nvSpPr>
        <p:spPr>
          <a:xfrm>
            <a:off x="1864602" y="811961"/>
            <a:ext cx="10327398" cy="4616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b="1" kern="1200">
                <a:solidFill>
                  <a:srgbClr val="2E75B6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latin typeface="Times New Roman"/>
                <a:ea typeface="Calibri"/>
                <a:cs typeface="Arial"/>
              </a:rPr>
              <a:t>50% air and 50% urine</a:t>
            </a:r>
            <a:endParaRPr lang="it-IT">
              <a:latin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BDE317B-272E-F40C-5DAA-6989564AF733}"/>
              </a:ext>
            </a:extLst>
          </p:cNvPr>
          <p:cNvSpPr txBox="1"/>
          <p:nvPr/>
        </p:nvSpPr>
        <p:spPr>
          <a:xfrm>
            <a:off x="580521" y="1125504"/>
            <a:ext cx="747442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 err="1">
                <a:latin typeface="Times New Roman"/>
                <a:ea typeface="Calibri"/>
                <a:cs typeface="Calibri"/>
              </a:rPr>
              <a:t>We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ran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all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the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simulations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using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always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the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same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82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nH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inductor</a:t>
            </a:r>
            <a:endParaRPr lang="it-IT" sz="2200" b="0" dirty="0" err="1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6442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E43070-3109-6A24-74FF-9378D530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ea typeface="Calibri"/>
                <a:cs typeface="Arial"/>
              </a:rPr>
              <a:t>Bladder</a:t>
            </a:r>
            <a:r>
              <a:rPr lang="it-IT">
                <a:latin typeface="Times New Roman"/>
                <a:ea typeface="Calibri"/>
                <a:cs typeface="Arial"/>
              </a:rPr>
              <a:t> </a:t>
            </a:r>
            <a:r>
              <a:rPr lang="it-IT" err="1">
                <a:latin typeface="Times New Roman"/>
                <a:ea typeface="Calibri"/>
                <a:cs typeface="Arial"/>
              </a:rPr>
              <a:t>as</a:t>
            </a:r>
            <a:r>
              <a:rPr lang="it-IT">
                <a:latin typeface="Times New Roman"/>
                <a:ea typeface="Calibri"/>
                <a:cs typeface="Arial"/>
              </a:rPr>
              <a:t> balloon G</a:t>
            </a:r>
            <a:r>
              <a:rPr lang="it-IT" sz="2800">
                <a:latin typeface="Times New Roman"/>
                <a:ea typeface="Calibri"/>
                <a:cs typeface="Arial"/>
              </a:rPr>
              <a:t>T</a:t>
            </a:r>
            <a:endParaRPr lang="it-IT" sz="2800">
              <a:latin typeface="Times New Roman"/>
              <a:ea typeface="Calibri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389DE90-D61E-851B-CB35-3276E0F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/>
                <a:ea typeface="Calibri"/>
                <a:cs typeface="Arial"/>
              </a:rPr>
              <a:t>50% air and 50% urine</a:t>
            </a:r>
            <a:endParaRPr lang="it-IT">
              <a:latin typeface="Times New Roman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1E82365-BE54-3472-5403-1A2CF22BE6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68"/>
          <a:stretch>
            <a:fillRect/>
          </a:stretch>
        </p:blipFill>
        <p:spPr bwMode="auto">
          <a:xfrm>
            <a:off x="147460" y="1638877"/>
            <a:ext cx="11897079" cy="393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450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C57FF6-558B-B5FD-E29F-C986A76A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Times New Roman"/>
              </a:rPr>
              <a:t>Bladder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as</a:t>
            </a:r>
            <a:r>
              <a:rPr lang="it-IT">
                <a:latin typeface="Times New Roman"/>
                <a:cs typeface="Times New Roman"/>
              </a:rPr>
              <a:t> balloon </a:t>
            </a:r>
            <a:r>
              <a:rPr lang="el-GR">
                <a:latin typeface="Times New Roman"/>
                <a:cs typeface="Times New Roman"/>
              </a:rPr>
              <a:t>τ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B4D2F54-888E-EA42-9B9C-D2BF7AFA6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F4412AC-DB4B-F782-A478-508448110A18}"/>
              </a:ext>
            </a:extLst>
          </p:cNvPr>
          <p:cNvSpPr/>
          <p:nvPr/>
        </p:nvSpPr>
        <p:spPr>
          <a:xfrm rot="5400000">
            <a:off x="5581430" y="5498907"/>
            <a:ext cx="381000" cy="182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testo, diagramm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F215C505-A4F9-7826-28F5-C1A055F00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69" r="12327" b="337"/>
          <a:stretch>
            <a:fillRect/>
          </a:stretch>
        </p:blipFill>
        <p:spPr>
          <a:xfrm>
            <a:off x="12652" y="1742132"/>
            <a:ext cx="12154237" cy="412481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45522E4-1C27-7D88-BA06-8A6737CAB051}"/>
              </a:ext>
            </a:extLst>
          </p:cNvPr>
          <p:cNvSpPr txBox="1"/>
          <p:nvPr/>
        </p:nvSpPr>
        <p:spPr>
          <a:xfrm>
            <a:off x="2231" y="1190789"/>
            <a:ext cx="1070439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>
                <a:latin typeface="Times New Roman"/>
                <a:ea typeface="Calibri"/>
                <a:cs typeface="Calibri"/>
              </a:rPr>
              <a:t>With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half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and full filling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conditions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the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impedance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matching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still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reaches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 good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values</a:t>
            </a:r>
            <a:endParaRPr lang="it-IT" sz="2200" b="0" dirty="0" err="1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7742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692DC3-2EB0-73D6-4D93-53488156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Times New Roman"/>
              </a:rPr>
              <a:t>Bladder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as</a:t>
            </a:r>
            <a:r>
              <a:rPr lang="it-IT">
                <a:latin typeface="Times New Roman"/>
                <a:cs typeface="Times New Roman"/>
              </a:rPr>
              <a:t> balloon G</a:t>
            </a:r>
            <a:r>
              <a:rPr lang="it-IT" sz="2800">
                <a:latin typeface="Times New Roman"/>
                <a:cs typeface="Times New Roman"/>
              </a:rPr>
              <a:t>T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5048E1D-85F5-7361-5436-545B33512C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F2CD9A4-5836-7A90-28D5-EEF488D23473}"/>
              </a:ext>
            </a:extLst>
          </p:cNvPr>
          <p:cNvSpPr/>
          <p:nvPr/>
        </p:nvSpPr>
        <p:spPr>
          <a:xfrm rot="5400000">
            <a:off x="5621645" y="5110659"/>
            <a:ext cx="381000" cy="270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3CB4A0EF-7478-FD49-DEE1-D93031A3B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053" b="-591"/>
          <a:stretch>
            <a:fillRect/>
          </a:stretch>
        </p:blipFill>
        <p:spPr>
          <a:xfrm>
            <a:off x="24026" y="1396621"/>
            <a:ext cx="12165728" cy="404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47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9A0AA1-966D-8EE2-A012-B5EBB0E4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77" y="358773"/>
            <a:ext cx="10327398" cy="853536"/>
          </a:xfrm>
        </p:spPr>
        <p:txBody>
          <a:bodyPr/>
          <a:lstStyle/>
          <a:p>
            <a:r>
              <a:rPr lang="it-IT" err="1">
                <a:latin typeface="Times New Roman"/>
                <a:cs typeface="Times New Roman"/>
              </a:rPr>
              <a:t>Bladder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as</a:t>
            </a:r>
            <a:r>
              <a:rPr lang="it-IT">
                <a:latin typeface="Times New Roman"/>
                <a:cs typeface="Times New Roman"/>
              </a:rPr>
              <a:t> balloon </a:t>
            </a:r>
            <a:r>
              <a:rPr lang="el-GR">
                <a:latin typeface="Times New Roman"/>
                <a:cs typeface="Times New Roman"/>
              </a:rPr>
              <a:t>τ</a:t>
            </a:r>
            <a:endParaRPr lang="it-IT" b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it-IT">
              <a:ea typeface="Calibri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253D27B-BBD0-2E2B-97AC-5091551EC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E401663-676F-32F9-7E29-76669CAD3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" r="12662" b="297"/>
          <a:stretch>
            <a:fillRect/>
          </a:stretch>
        </p:blipFill>
        <p:spPr bwMode="auto">
          <a:xfrm>
            <a:off x="9156" y="2057977"/>
            <a:ext cx="12173688" cy="406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22E68AD-EFFE-B84B-6B8F-F91DB10B070F}"/>
              </a:ext>
            </a:extLst>
          </p:cNvPr>
          <p:cNvSpPr txBox="1"/>
          <p:nvPr/>
        </p:nvSpPr>
        <p:spPr>
          <a:xfrm>
            <a:off x="197164" y="1126650"/>
            <a:ext cx="1072714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/>
                <a:ea typeface="Calibri"/>
                <a:cs typeface="Calibri"/>
              </a:rPr>
              <a:t>Due to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thin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layer</a:t>
            </a:r>
            <a:r>
              <a:rPr lang="it-IT" sz="2200">
                <a:latin typeface="Times New Roman"/>
                <a:ea typeface="Calibri"/>
                <a:cs typeface="Calibri"/>
              </a:rPr>
              <a:t> of the balloon, the tag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will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sense</a:t>
            </a:r>
            <a:r>
              <a:rPr lang="it-IT" sz="2200">
                <a:latin typeface="Times New Roman"/>
                <a:ea typeface="Calibri"/>
                <a:cs typeface="Calibri"/>
              </a:rPr>
              <a:t>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content</a:t>
            </a:r>
            <a:r>
              <a:rPr lang="it-IT" sz="2200">
                <a:latin typeface="Times New Roman"/>
                <a:ea typeface="Calibri"/>
                <a:cs typeface="Calibri"/>
              </a:rPr>
              <a:t> of the "</a:t>
            </a:r>
            <a:r>
              <a:rPr lang="it-IT" sz="2200" err="1">
                <a:latin typeface="Times New Roman"/>
                <a:ea typeface="Calibri"/>
                <a:cs typeface="Calibri"/>
              </a:rPr>
              <a:t>bladder</a:t>
            </a:r>
            <a:r>
              <a:rPr lang="it-IT" sz="2200">
                <a:latin typeface="Times New Roman"/>
                <a:ea typeface="Calibri"/>
                <a:cs typeface="Calibri"/>
              </a:rPr>
              <a:t>". For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empty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configuration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there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is</a:t>
            </a:r>
            <a:r>
              <a:rPr lang="it-IT" sz="2200">
                <a:latin typeface="Times New Roman"/>
                <a:ea typeface="Calibri"/>
                <a:cs typeface="Calibri"/>
              </a:rPr>
              <a:t> a big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change</a:t>
            </a:r>
            <a:r>
              <a:rPr lang="it-IT" sz="2200">
                <a:latin typeface="Times New Roman"/>
                <a:ea typeface="Calibri"/>
                <a:cs typeface="Calibri"/>
              </a:rPr>
              <a:t> in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impedance</a:t>
            </a:r>
            <a:endParaRPr lang="it-IT" sz="2200" b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0623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F3311B-3514-3467-1976-47DCB8D7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Times New Roman"/>
              </a:rPr>
              <a:t>Bladder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as</a:t>
            </a:r>
            <a:r>
              <a:rPr lang="it-IT">
                <a:latin typeface="Times New Roman"/>
                <a:cs typeface="Times New Roman"/>
              </a:rPr>
              <a:t> balloon G</a:t>
            </a:r>
            <a:r>
              <a:rPr lang="it-IT" sz="2800">
                <a:latin typeface="Times New Roman"/>
                <a:cs typeface="Times New Roman"/>
              </a:rPr>
              <a:t>T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3978692-6D86-05C7-5369-A4DAE227CC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90A7379-4E65-934C-78BB-D9F3A2937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2" r="11145" b="551"/>
          <a:stretch>
            <a:fillRect/>
          </a:stretch>
        </p:blipFill>
        <p:spPr bwMode="auto">
          <a:xfrm>
            <a:off x="11621" y="1896052"/>
            <a:ext cx="12168758" cy="398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FAAA3A4-38B5-C46A-E1B7-078B3664A43A}"/>
              </a:ext>
            </a:extLst>
          </p:cNvPr>
          <p:cNvSpPr txBox="1"/>
          <p:nvPr/>
        </p:nvSpPr>
        <p:spPr>
          <a:xfrm>
            <a:off x="203770" y="1321373"/>
            <a:ext cx="1089773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 err="1">
                <a:latin typeface="Times New Roman"/>
                <a:ea typeface="Calibri"/>
                <a:cs typeface="Calibri"/>
              </a:rPr>
              <a:t>Despite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the matching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worsening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, a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Gt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= -35 dB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should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still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be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enough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to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communicate</a:t>
            </a:r>
            <a:endParaRPr lang="it-IT" sz="2200" b="0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6852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9766-7A7D-1441-2F61-D7B4CC20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ea typeface="Calibri"/>
                <a:cs typeface="Arial"/>
              </a:rPr>
              <a:t>Conclusions</a:t>
            </a:r>
            <a:endParaRPr lang="it-IT" dirty="0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D8C9C8-F346-DE2A-7F37-685F85D3F009}"/>
              </a:ext>
            </a:extLst>
          </p:cNvPr>
          <p:cNvSpPr txBox="1"/>
          <p:nvPr/>
        </p:nvSpPr>
        <p:spPr>
          <a:xfrm>
            <a:off x="1351669" y="1485177"/>
            <a:ext cx="976448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it-IT" sz="2200" dirty="0">
                <a:latin typeface="Times New Roman"/>
                <a:ea typeface="Calibri"/>
                <a:cs typeface="Calibri"/>
              </a:rPr>
              <a:t>The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simulated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prototype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showed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good performances in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almost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all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the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cases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,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also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considering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a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thin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balloon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instead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of a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realistic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bladder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.</a:t>
            </a:r>
            <a:endParaRPr lang="it-IT" sz="2200" b="0" dirty="0" err="1">
              <a:latin typeface="Times New Roman"/>
              <a:cs typeface="Times New Roman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9C86676-B507-592B-FA25-1EC7EC6CDFA9}"/>
              </a:ext>
            </a:extLst>
          </p:cNvPr>
          <p:cNvSpPr txBox="1"/>
          <p:nvPr/>
        </p:nvSpPr>
        <p:spPr>
          <a:xfrm>
            <a:off x="1351669" y="2797454"/>
            <a:ext cx="976448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it-IT" sz="2200" dirty="0">
                <a:latin typeface="Times New Roman"/>
                <a:ea typeface="Calibri"/>
                <a:cs typeface="Calibri"/>
              </a:rPr>
              <a:t>82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nH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Inductor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can match the tag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impedance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for full and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half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filled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bladder</a:t>
            </a:r>
            <a:endParaRPr lang="it-IT" sz="2200">
              <a:latin typeface="Times New Roman"/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66AC8C8-FBE2-0565-35EA-B391D5A26EFE}"/>
              </a:ext>
            </a:extLst>
          </p:cNvPr>
          <p:cNvSpPr txBox="1"/>
          <p:nvPr/>
        </p:nvSpPr>
        <p:spPr>
          <a:xfrm>
            <a:off x="1351668" y="3662320"/>
            <a:ext cx="976448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it-IT" sz="2200" dirty="0" err="1">
                <a:latin typeface="Times New Roman"/>
                <a:ea typeface="Calibri"/>
                <a:cs typeface="Calibri"/>
              </a:rPr>
              <a:t>Even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in the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worst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case (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empty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bladder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), the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transducer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gain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should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be high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enough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to close the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communication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link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A8DB6BD-E0AA-E5EB-9172-BB1F7B34DB26}"/>
              </a:ext>
            </a:extLst>
          </p:cNvPr>
          <p:cNvSpPr txBox="1"/>
          <p:nvPr/>
        </p:nvSpPr>
        <p:spPr>
          <a:xfrm>
            <a:off x="1721782" y="4974596"/>
            <a:ext cx="976448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b="1" err="1">
                <a:latin typeface="Times New Roman"/>
                <a:ea typeface="Calibri"/>
                <a:cs typeface="Calibri"/>
              </a:rPr>
              <a:t>Now</a:t>
            </a:r>
            <a:r>
              <a:rPr lang="it-IT" sz="2200" b="1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b="1" err="1">
                <a:latin typeface="Times New Roman"/>
                <a:ea typeface="Calibri"/>
                <a:cs typeface="Calibri"/>
              </a:rPr>
              <a:t>it's</a:t>
            </a:r>
            <a:r>
              <a:rPr lang="it-IT" sz="2200" b="1" dirty="0">
                <a:latin typeface="Times New Roman"/>
                <a:ea typeface="Calibri"/>
                <a:cs typeface="Calibri"/>
              </a:rPr>
              <a:t> time for </a:t>
            </a:r>
            <a:r>
              <a:rPr lang="it-IT" sz="2200" b="1" err="1">
                <a:latin typeface="Times New Roman"/>
                <a:ea typeface="Calibri"/>
                <a:cs typeface="Calibri"/>
              </a:rPr>
              <a:t>prototyping</a:t>
            </a:r>
            <a:r>
              <a:rPr lang="it-IT" sz="2200" b="1" dirty="0">
                <a:latin typeface="Times New Roman"/>
                <a:ea typeface="Calibri"/>
                <a:cs typeface="Calibri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6314570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_un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algn="l">
          <a:defRPr sz="2200" b="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_uni" id="{55AD8010-FE83-4F14-ABE2-BABB2EA50445}" vid="{1870E653-1F80-459C-9330-2F4422D101D2}"/>
    </a:ext>
  </a:extLst>
</a:theme>
</file>

<file path=ppt/theme/theme2.xml><?xml version="1.0" encoding="utf-8"?>
<a:theme xmlns:a="http://schemas.openxmlformats.org/drawingml/2006/main" name="LAB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algn="l">
          <a:defRPr sz="2200" b="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AB_template" id="{9DFF2ABC-D06F-447C-AEB7-12299DFB1B22}" vid="{FDC4B10C-3902-42F0-893F-4098321572BC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Tema_uni</Template>
  <TotalTime>0</TotalTime>
  <Words>520</Words>
  <Application>Microsoft Office PowerPoint</Application>
  <PresentationFormat>Widescreen</PresentationFormat>
  <Paragraphs>74</Paragraphs>
  <Slides>15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Cambria Math</vt:lpstr>
      <vt:lpstr>Franklin Gothic Book</vt:lpstr>
      <vt:lpstr>Times New Roman</vt:lpstr>
      <vt:lpstr>Wingdings</vt:lpstr>
      <vt:lpstr>Tema_uni</vt:lpstr>
      <vt:lpstr>LAB_template</vt:lpstr>
      <vt:lpstr>Presentazione standard di PowerPoint</vt:lpstr>
      <vt:lpstr>Approaching the final design</vt:lpstr>
      <vt:lpstr>Final Model Dimension</vt:lpstr>
      <vt:lpstr>Real Bladder Tag Impedance</vt:lpstr>
      <vt:lpstr>Schematic model</vt:lpstr>
      <vt:lpstr>Real bladder τ </vt:lpstr>
      <vt:lpstr>Real bladder GT</vt:lpstr>
      <vt:lpstr>Balloon's dielectric characteristics </vt:lpstr>
      <vt:lpstr>Bladder as balloon τ</vt:lpstr>
      <vt:lpstr>Bladder as balloon GT</vt:lpstr>
      <vt:lpstr>Bladder as balloon τ</vt:lpstr>
      <vt:lpstr>Bladder as balloon GT</vt:lpstr>
      <vt:lpstr>Bladder as balloon τ </vt:lpstr>
      <vt:lpstr>Bladder as balloon GT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francesco mancuso</dc:creator>
  <cp:lastModifiedBy>silvia gialloreto</cp:lastModifiedBy>
  <cp:revision>2</cp:revision>
  <dcterms:created xsi:type="dcterms:W3CDTF">2024-05-22T09:33:43Z</dcterms:created>
  <dcterms:modified xsi:type="dcterms:W3CDTF">2025-06-23T06:53:56Z</dcterms:modified>
</cp:coreProperties>
</file>