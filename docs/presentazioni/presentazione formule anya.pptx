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461" r:id="rId5"/>
    <p:sldId id="489" r:id="rId6"/>
    <p:sldId id="476" r:id="rId7"/>
    <p:sldId id="490" r:id="rId8"/>
    <p:sldId id="488" r:id="rId9"/>
    <p:sldId id="482" r:id="rId10"/>
    <p:sldId id="484" r:id="rId11"/>
    <p:sldId id="491" r:id="rId12"/>
    <p:sldId id="483" r:id="rId13"/>
    <p:sldId id="486" r:id="rId14"/>
    <p:sldId id="493" r:id="rId15"/>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0C48A0-BF4F-4617-9C94-8265AAD3F110}" v="279" dt="2025-05-27T14:26:13.596"/>
    <p1510:client id="{4057181E-6132-9782-6457-4B208CF002F9}" v="3" dt="2025-05-27T10:33:07.207"/>
    <p1510:client id="{5EC78728-F5EE-DFC3-EA72-D09FC0C16006}" v="41" dt="2025-05-27T12:57:28.016"/>
    <p1510:client id="{79BCD87C-06AE-44A9-AC3D-455687B4D5CA}" v="895" dt="2025-05-27T11:33:15.177"/>
    <p1510:client id="{A38ED72C-AB2A-4BDC-86DE-5115EC95CC2A}" v="127" dt="2025-05-27T11:23:44.835"/>
    <p1510:client id="{AD6C3475-E754-6F33-3541-621D126630E8}" v="2" dt="2025-05-27T13:38:45.060"/>
    <p1510:client id="{AFB4ECAA-87B6-91F4-ADC8-511E46537724}" v="532" dt="2025-05-27T17:07:38.004"/>
    <p1510:client id="{BDE4FADE-F335-CC98-2E99-FF2829CB95B9}" v="80" dt="2025-05-27T15:18:20.461"/>
    <p1510:client id="{CE379A35-5D99-B1DC-8793-117750962C07}" v="24" dt="2025-05-27T15:35:11.433"/>
    <p1510:client id="{E725419A-6E04-3541-7C2D-6CB6716C8808}" v="42" dt="2025-05-27T11:01:27.504"/>
    <p1510:client id="{E89D5BF7-0375-F8BD-5449-865961BE4B42}" v="88" dt="2025-05-27T20:38:31.015"/>
    <p1510:client id="{FCF40D83-5ED4-4E12-9439-C5A109E6DC13}" v="537" dt="2025-05-27T15:28:52.615"/>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Stile chiaro 3 - Colore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27D29A-AA38-4938-82DA-950F631C95D4}" type="datetimeFigureOut">
              <a:rPr lang="it-IT" smtClean="0"/>
              <a:t>27/05/2025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CCDEBB-60D7-4697-A02D-5B0CC4813723}" type="slidenum">
              <a:rPr lang="it-IT" smtClean="0"/>
              <a:t>‹N›</a:t>
            </a:fld>
            <a:endParaRPr lang="it-IT"/>
          </a:p>
        </p:txBody>
      </p:sp>
    </p:spTree>
    <p:extLst>
      <p:ext uri="{BB962C8B-B14F-4D97-AF65-F5344CB8AC3E}">
        <p14:creationId xmlns:p14="http://schemas.microsoft.com/office/powerpoint/2010/main" val="1098004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2FC391-0479-4A70-8AC8-8F764AAA773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51499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488271" y="1122363"/>
            <a:ext cx="11221375" cy="2387600"/>
          </a:xfrm>
        </p:spPr>
        <p:txBody>
          <a:bodyPr anchor="b">
            <a:normAutofit/>
          </a:bodyPr>
          <a:lstStyle>
            <a:lvl1pPr algn="ctr">
              <a:defRPr sz="6600"/>
            </a:lvl1pPr>
          </a:lstStyle>
          <a:p>
            <a:r>
              <a:rPr lang="it-IT"/>
              <a:t>Fare clic per modificare lo stile del titolo dello schema</a:t>
            </a:r>
            <a:endParaRPr lang="en-GB"/>
          </a:p>
        </p:txBody>
      </p:sp>
      <p:sp>
        <p:nvSpPr>
          <p:cNvPr id="3" name="Sottotitolo 2"/>
          <p:cNvSpPr>
            <a:spLocks noGrp="1"/>
          </p:cNvSpPr>
          <p:nvPr>
            <p:ph type="subTitle" idx="1"/>
          </p:nvPr>
        </p:nvSpPr>
        <p:spPr>
          <a:xfrm>
            <a:off x="479392" y="3602038"/>
            <a:ext cx="11230253" cy="1655762"/>
          </a:xfrm>
        </p:spPr>
        <p:txBody>
          <a:bodyPr>
            <a:normAutofit/>
          </a:bodyPr>
          <a:lstStyle>
            <a:lvl1pPr marL="0" indent="0" algn="ctr">
              <a:buNone/>
              <a:defRPr sz="3200" b="1">
                <a:solidFill>
                  <a:srgbClr val="2E75B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GB"/>
          </a:p>
        </p:txBody>
      </p:sp>
      <p:sp>
        <p:nvSpPr>
          <p:cNvPr id="6" name="Segnaposto numero diapositiva 5"/>
          <p:cNvSpPr>
            <a:spLocks noGrp="1"/>
          </p:cNvSpPr>
          <p:nvPr>
            <p:ph type="sldNum" sz="quarter" idx="12"/>
          </p:nvPr>
        </p:nvSpPr>
        <p:spPr/>
        <p:txBody>
          <a:bodyPr/>
          <a:lstStyle>
            <a:lvl1pPr>
              <a:defRPr b="1"/>
            </a:lvl1pPr>
          </a:lstStyle>
          <a:p>
            <a:fld id="{16BC020B-D555-4B30-AA1D-C54F5F5250E5}" type="slidenum">
              <a:rPr lang="it-IT" smtClean="0"/>
              <a:t>‹N›</a:t>
            </a:fld>
            <a:endParaRPr lang="it-IT"/>
          </a:p>
        </p:txBody>
      </p:sp>
    </p:spTree>
    <p:extLst>
      <p:ext uri="{BB962C8B-B14F-4D97-AF65-F5344CB8AC3E}">
        <p14:creationId xmlns:p14="http://schemas.microsoft.com/office/powerpoint/2010/main" val="1832246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1864602" y="306604"/>
            <a:ext cx="10327398" cy="853536"/>
          </a:xfrm>
        </p:spPr>
        <p:txBody>
          <a:bodyPr/>
          <a:lstStyle/>
          <a:p>
            <a:r>
              <a:rPr lang="it-IT"/>
              <a:t>Fare clic per modificare lo stile del titolo dello schema</a:t>
            </a:r>
            <a:endParaRPr lang="en-GB"/>
          </a:p>
        </p:txBody>
      </p:sp>
      <p:sp>
        <p:nvSpPr>
          <p:cNvPr id="3" name="Segnaposto contenuto 2"/>
          <p:cNvSpPr>
            <a:spLocks noGrp="1"/>
          </p:cNvSpPr>
          <p:nvPr>
            <p:ph idx="1"/>
          </p:nvPr>
        </p:nvSpPr>
        <p:spPr/>
        <p:txBody>
          <a:bodyPr/>
          <a:lstStyle>
            <a:lvl1pPr>
              <a:defRPr sz="2200"/>
            </a:lvl1pPr>
            <a:lvl2pPr>
              <a:defRPr sz="2000"/>
            </a:lvl2pPr>
            <a:lvl3pPr>
              <a:defRPr sz="1800"/>
            </a:lvl3pPr>
            <a:lvl4pPr>
              <a:defRPr sz="1600"/>
            </a:lvl4pPr>
            <a:lvl5pPr>
              <a:defRPr sz="160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numero diapositiva 5"/>
          <p:cNvSpPr>
            <a:spLocks noGrp="1"/>
          </p:cNvSpPr>
          <p:nvPr>
            <p:ph type="sldNum" sz="quarter" idx="12"/>
          </p:nvPr>
        </p:nvSpPr>
        <p:spPr>
          <a:xfrm>
            <a:off x="9395241" y="6445760"/>
            <a:ext cx="2743200" cy="365125"/>
          </a:xfrm>
        </p:spPr>
        <p:txBody>
          <a:bodyPr/>
          <a:lstStyle>
            <a:lvl1pPr>
              <a:defRPr b="1"/>
            </a:lvl1pPr>
          </a:lstStyle>
          <a:p>
            <a:fld id="{16BC020B-D555-4B30-AA1D-C54F5F5250E5}" type="slidenum">
              <a:rPr lang="it-IT" smtClean="0"/>
              <a:t>‹N›</a:t>
            </a:fld>
            <a:endParaRPr lang="it-IT"/>
          </a:p>
        </p:txBody>
      </p:sp>
      <p:cxnSp>
        <p:nvCxnSpPr>
          <p:cNvPr id="5" name="Connettore diritto 4">
            <a:extLst>
              <a:ext uri="{FF2B5EF4-FFF2-40B4-BE49-F238E27FC236}">
                <a16:creationId xmlns:a16="http://schemas.microsoft.com/office/drawing/2014/main" id="{279882D6-253F-46D5-B3D2-8D1B605E7A3B}"/>
              </a:ext>
            </a:extLst>
          </p:cNvPr>
          <p:cNvCxnSpPr/>
          <p:nvPr/>
        </p:nvCxnSpPr>
        <p:spPr>
          <a:xfrm>
            <a:off x="838200" y="6383047"/>
            <a:ext cx="11217676" cy="0"/>
          </a:xfrm>
          <a:prstGeom prst="line">
            <a:avLst/>
          </a:prstGeom>
          <a:ln w="190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 name="Segnaposto testo 6">
            <a:extLst>
              <a:ext uri="{FF2B5EF4-FFF2-40B4-BE49-F238E27FC236}">
                <a16:creationId xmlns:a16="http://schemas.microsoft.com/office/drawing/2014/main" id="{FCED872A-D7EE-47F4-8681-078AC6CA2E2A}"/>
              </a:ext>
            </a:extLst>
          </p:cNvPr>
          <p:cNvSpPr>
            <a:spLocks noGrp="1"/>
          </p:cNvSpPr>
          <p:nvPr>
            <p:ph type="body" sz="quarter" idx="13"/>
          </p:nvPr>
        </p:nvSpPr>
        <p:spPr>
          <a:xfrm>
            <a:off x="1864602" y="1222852"/>
            <a:ext cx="10327398" cy="461665"/>
          </a:xfrm>
        </p:spPr>
        <p:txBody>
          <a:bodyPr anchor="b">
            <a:normAutofit/>
          </a:bodyPr>
          <a:lstStyle>
            <a:lvl1pPr marL="0" indent="0" algn="r">
              <a:buNone/>
              <a:defRPr sz="2400" b="1">
                <a:solidFill>
                  <a:srgbClr val="2E75B6"/>
                </a:solidFill>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p:txBody>
      </p:sp>
    </p:spTree>
    <p:extLst>
      <p:ext uri="{BB962C8B-B14F-4D97-AF65-F5344CB8AC3E}">
        <p14:creationId xmlns:p14="http://schemas.microsoft.com/office/powerpoint/2010/main" val="3679847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normAutofit/>
          </a:bodyPr>
          <a:lstStyle>
            <a:lvl1pPr>
              <a:defRPr sz="6600"/>
            </a:lvl1pPr>
          </a:lstStyle>
          <a:p>
            <a:r>
              <a:rPr lang="it-IT"/>
              <a:t>Fare clic per modificare lo stile del titolo dello schema</a:t>
            </a:r>
            <a:endParaRPr lang="en-GB"/>
          </a:p>
        </p:txBody>
      </p:sp>
      <p:sp>
        <p:nvSpPr>
          <p:cNvPr id="3" name="Segnaposto testo 2"/>
          <p:cNvSpPr>
            <a:spLocks noGrp="1"/>
          </p:cNvSpPr>
          <p:nvPr>
            <p:ph type="body" idx="1"/>
          </p:nvPr>
        </p:nvSpPr>
        <p:spPr>
          <a:xfrm>
            <a:off x="831850" y="4589463"/>
            <a:ext cx="10515600" cy="1500187"/>
          </a:xfrm>
        </p:spPr>
        <p:txBody>
          <a:bodyPr/>
          <a:lstStyle>
            <a:lvl1pPr marL="0" indent="0" algn="r">
              <a:buNone/>
              <a:defRPr sz="2400" b="1">
                <a:solidFill>
                  <a:srgbClr val="898989"/>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6" name="Segnaposto numero diapositiva 5"/>
          <p:cNvSpPr>
            <a:spLocks noGrp="1"/>
          </p:cNvSpPr>
          <p:nvPr>
            <p:ph type="sldNum" sz="quarter" idx="12"/>
          </p:nvPr>
        </p:nvSpPr>
        <p:spPr/>
        <p:txBody>
          <a:bodyPr/>
          <a:lstStyle/>
          <a:p>
            <a:fld id="{16BC020B-D555-4B30-AA1D-C54F5F5250E5}" type="slidenum">
              <a:rPr lang="it-IT" smtClean="0"/>
              <a:t>‹N›</a:t>
            </a:fld>
            <a:endParaRPr lang="it-IT"/>
          </a:p>
        </p:txBody>
      </p:sp>
    </p:spTree>
    <p:extLst>
      <p:ext uri="{BB962C8B-B14F-4D97-AF65-F5344CB8AC3E}">
        <p14:creationId xmlns:p14="http://schemas.microsoft.com/office/powerpoint/2010/main" val="1900085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1263721" y="194683"/>
            <a:ext cx="10901354" cy="853536"/>
          </a:xfrm>
        </p:spPr>
        <p:txBody>
          <a:bodyPr/>
          <a:lstStyle/>
          <a:p>
            <a:r>
              <a:rPr lang="it-IT"/>
              <a:t>Fare clic per modificare lo stile del titolo dello schema</a:t>
            </a:r>
            <a:endParaRPr lang="en-GB"/>
          </a:p>
        </p:txBody>
      </p:sp>
      <p:sp>
        <p:nvSpPr>
          <p:cNvPr id="3" name="Segnaposto contenuto 2"/>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contenuto 3"/>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7" name="Segnaposto numero diapositiva 6"/>
          <p:cNvSpPr>
            <a:spLocks noGrp="1"/>
          </p:cNvSpPr>
          <p:nvPr>
            <p:ph type="sldNum" sz="quarter" idx="12"/>
          </p:nvPr>
        </p:nvSpPr>
        <p:spPr/>
        <p:txBody>
          <a:bodyPr/>
          <a:lstStyle/>
          <a:p>
            <a:fld id="{16BC020B-D555-4B30-AA1D-C54F5F5250E5}" type="slidenum">
              <a:rPr lang="it-IT" smtClean="0"/>
              <a:t>‹N›</a:t>
            </a:fld>
            <a:endParaRPr lang="it-IT"/>
          </a:p>
        </p:txBody>
      </p:sp>
      <p:sp>
        <p:nvSpPr>
          <p:cNvPr id="6" name="Segnaposto testo 6">
            <a:extLst>
              <a:ext uri="{FF2B5EF4-FFF2-40B4-BE49-F238E27FC236}">
                <a16:creationId xmlns:a16="http://schemas.microsoft.com/office/drawing/2014/main" id="{9A82568C-2370-45A7-961E-F9E653627509}"/>
              </a:ext>
            </a:extLst>
          </p:cNvPr>
          <p:cNvSpPr>
            <a:spLocks noGrp="1"/>
          </p:cNvSpPr>
          <p:nvPr>
            <p:ph type="body" sz="quarter" idx="13"/>
          </p:nvPr>
        </p:nvSpPr>
        <p:spPr>
          <a:xfrm>
            <a:off x="1230330" y="1077407"/>
            <a:ext cx="10901354" cy="461665"/>
          </a:xfrm>
        </p:spPr>
        <p:txBody>
          <a:bodyPr anchor="b">
            <a:normAutofit/>
          </a:bodyPr>
          <a:lstStyle>
            <a:lvl1pPr marL="0" indent="0" algn="r">
              <a:buNone/>
              <a:defRPr sz="2400" b="1">
                <a:solidFill>
                  <a:srgbClr val="2E75B6"/>
                </a:solidFill>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p:txBody>
      </p:sp>
    </p:spTree>
    <p:extLst>
      <p:ext uri="{BB962C8B-B14F-4D97-AF65-F5344CB8AC3E}">
        <p14:creationId xmlns:p14="http://schemas.microsoft.com/office/powerpoint/2010/main" val="1271769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a:t>Fare clic per modificare lo stile del titolo dello schema</a:t>
            </a:r>
            <a:endParaRPr lang="en-GB"/>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9" name="Segnaposto numero diapositiva 8"/>
          <p:cNvSpPr>
            <a:spLocks noGrp="1"/>
          </p:cNvSpPr>
          <p:nvPr>
            <p:ph type="sldNum" sz="quarter" idx="12"/>
          </p:nvPr>
        </p:nvSpPr>
        <p:spPr/>
        <p:txBody>
          <a:bodyPr/>
          <a:lstStyle/>
          <a:p>
            <a:fld id="{16BC020B-D555-4B30-AA1D-C54F5F5250E5}" type="slidenum">
              <a:rPr lang="it-IT" smtClean="0"/>
              <a:t>‹N›</a:t>
            </a:fld>
            <a:endParaRPr lang="it-IT"/>
          </a:p>
        </p:txBody>
      </p:sp>
    </p:spTree>
    <p:extLst>
      <p:ext uri="{BB962C8B-B14F-4D97-AF65-F5344CB8AC3E}">
        <p14:creationId xmlns:p14="http://schemas.microsoft.com/office/powerpoint/2010/main" val="3752554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988541" y="286692"/>
            <a:ext cx="11176534" cy="853536"/>
          </a:xfrm>
        </p:spPr>
        <p:txBody>
          <a:bodyPr/>
          <a:lstStyle/>
          <a:p>
            <a:r>
              <a:rPr lang="it-IT"/>
              <a:t>Fare clic per modificare lo stile del titolo dello schema</a:t>
            </a:r>
            <a:endParaRPr lang="en-GB"/>
          </a:p>
        </p:txBody>
      </p:sp>
      <p:sp>
        <p:nvSpPr>
          <p:cNvPr id="5" name="Segnaposto numero diapositiva 4"/>
          <p:cNvSpPr>
            <a:spLocks noGrp="1"/>
          </p:cNvSpPr>
          <p:nvPr>
            <p:ph type="sldNum" sz="quarter" idx="12"/>
          </p:nvPr>
        </p:nvSpPr>
        <p:spPr/>
        <p:txBody>
          <a:bodyPr/>
          <a:lstStyle/>
          <a:p>
            <a:fld id="{16BC020B-D555-4B30-AA1D-C54F5F5250E5}" type="slidenum">
              <a:rPr lang="it-IT" smtClean="0"/>
              <a:t>‹N›</a:t>
            </a:fld>
            <a:endParaRPr lang="it-IT"/>
          </a:p>
        </p:txBody>
      </p:sp>
      <p:sp>
        <p:nvSpPr>
          <p:cNvPr id="4" name="Segnaposto testo 6">
            <a:extLst>
              <a:ext uri="{FF2B5EF4-FFF2-40B4-BE49-F238E27FC236}">
                <a16:creationId xmlns:a16="http://schemas.microsoft.com/office/drawing/2014/main" id="{D308B5DC-C138-4600-8A87-837422B4DD84}"/>
              </a:ext>
            </a:extLst>
          </p:cNvPr>
          <p:cNvSpPr>
            <a:spLocks noGrp="1"/>
          </p:cNvSpPr>
          <p:nvPr>
            <p:ph type="body" sz="quarter" idx="13"/>
          </p:nvPr>
        </p:nvSpPr>
        <p:spPr>
          <a:xfrm>
            <a:off x="1864602" y="1291968"/>
            <a:ext cx="10327398" cy="461665"/>
          </a:xfrm>
        </p:spPr>
        <p:txBody>
          <a:bodyPr anchor="b">
            <a:normAutofit/>
          </a:bodyPr>
          <a:lstStyle>
            <a:lvl1pPr marL="0" indent="0" algn="r">
              <a:buNone/>
              <a:defRPr sz="2400" b="1">
                <a:solidFill>
                  <a:srgbClr val="2E75B6"/>
                </a:solidFill>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p:txBody>
      </p:sp>
    </p:spTree>
    <p:extLst>
      <p:ext uri="{BB962C8B-B14F-4D97-AF65-F5344CB8AC3E}">
        <p14:creationId xmlns:p14="http://schemas.microsoft.com/office/powerpoint/2010/main" val="1857076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4" name="Segnaposto numero diapositiva 3"/>
          <p:cNvSpPr>
            <a:spLocks noGrp="1"/>
          </p:cNvSpPr>
          <p:nvPr>
            <p:ph type="sldNum" sz="quarter" idx="12"/>
          </p:nvPr>
        </p:nvSpPr>
        <p:spPr/>
        <p:txBody>
          <a:bodyPr/>
          <a:lstStyle/>
          <a:p>
            <a:fld id="{16BC020B-D555-4B30-AA1D-C54F5F5250E5}" type="slidenum">
              <a:rPr lang="it-IT" smtClean="0"/>
              <a:t>‹N›</a:t>
            </a:fld>
            <a:endParaRPr lang="it-IT"/>
          </a:p>
        </p:txBody>
      </p:sp>
    </p:spTree>
    <p:extLst>
      <p:ext uri="{BB962C8B-B14F-4D97-AF65-F5344CB8AC3E}">
        <p14:creationId xmlns:p14="http://schemas.microsoft.com/office/powerpoint/2010/main" val="3747658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endParaRPr lang="en-GB"/>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7" name="Segnaposto numero diapositiva 6"/>
          <p:cNvSpPr>
            <a:spLocks noGrp="1"/>
          </p:cNvSpPr>
          <p:nvPr>
            <p:ph type="sldNum" sz="quarter" idx="12"/>
          </p:nvPr>
        </p:nvSpPr>
        <p:spPr/>
        <p:txBody>
          <a:bodyPr/>
          <a:lstStyle/>
          <a:p>
            <a:fld id="{16BC020B-D555-4B30-AA1D-C54F5F5250E5}" type="slidenum">
              <a:rPr lang="it-IT" smtClean="0"/>
              <a:t>‹N›</a:t>
            </a:fld>
            <a:endParaRPr lang="it-IT"/>
          </a:p>
        </p:txBody>
      </p:sp>
    </p:spTree>
    <p:extLst>
      <p:ext uri="{BB962C8B-B14F-4D97-AF65-F5344CB8AC3E}">
        <p14:creationId xmlns:p14="http://schemas.microsoft.com/office/powerpoint/2010/main" val="3690189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endParaRPr lang="en-GB"/>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GB"/>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p:cNvSpPr>
            <a:spLocks noGrp="1"/>
          </p:cNvSpPr>
          <p:nvPr>
            <p:ph type="dt" sz="half" idx="10"/>
          </p:nvPr>
        </p:nvSpPr>
        <p:spPr>
          <a:xfrm>
            <a:off x="838200" y="6356350"/>
            <a:ext cx="2743200" cy="365125"/>
          </a:xfrm>
          <a:prstGeom prst="rect">
            <a:avLst/>
          </a:prstGeom>
        </p:spPr>
        <p:txBody>
          <a:bodyPr/>
          <a:lstStyle/>
          <a:p>
            <a:fld id="{E84BAFFD-259F-4AB7-AA47-9E1E0C165BE0}" type="datetimeFigureOut">
              <a:rPr lang="it-IT" smtClean="0"/>
              <a:t>27/05/2025</a:t>
            </a:fld>
            <a:endParaRPr lang="it-IT"/>
          </a:p>
        </p:txBody>
      </p:sp>
      <p:sp>
        <p:nvSpPr>
          <p:cNvPr id="6" name="Segnaposto piè di pagina 5"/>
          <p:cNvSpPr>
            <a:spLocks noGrp="1"/>
          </p:cNvSpPr>
          <p:nvPr>
            <p:ph type="ftr" sz="quarter" idx="11"/>
          </p:nvPr>
        </p:nvSpPr>
        <p:spPr>
          <a:xfrm>
            <a:off x="4038600" y="6356350"/>
            <a:ext cx="4114800" cy="365125"/>
          </a:xfrm>
          <a:prstGeom prst="rect">
            <a:avLst/>
          </a:prstGeom>
        </p:spPr>
        <p:txBody>
          <a:bodyPr/>
          <a:lstStyle/>
          <a:p>
            <a:endParaRPr lang="it-IT"/>
          </a:p>
        </p:txBody>
      </p:sp>
      <p:sp>
        <p:nvSpPr>
          <p:cNvPr id="7" name="Segnaposto numero diapositiva 6"/>
          <p:cNvSpPr>
            <a:spLocks noGrp="1"/>
          </p:cNvSpPr>
          <p:nvPr>
            <p:ph type="sldNum" sz="quarter" idx="12"/>
          </p:nvPr>
        </p:nvSpPr>
        <p:spPr/>
        <p:txBody>
          <a:bodyPr/>
          <a:lstStyle/>
          <a:p>
            <a:fld id="{16BC020B-D555-4B30-AA1D-C54F5F5250E5}" type="slidenum">
              <a:rPr lang="it-IT" smtClean="0"/>
              <a:t>‹N›</a:t>
            </a:fld>
            <a:endParaRPr lang="it-IT"/>
          </a:p>
        </p:txBody>
      </p:sp>
    </p:spTree>
    <p:extLst>
      <p:ext uri="{BB962C8B-B14F-4D97-AF65-F5344CB8AC3E}">
        <p14:creationId xmlns:p14="http://schemas.microsoft.com/office/powerpoint/2010/main" val="2936472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 dello schema</a:t>
            </a:r>
            <a:endParaRPr lang="en-GB"/>
          </a:p>
        </p:txBody>
      </p:sp>
      <p:sp>
        <p:nvSpPr>
          <p:cNvPr id="3" name="Segnaposto testo verticale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data 3"/>
          <p:cNvSpPr>
            <a:spLocks noGrp="1"/>
          </p:cNvSpPr>
          <p:nvPr>
            <p:ph type="dt" sz="half" idx="10"/>
          </p:nvPr>
        </p:nvSpPr>
        <p:spPr>
          <a:xfrm>
            <a:off x="838200" y="6356350"/>
            <a:ext cx="2743200" cy="365125"/>
          </a:xfrm>
          <a:prstGeom prst="rect">
            <a:avLst/>
          </a:prstGeom>
        </p:spPr>
        <p:txBody>
          <a:bodyPr/>
          <a:lstStyle/>
          <a:p>
            <a:fld id="{E84BAFFD-259F-4AB7-AA47-9E1E0C165BE0}" type="datetimeFigureOut">
              <a:rPr lang="it-IT" smtClean="0"/>
              <a:t>27/05/2025</a:t>
            </a:fld>
            <a:endParaRPr lang="it-IT"/>
          </a:p>
        </p:txBody>
      </p:sp>
      <p:sp>
        <p:nvSpPr>
          <p:cNvPr id="5" name="Segnaposto piè di pagina 4"/>
          <p:cNvSpPr>
            <a:spLocks noGrp="1"/>
          </p:cNvSpPr>
          <p:nvPr>
            <p:ph type="ftr" sz="quarter" idx="11"/>
          </p:nvPr>
        </p:nvSpPr>
        <p:spPr>
          <a:xfrm>
            <a:off x="4038600" y="6356350"/>
            <a:ext cx="4114800" cy="365125"/>
          </a:xfrm>
          <a:prstGeom prst="rect">
            <a:avLst/>
          </a:prstGeom>
        </p:spPr>
        <p:txBody>
          <a:bodyPr/>
          <a:lstStyle/>
          <a:p>
            <a:endParaRPr lang="it-IT"/>
          </a:p>
        </p:txBody>
      </p:sp>
      <p:sp>
        <p:nvSpPr>
          <p:cNvPr id="6" name="Segnaposto numero diapositiva 5"/>
          <p:cNvSpPr>
            <a:spLocks noGrp="1"/>
          </p:cNvSpPr>
          <p:nvPr>
            <p:ph type="sldNum" sz="quarter" idx="12"/>
          </p:nvPr>
        </p:nvSpPr>
        <p:spPr/>
        <p:txBody>
          <a:bodyPr/>
          <a:lstStyle/>
          <a:p>
            <a:fld id="{16BC020B-D555-4B30-AA1D-C54F5F5250E5}" type="slidenum">
              <a:rPr lang="it-IT" smtClean="0"/>
              <a:t>‹N›</a:t>
            </a:fld>
            <a:endParaRPr lang="it-IT"/>
          </a:p>
        </p:txBody>
      </p:sp>
      <p:sp>
        <p:nvSpPr>
          <p:cNvPr id="7" name="Segnaposto testo 6">
            <a:extLst>
              <a:ext uri="{FF2B5EF4-FFF2-40B4-BE49-F238E27FC236}">
                <a16:creationId xmlns:a16="http://schemas.microsoft.com/office/drawing/2014/main" id="{43E61D8A-A0C3-43C8-979A-B90A341476A5}"/>
              </a:ext>
            </a:extLst>
          </p:cNvPr>
          <p:cNvSpPr>
            <a:spLocks noGrp="1"/>
          </p:cNvSpPr>
          <p:nvPr>
            <p:ph type="body" sz="quarter" idx="13"/>
          </p:nvPr>
        </p:nvSpPr>
        <p:spPr>
          <a:xfrm>
            <a:off x="1837677" y="785341"/>
            <a:ext cx="10327398" cy="461665"/>
          </a:xfrm>
        </p:spPr>
        <p:txBody>
          <a:bodyPr anchor="b">
            <a:normAutofit/>
          </a:bodyPr>
          <a:lstStyle>
            <a:lvl1pPr marL="0" indent="0" algn="r">
              <a:buNone/>
              <a:defRPr sz="2400" b="1">
                <a:solidFill>
                  <a:srgbClr val="2E75B6"/>
                </a:solidFill>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p:txBody>
      </p:sp>
    </p:spTree>
    <p:extLst>
      <p:ext uri="{BB962C8B-B14F-4D97-AF65-F5344CB8AC3E}">
        <p14:creationId xmlns:p14="http://schemas.microsoft.com/office/powerpoint/2010/main" val="3839184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a:t>Fare clic per modificare lo stile del titolo dello schema</a:t>
            </a:r>
            <a:endParaRPr lang="en-GB"/>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data 3"/>
          <p:cNvSpPr>
            <a:spLocks noGrp="1"/>
          </p:cNvSpPr>
          <p:nvPr>
            <p:ph type="dt" sz="half" idx="10"/>
          </p:nvPr>
        </p:nvSpPr>
        <p:spPr>
          <a:xfrm>
            <a:off x="838200" y="6356350"/>
            <a:ext cx="2743200" cy="365125"/>
          </a:xfrm>
          <a:prstGeom prst="rect">
            <a:avLst/>
          </a:prstGeom>
        </p:spPr>
        <p:txBody>
          <a:bodyPr/>
          <a:lstStyle/>
          <a:p>
            <a:fld id="{E84BAFFD-259F-4AB7-AA47-9E1E0C165BE0}" type="datetimeFigureOut">
              <a:rPr lang="it-IT" smtClean="0"/>
              <a:t>27/05/2025</a:t>
            </a:fld>
            <a:endParaRPr lang="it-IT"/>
          </a:p>
        </p:txBody>
      </p:sp>
      <p:sp>
        <p:nvSpPr>
          <p:cNvPr id="5" name="Segnaposto piè di pagina 4"/>
          <p:cNvSpPr>
            <a:spLocks noGrp="1"/>
          </p:cNvSpPr>
          <p:nvPr>
            <p:ph type="ftr" sz="quarter" idx="11"/>
          </p:nvPr>
        </p:nvSpPr>
        <p:spPr>
          <a:xfrm>
            <a:off x="4038600" y="6356350"/>
            <a:ext cx="4114800" cy="365125"/>
          </a:xfrm>
          <a:prstGeom prst="rect">
            <a:avLst/>
          </a:prstGeom>
        </p:spPr>
        <p:txBody>
          <a:bodyPr/>
          <a:lstStyle/>
          <a:p>
            <a:endParaRPr lang="it-IT"/>
          </a:p>
        </p:txBody>
      </p:sp>
      <p:sp>
        <p:nvSpPr>
          <p:cNvPr id="6" name="Segnaposto numero diapositiva 5"/>
          <p:cNvSpPr>
            <a:spLocks noGrp="1"/>
          </p:cNvSpPr>
          <p:nvPr>
            <p:ph type="sldNum" sz="quarter" idx="12"/>
          </p:nvPr>
        </p:nvSpPr>
        <p:spPr/>
        <p:txBody>
          <a:bodyPr/>
          <a:lstStyle/>
          <a:p>
            <a:fld id="{16BC020B-D555-4B30-AA1D-C54F5F5250E5}" type="slidenum">
              <a:rPr lang="it-IT" smtClean="0"/>
              <a:t>‹N›</a:t>
            </a:fld>
            <a:endParaRPr lang="it-IT"/>
          </a:p>
        </p:txBody>
      </p:sp>
    </p:spTree>
    <p:extLst>
      <p:ext uri="{BB962C8B-B14F-4D97-AF65-F5344CB8AC3E}">
        <p14:creationId xmlns:p14="http://schemas.microsoft.com/office/powerpoint/2010/main" val="2913769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ECONDSKIN">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76418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_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 dello schema</a:t>
            </a:r>
            <a:endParaRPr lang="en-GB"/>
          </a:p>
        </p:txBody>
      </p:sp>
      <p:sp>
        <p:nvSpPr>
          <p:cNvPr id="3" name="Segnaposto contenuto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numero diapositiva 5"/>
          <p:cNvSpPr>
            <a:spLocks noGrp="1"/>
          </p:cNvSpPr>
          <p:nvPr>
            <p:ph type="sldNum" sz="quarter" idx="12"/>
          </p:nvPr>
        </p:nvSpPr>
        <p:spPr/>
        <p:txBody>
          <a:bodyPr/>
          <a:lstStyle/>
          <a:p>
            <a:fld id="{16BC020B-D555-4B30-AA1D-C54F5F5250E5}" type="slidenum">
              <a:rPr lang="it-IT" smtClean="0"/>
              <a:t>‹N›</a:t>
            </a:fld>
            <a:endParaRPr lang="it-IT"/>
          </a:p>
        </p:txBody>
      </p:sp>
    </p:spTree>
    <p:extLst>
      <p:ext uri="{BB962C8B-B14F-4D97-AF65-F5344CB8AC3E}">
        <p14:creationId xmlns:p14="http://schemas.microsoft.com/office/powerpoint/2010/main" val="2972809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1837677" y="12561"/>
            <a:ext cx="10327398" cy="853536"/>
          </a:xfrm>
        </p:spPr>
        <p:txBody>
          <a:bodyPr/>
          <a:lstStyle/>
          <a:p>
            <a:r>
              <a:rPr lang="it-IT"/>
              <a:t>Fare clic per modificare lo stile del titolo dello schema</a:t>
            </a:r>
            <a:endParaRPr lang="en-GB"/>
          </a:p>
        </p:txBody>
      </p:sp>
      <p:sp>
        <p:nvSpPr>
          <p:cNvPr id="3" name="Segnaposto contenuto 2"/>
          <p:cNvSpPr>
            <a:spLocks noGrp="1"/>
          </p:cNvSpPr>
          <p:nvPr>
            <p:ph idx="1"/>
          </p:nvPr>
        </p:nvSpPr>
        <p:spPr/>
        <p:txBody>
          <a:bodyPr/>
          <a:lstStyle>
            <a:lvl1pPr>
              <a:defRPr sz="2200"/>
            </a:lvl1pPr>
            <a:lvl2pPr>
              <a:defRPr sz="2000"/>
            </a:lvl2pPr>
            <a:lvl3pPr>
              <a:defRPr sz="1800"/>
            </a:lvl3pPr>
            <a:lvl4pPr>
              <a:defRPr sz="1600"/>
            </a:lvl4pPr>
            <a:lvl5pPr>
              <a:defRPr sz="160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numero diapositiva 5"/>
          <p:cNvSpPr>
            <a:spLocks noGrp="1"/>
          </p:cNvSpPr>
          <p:nvPr>
            <p:ph type="sldNum" sz="quarter" idx="12"/>
          </p:nvPr>
        </p:nvSpPr>
        <p:spPr>
          <a:xfrm>
            <a:off x="9395241" y="6445760"/>
            <a:ext cx="2743200" cy="365125"/>
          </a:xfrm>
        </p:spPr>
        <p:txBody>
          <a:bodyPr/>
          <a:lstStyle>
            <a:lvl1pPr>
              <a:defRPr b="1"/>
            </a:lvl1pPr>
          </a:lstStyle>
          <a:p>
            <a:fld id="{16BC020B-D555-4B30-AA1D-C54F5F5250E5}" type="slidenum">
              <a:rPr lang="it-IT" smtClean="0"/>
              <a:t>‹N›</a:t>
            </a:fld>
            <a:endParaRPr lang="it-IT"/>
          </a:p>
        </p:txBody>
      </p:sp>
      <p:cxnSp>
        <p:nvCxnSpPr>
          <p:cNvPr id="5" name="Connettore diritto 4">
            <a:extLst>
              <a:ext uri="{FF2B5EF4-FFF2-40B4-BE49-F238E27FC236}">
                <a16:creationId xmlns:a16="http://schemas.microsoft.com/office/drawing/2014/main" id="{279882D6-253F-46D5-B3D2-8D1B605E7A3B}"/>
              </a:ext>
            </a:extLst>
          </p:cNvPr>
          <p:cNvCxnSpPr/>
          <p:nvPr/>
        </p:nvCxnSpPr>
        <p:spPr>
          <a:xfrm>
            <a:off x="838200" y="6383047"/>
            <a:ext cx="11217676" cy="0"/>
          </a:xfrm>
          <a:prstGeom prst="line">
            <a:avLst/>
          </a:prstGeom>
          <a:ln w="190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 name="Segnaposto testo 6">
            <a:extLst>
              <a:ext uri="{FF2B5EF4-FFF2-40B4-BE49-F238E27FC236}">
                <a16:creationId xmlns:a16="http://schemas.microsoft.com/office/drawing/2014/main" id="{FCED872A-D7EE-47F4-8681-078AC6CA2E2A}"/>
              </a:ext>
            </a:extLst>
          </p:cNvPr>
          <p:cNvSpPr>
            <a:spLocks noGrp="1"/>
          </p:cNvSpPr>
          <p:nvPr>
            <p:ph type="body" sz="quarter" idx="13"/>
          </p:nvPr>
        </p:nvSpPr>
        <p:spPr>
          <a:xfrm>
            <a:off x="1837677" y="696561"/>
            <a:ext cx="10327398" cy="461665"/>
          </a:xfrm>
        </p:spPr>
        <p:txBody>
          <a:bodyPr anchor="b">
            <a:normAutofit/>
          </a:bodyPr>
          <a:lstStyle>
            <a:lvl1pPr marL="0" indent="0" algn="r">
              <a:buNone/>
              <a:defRPr sz="2400" b="1">
                <a:solidFill>
                  <a:srgbClr val="2E75B6"/>
                </a:solidFill>
              </a:defRPr>
            </a:lvl1pPr>
            <a:lvl2pPr marL="457200" indent="0">
              <a:buNone/>
              <a:defRPr/>
            </a:lvl2pPr>
            <a:lvl3pPr marL="914400" indent="0">
              <a:buNone/>
              <a:defRPr/>
            </a:lvl3pPr>
            <a:lvl4pPr marL="1371600" indent="0">
              <a:buNone/>
              <a:defRPr/>
            </a:lvl4pPr>
            <a:lvl5pPr marL="1828800" indent="0">
              <a:buNone/>
              <a:defRPr/>
            </a:lvl5pPr>
          </a:lstStyle>
          <a:p>
            <a:pPr lvl="0"/>
            <a:r>
              <a:rPr lang="it-IT"/>
              <a:t>Fare clic per modificare gli stili del testo dello schema</a:t>
            </a:r>
          </a:p>
        </p:txBody>
      </p:sp>
    </p:spTree>
    <p:extLst>
      <p:ext uri="{BB962C8B-B14F-4D97-AF65-F5344CB8AC3E}">
        <p14:creationId xmlns:p14="http://schemas.microsoft.com/office/powerpoint/2010/main" val="4092759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Diapositiva titolo">
    <p:spTree>
      <p:nvGrpSpPr>
        <p:cNvPr id="1" name=""/>
        <p:cNvGrpSpPr/>
        <p:nvPr/>
      </p:nvGrpSpPr>
      <p:grpSpPr>
        <a:xfrm>
          <a:off x="0" y="0"/>
          <a:ext cx="0" cy="0"/>
          <a:chOff x="0" y="0"/>
          <a:chExt cx="0" cy="0"/>
        </a:xfrm>
      </p:grpSpPr>
      <p:sp>
        <p:nvSpPr>
          <p:cNvPr id="39" name="Segnaposto testo 38">
            <a:extLst>
              <a:ext uri="{FF2B5EF4-FFF2-40B4-BE49-F238E27FC236}">
                <a16:creationId xmlns:a16="http://schemas.microsoft.com/office/drawing/2014/main" id="{E73864F7-59EF-314A-8279-AC337101DA5B}"/>
              </a:ext>
            </a:extLst>
          </p:cNvPr>
          <p:cNvSpPr>
            <a:spLocks noGrp="1"/>
          </p:cNvSpPr>
          <p:nvPr>
            <p:ph type="body" sz="quarter" idx="14" hasCustomPrompt="1"/>
          </p:nvPr>
        </p:nvSpPr>
        <p:spPr>
          <a:xfrm>
            <a:off x="403758" y="3451244"/>
            <a:ext cx="11539916" cy="1123604"/>
          </a:xfrm>
          <a:prstGeom prst="rect">
            <a:avLst/>
          </a:prstGeom>
        </p:spPr>
        <p:txBody>
          <a:bodyPr/>
          <a:lstStyle>
            <a:lvl1pPr marL="0" indent="0" algn="ctr">
              <a:buNone/>
              <a:defRPr sz="3600" b="1">
                <a:latin typeface="Franklin Gothic Book" panose="020B0503020102020204" pitchFamily="34" charset="0"/>
              </a:defRPr>
            </a:lvl1pPr>
          </a:lstStyle>
          <a:p>
            <a:r>
              <a:rPr lang="it-IT">
                <a:latin typeface="Franklin Gothic Book" panose="020B0503020102020204" pitchFamily="34" charset="0"/>
              </a:rPr>
              <a:t>Title of Presentation</a:t>
            </a:r>
          </a:p>
          <a:p>
            <a:r>
              <a:rPr lang="it-IT" err="1">
                <a:latin typeface="Franklin Gothic Book" panose="020B0503020102020204" pitchFamily="34" charset="0"/>
              </a:rPr>
              <a:t>xxxxx</a:t>
            </a:r>
            <a:r>
              <a:rPr lang="it-IT">
                <a:latin typeface="Franklin Gothic Book" panose="020B0503020102020204" pitchFamily="34" charset="0"/>
              </a:rPr>
              <a:t> </a:t>
            </a:r>
            <a:endParaRPr lang="it-IT"/>
          </a:p>
        </p:txBody>
      </p:sp>
      <p:sp>
        <p:nvSpPr>
          <p:cNvPr id="40" name="Segnaposto testo 38">
            <a:extLst>
              <a:ext uri="{FF2B5EF4-FFF2-40B4-BE49-F238E27FC236}">
                <a16:creationId xmlns:a16="http://schemas.microsoft.com/office/drawing/2014/main" id="{6D51B3B8-B2A0-EF41-AE94-48746A45E22C}"/>
              </a:ext>
            </a:extLst>
          </p:cNvPr>
          <p:cNvSpPr>
            <a:spLocks noGrp="1"/>
          </p:cNvSpPr>
          <p:nvPr>
            <p:ph type="body" sz="quarter" idx="15" hasCustomPrompt="1"/>
          </p:nvPr>
        </p:nvSpPr>
        <p:spPr>
          <a:xfrm>
            <a:off x="2816352" y="4720137"/>
            <a:ext cx="6711697" cy="533787"/>
          </a:xfrm>
          <a:prstGeom prst="rect">
            <a:avLst/>
          </a:prstGeom>
        </p:spPr>
        <p:txBody>
          <a:bodyPr/>
          <a:lstStyle>
            <a:lvl1pPr marL="0" indent="0" algn="ctr">
              <a:buNone/>
              <a:defRPr sz="2600" b="1">
                <a:latin typeface="Franklin Gothic Book" panose="020B0503020102020204" pitchFamily="34" charset="0"/>
              </a:defRPr>
            </a:lvl1pPr>
          </a:lstStyle>
          <a:p>
            <a:r>
              <a:rPr lang="it-IT" err="1">
                <a:latin typeface="Franklin Gothic Book" panose="020B0503020102020204" pitchFamily="34" charset="0"/>
              </a:rPr>
              <a:t>Presenter’s</a:t>
            </a:r>
            <a:r>
              <a:rPr lang="it-IT">
                <a:latin typeface="Franklin Gothic Book" panose="020B0503020102020204" pitchFamily="34" charset="0"/>
              </a:rPr>
              <a:t> </a:t>
            </a:r>
            <a:r>
              <a:rPr lang="it-IT" err="1">
                <a:latin typeface="Franklin Gothic Book" panose="020B0503020102020204" pitchFamily="34" charset="0"/>
              </a:rPr>
              <a:t>name</a:t>
            </a:r>
            <a:endParaRPr lang="it-IT"/>
          </a:p>
        </p:txBody>
      </p:sp>
      <p:sp>
        <p:nvSpPr>
          <p:cNvPr id="41" name="Segnaposto testo 38">
            <a:extLst>
              <a:ext uri="{FF2B5EF4-FFF2-40B4-BE49-F238E27FC236}">
                <a16:creationId xmlns:a16="http://schemas.microsoft.com/office/drawing/2014/main" id="{37201834-3313-2D4B-B6DA-60461E6B5F65}"/>
              </a:ext>
            </a:extLst>
          </p:cNvPr>
          <p:cNvSpPr>
            <a:spLocks noGrp="1"/>
          </p:cNvSpPr>
          <p:nvPr>
            <p:ph type="body" sz="quarter" idx="16" hasCustomPrompt="1"/>
          </p:nvPr>
        </p:nvSpPr>
        <p:spPr>
          <a:xfrm>
            <a:off x="2816352" y="5279112"/>
            <a:ext cx="6711697" cy="330937"/>
          </a:xfrm>
          <a:prstGeom prst="rect">
            <a:avLst/>
          </a:prstGeom>
        </p:spPr>
        <p:txBody>
          <a:bodyPr/>
          <a:lstStyle>
            <a:lvl1pPr marL="0" indent="0" algn="ctr">
              <a:buNone/>
              <a:defRPr sz="2000" b="0">
                <a:latin typeface="Franklin Gothic Book" panose="020B0503020102020204" pitchFamily="34" charset="0"/>
              </a:defRPr>
            </a:lvl1pPr>
          </a:lstStyle>
          <a:p>
            <a:r>
              <a:rPr lang="it-IT" err="1">
                <a:latin typeface="Franklin Gothic Book" panose="020B0503020102020204" pitchFamily="34" charset="0"/>
              </a:rPr>
              <a:t>Affiliation</a:t>
            </a:r>
            <a:endParaRPr lang="it-IT"/>
          </a:p>
        </p:txBody>
      </p:sp>
      <p:sp>
        <p:nvSpPr>
          <p:cNvPr id="45" name="Segnaposto testo 38">
            <a:extLst>
              <a:ext uri="{FF2B5EF4-FFF2-40B4-BE49-F238E27FC236}">
                <a16:creationId xmlns:a16="http://schemas.microsoft.com/office/drawing/2014/main" id="{4D29FA17-9537-3A49-86F9-75044E80F48D}"/>
              </a:ext>
            </a:extLst>
          </p:cNvPr>
          <p:cNvSpPr>
            <a:spLocks noGrp="1"/>
          </p:cNvSpPr>
          <p:nvPr>
            <p:ph type="body" sz="quarter" idx="19" hasCustomPrompt="1"/>
          </p:nvPr>
        </p:nvSpPr>
        <p:spPr>
          <a:xfrm>
            <a:off x="2816352" y="5615856"/>
            <a:ext cx="6711697" cy="394188"/>
          </a:xfrm>
          <a:prstGeom prst="rect">
            <a:avLst/>
          </a:prstGeom>
        </p:spPr>
        <p:txBody>
          <a:bodyPr/>
          <a:lstStyle>
            <a:lvl1pPr marL="0" indent="0" algn="ctr">
              <a:buNone/>
              <a:defRPr sz="1800" b="0" u="sng">
                <a:solidFill>
                  <a:srgbClr val="0432FF"/>
                </a:solidFill>
                <a:latin typeface="Franklin Gothic Book" panose="020B0503020102020204" pitchFamily="34" charset="0"/>
              </a:defRPr>
            </a:lvl1pPr>
          </a:lstStyle>
          <a:p>
            <a:r>
              <a:rPr lang="it-IT" err="1">
                <a:latin typeface="Franklin Gothic Book" panose="020B0503020102020204" pitchFamily="34" charset="0"/>
              </a:rPr>
              <a:t>presenter@mail.com</a:t>
            </a:r>
            <a:endParaRPr lang="it-IT"/>
          </a:p>
        </p:txBody>
      </p:sp>
    </p:spTree>
    <p:extLst>
      <p:ext uri="{BB962C8B-B14F-4D97-AF65-F5344CB8AC3E}">
        <p14:creationId xmlns:p14="http://schemas.microsoft.com/office/powerpoint/2010/main" val="2396494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1837677" y="101341"/>
            <a:ext cx="10327398" cy="853536"/>
          </a:xfrm>
          <a:prstGeom prst="rect">
            <a:avLst/>
          </a:prstGeom>
        </p:spPr>
        <p:txBody>
          <a:bodyPr vert="horz" lIns="91440" tIns="45720" rIns="91440" bIns="45720" rtlCol="0" anchor="ctr">
            <a:normAutofit/>
          </a:bodyPr>
          <a:lstStyle/>
          <a:p>
            <a:endParaRPr lang="en-GB"/>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numero diapositiva 5"/>
          <p:cNvSpPr>
            <a:spLocks noGrp="1"/>
          </p:cNvSpPr>
          <p:nvPr>
            <p:ph type="sldNum" sz="quarter" idx="4"/>
          </p:nvPr>
        </p:nvSpPr>
        <p:spPr>
          <a:xfrm>
            <a:off x="9421875" y="6463516"/>
            <a:ext cx="2743200" cy="365125"/>
          </a:xfrm>
          <a:prstGeom prst="rect">
            <a:avLst/>
          </a:prstGeom>
        </p:spPr>
        <p:txBody>
          <a:bodyPr vert="horz" lIns="91440" tIns="45720" rIns="91440" bIns="45720" rtlCol="0" anchor="ctr"/>
          <a:lstStyle>
            <a:lvl1pPr algn="r">
              <a:defRPr sz="2000">
                <a:solidFill>
                  <a:schemeClr val="accent1">
                    <a:lumMod val="60000"/>
                    <a:lumOff val="40000"/>
                  </a:schemeClr>
                </a:solidFill>
                <a:latin typeface="+mn-lt"/>
                <a:cs typeface="Arial" panose="020B0604020202020204" pitchFamily="34" charset="0"/>
              </a:defRPr>
            </a:lvl1pPr>
          </a:lstStyle>
          <a:p>
            <a:fld id="{16BC020B-D555-4B30-AA1D-C54F5F5250E5}" type="slidenum">
              <a:rPr lang="it-IT" smtClean="0"/>
              <a:t>‹N›</a:t>
            </a:fld>
            <a:endParaRPr lang="it-IT"/>
          </a:p>
        </p:txBody>
      </p:sp>
      <p:pic>
        <p:nvPicPr>
          <p:cNvPr id="9" name="Immagine 8"/>
          <p:cNvPicPr>
            <a:picLocks noChangeAspect="1"/>
          </p:cNvPicPr>
          <p:nvPr/>
        </p:nvPicPr>
        <p:blipFill rotWithShape="1">
          <a:blip r:embed="rId17" cstate="print">
            <a:extLst>
              <a:ext uri="{28A0092B-C50C-407E-A947-70E740481C1C}">
                <a14:useLocalDpi xmlns:a14="http://schemas.microsoft.com/office/drawing/2010/main" val="0"/>
              </a:ext>
            </a:extLst>
          </a:blip>
          <a:srcRect r="81887"/>
          <a:stretch/>
        </p:blipFill>
        <p:spPr>
          <a:xfrm>
            <a:off x="70107" y="6264303"/>
            <a:ext cx="443601" cy="613835"/>
          </a:xfrm>
          <a:prstGeom prst="rect">
            <a:avLst/>
          </a:prstGeom>
        </p:spPr>
      </p:pic>
      <p:sp>
        <p:nvSpPr>
          <p:cNvPr id="21" name="CasellaDiTesto 20">
            <a:extLst>
              <a:ext uri="{FF2B5EF4-FFF2-40B4-BE49-F238E27FC236}">
                <a16:creationId xmlns:a16="http://schemas.microsoft.com/office/drawing/2014/main" id="{3114EC9C-E930-4EA2-B815-6B0CB7188FEE}"/>
              </a:ext>
            </a:extLst>
          </p:cNvPr>
          <p:cNvSpPr txBox="1"/>
          <p:nvPr/>
        </p:nvSpPr>
        <p:spPr>
          <a:xfrm>
            <a:off x="513708" y="6401943"/>
            <a:ext cx="4314548" cy="338554"/>
          </a:xfrm>
          <a:prstGeom prst="rect">
            <a:avLst/>
          </a:prstGeom>
          <a:noFill/>
        </p:spPr>
        <p:txBody>
          <a:bodyPr wrap="square" rtlCol="0">
            <a:spAutoFit/>
          </a:bodyPr>
          <a:lstStyle/>
          <a:p>
            <a:r>
              <a:rPr lang="en-US" sz="1600" noProof="0">
                <a:latin typeface="Times New Roman" panose="02020603050405020304" pitchFamily="18" charset="0"/>
                <a:cs typeface="Times New Roman" panose="02020603050405020304" pitchFamily="18" charset="0"/>
              </a:rPr>
              <a:t>Pervasive Electromagnetics </a:t>
            </a:r>
            <a:r>
              <a:rPr lang="en-US" sz="1600" b="0" noProof="0">
                <a:solidFill>
                  <a:srgbClr val="2E75B6"/>
                </a:solidFill>
                <a:latin typeface="Times New Roman" panose="02020603050405020304" pitchFamily="18" charset="0"/>
                <a:cs typeface="Times New Roman" panose="02020603050405020304" pitchFamily="18" charset="0"/>
              </a:rPr>
              <a:t>Lab</a:t>
            </a:r>
          </a:p>
        </p:txBody>
      </p:sp>
      <p:pic>
        <p:nvPicPr>
          <p:cNvPr id="5" name="Immagine 4" descr="Immagine che contiene nero, oscurità&#10;&#10;Il contenuto generato dall'IA potrebbe non essere corretto.">
            <a:extLst>
              <a:ext uri="{FF2B5EF4-FFF2-40B4-BE49-F238E27FC236}">
                <a16:creationId xmlns:a16="http://schemas.microsoft.com/office/drawing/2014/main" id="{C7387A1C-F455-E4B2-DE0F-D4EE68C83C37}"/>
              </a:ext>
            </a:extLst>
          </p:cNvPr>
          <p:cNvPicPr>
            <a:picLocks noChangeAspect="1"/>
          </p:cNvPicPr>
          <p:nvPr userDrawn="1"/>
        </p:nvPicPr>
        <p:blipFill>
          <a:blip r:embed="rId18" cstate="hqprint">
            <a:extLst>
              <a:ext uri="{28A0092B-C50C-407E-A947-70E740481C1C}">
                <a14:useLocalDpi xmlns:a14="http://schemas.microsoft.com/office/drawing/2010/main" val="0"/>
              </a:ext>
            </a:extLst>
          </a:blip>
          <a:stretch>
            <a:fillRect/>
          </a:stretch>
        </p:blipFill>
        <p:spPr>
          <a:xfrm>
            <a:off x="73308" y="91118"/>
            <a:ext cx="1016318" cy="959461"/>
          </a:xfrm>
          <a:prstGeom prst="rect">
            <a:avLst/>
          </a:prstGeom>
        </p:spPr>
      </p:pic>
    </p:spTree>
    <p:extLst>
      <p:ext uri="{BB962C8B-B14F-4D97-AF65-F5344CB8AC3E}">
        <p14:creationId xmlns:p14="http://schemas.microsoft.com/office/powerpoint/2010/main" val="3745343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r" defTabSz="914400" rtl="0" eaLnBrk="1" latinLnBrk="0" hangingPunct="1">
        <a:lnSpc>
          <a:spcPct val="90000"/>
        </a:lnSpc>
        <a:spcBef>
          <a:spcPct val="0"/>
        </a:spcBef>
        <a:buNone/>
        <a:defRPr sz="4800" b="1" kern="1200">
          <a:solidFill>
            <a:srgbClr val="10036D"/>
          </a:solidFill>
          <a:latin typeface="+mn-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6.tiff"/><Relationship Id="rId2" Type="http://schemas.openxmlformats.org/officeDocument/2006/relationships/image" Target="../media/image25.tiff"/><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1.tiff"/><Relationship Id="rId2" Type="http://schemas.openxmlformats.org/officeDocument/2006/relationships/image" Target="../media/image30.tiff"/><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32.tiff"/><Relationship Id="rId2" Type="http://schemas.openxmlformats.org/officeDocument/2006/relationships/image" Target="../media/image29.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egnaposto testo 9">
            <a:extLst>
              <a:ext uri="{FF2B5EF4-FFF2-40B4-BE49-F238E27FC236}">
                <a16:creationId xmlns:a16="http://schemas.microsoft.com/office/drawing/2014/main" id="{6C2ACEAF-6931-6048-9058-EB8E92E7281B}"/>
              </a:ext>
            </a:extLst>
          </p:cNvPr>
          <p:cNvSpPr>
            <a:spLocks noGrp="1"/>
          </p:cNvSpPr>
          <p:nvPr>
            <p:ph type="body" sz="quarter" idx="14"/>
          </p:nvPr>
        </p:nvSpPr>
        <p:spPr>
          <a:xfrm>
            <a:off x="1186058" y="2230381"/>
            <a:ext cx="9837271" cy="1862669"/>
          </a:xfrm>
        </p:spPr>
        <p:txBody>
          <a:bodyPr>
            <a:normAutofit/>
          </a:bodyPr>
          <a:lstStyle/>
          <a:p>
            <a:r>
              <a:rPr lang="it-IT" sz="4800">
                <a:solidFill>
                  <a:srgbClr val="10036D"/>
                </a:solidFill>
                <a:latin typeface="Arial" panose="020B0604020202020204" pitchFamily="34" charset="0"/>
              </a:rPr>
              <a:t>Wireless UHF RFID-</a:t>
            </a:r>
            <a:r>
              <a:rPr lang="it-IT" sz="4800" err="1">
                <a:solidFill>
                  <a:srgbClr val="10036D"/>
                </a:solidFill>
                <a:latin typeface="Arial" panose="020B0604020202020204" pitchFamily="34" charset="0"/>
              </a:rPr>
              <a:t>Based</a:t>
            </a:r>
            <a:r>
              <a:rPr lang="it-IT" sz="4800">
                <a:solidFill>
                  <a:srgbClr val="10036D"/>
                </a:solidFill>
                <a:latin typeface="Arial" panose="020B0604020202020204" pitchFamily="34" charset="0"/>
              </a:rPr>
              <a:t> </a:t>
            </a:r>
            <a:r>
              <a:rPr lang="it-IT" sz="4800" err="1">
                <a:solidFill>
                  <a:srgbClr val="10036D"/>
                </a:solidFill>
                <a:latin typeface="Arial" panose="020B0604020202020204" pitchFamily="34" charset="0"/>
              </a:rPr>
              <a:t>Bladder</a:t>
            </a:r>
            <a:r>
              <a:rPr lang="it-IT" sz="4800">
                <a:solidFill>
                  <a:srgbClr val="10036D"/>
                </a:solidFill>
                <a:latin typeface="Arial" panose="020B0604020202020204" pitchFamily="34" charset="0"/>
              </a:rPr>
              <a:t> Pressure Sensor</a:t>
            </a:r>
          </a:p>
        </p:txBody>
      </p:sp>
      <p:sp>
        <p:nvSpPr>
          <p:cNvPr id="13" name="Slide Number Placeholder 3">
            <a:extLst>
              <a:ext uri="{FF2B5EF4-FFF2-40B4-BE49-F238E27FC236}">
                <a16:creationId xmlns:a16="http://schemas.microsoft.com/office/drawing/2014/main" id="{B2BAE768-4E6A-E840-B7B5-4D045C73B34E}"/>
              </a:ext>
            </a:extLst>
          </p:cNvPr>
          <p:cNvSpPr txBox="1">
            <a:spLocks/>
          </p:cNvSpPr>
          <p:nvPr/>
        </p:nvSpPr>
        <p:spPr>
          <a:xfrm>
            <a:off x="287821" y="6381582"/>
            <a:ext cx="2743200" cy="365125"/>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3680A9F2-A430-874E-8228-994E40F61F23}" type="slidenum">
              <a:rPr kumimoji="0" lang="en-US" sz="18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 name="Rettangolo 13">
            <a:extLst>
              <a:ext uri="{FF2B5EF4-FFF2-40B4-BE49-F238E27FC236}">
                <a16:creationId xmlns:a16="http://schemas.microsoft.com/office/drawing/2014/main" id="{7CF159AA-BF05-B546-B125-18E15ECAF26C}"/>
              </a:ext>
            </a:extLst>
          </p:cNvPr>
          <p:cNvSpPr/>
          <p:nvPr/>
        </p:nvSpPr>
        <p:spPr>
          <a:xfrm>
            <a:off x="76199" y="5887092"/>
            <a:ext cx="4963887" cy="9709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5" name="Rectangle 4">
            <a:extLst>
              <a:ext uri="{FF2B5EF4-FFF2-40B4-BE49-F238E27FC236}">
                <a16:creationId xmlns:a16="http://schemas.microsoft.com/office/drawing/2014/main" id="{FB823108-9897-C247-AF0F-D8C27D02E1B6}"/>
              </a:ext>
            </a:extLst>
          </p:cNvPr>
          <p:cNvSpPr txBox="1">
            <a:spLocks noChangeArrowheads="1"/>
          </p:cNvSpPr>
          <p:nvPr/>
        </p:nvSpPr>
        <p:spPr>
          <a:xfrm>
            <a:off x="1697920" y="5214594"/>
            <a:ext cx="2312861" cy="1349881"/>
          </a:xfrm>
          <a:prstGeom prst="rect">
            <a:avLst/>
          </a:prstGeom>
          <a:effectLst>
            <a:outerShdw blurRad="50800" dist="38100" dir="2700000" algn="tl" rotWithShape="0">
              <a:prstClr val="black">
                <a:alpha val="40000"/>
              </a:prstClr>
            </a:outerShdw>
          </a:effectLst>
        </p:spPr>
        <p:txBody>
          <a:bodyPr/>
          <a:lstStyle>
            <a:lvl1pPr algn="r" defTabSz="457200" rtl="0" eaLnBrk="1" latinLnBrk="0" hangingPunct="1">
              <a:spcBef>
                <a:spcPct val="0"/>
              </a:spcBef>
              <a:buNone/>
              <a:defRPr sz="4000" b="1"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err="1">
                <a:ln>
                  <a:noFill/>
                </a:ln>
                <a:solidFill>
                  <a:srgbClr val="0070C0"/>
                </a:solidFill>
                <a:effectLst>
                  <a:outerShdw blurRad="288925" dir="2700000" algn="tl">
                    <a:srgbClr val="DDDDDD"/>
                  </a:outerShdw>
                </a:effectLst>
                <a:uLnTx/>
                <a:uFillTx/>
                <a:latin typeface="Arial" panose="020B0604020202020204" pitchFamily="34" charset="0"/>
                <a:ea typeface="+mj-ea"/>
                <a:cs typeface="Arial" panose="020B0604020202020204" pitchFamily="34" charset="0"/>
              </a:rPr>
              <a:t>L</a:t>
            </a:r>
            <a:r>
              <a:rPr kumimoji="0" lang="en-US" sz="1800" b="1" i="0" u="none" strike="noStrike" kern="1200" cap="none" spc="0" normalizeH="0" baseline="0" noProof="0" err="1">
                <a:ln>
                  <a:noFill/>
                </a:ln>
                <a:solidFill>
                  <a:srgbClr val="002060"/>
                </a:solidFill>
                <a:effectLst>
                  <a:outerShdw blurRad="288925" dir="2700000" algn="tl">
                    <a:srgbClr val="DDDDDD"/>
                  </a:outerShdw>
                </a:effectLst>
                <a:uLnTx/>
                <a:uFillTx/>
                <a:latin typeface="Arial" panose="020B0604020202020204" pitchFamily="34" charset="0"/>
                <a:ea typeface="+mj-ea"/>
                <a:cs typeface="Arial" panose="020B0604020202020204" pitchFamily="34" charset="0"/>
              </a:rPr>
              <a:t>aboratorio</a:t>
            </a:r>
            <a:r>
              <a:rPr kumimoji="0" lang="en-US" sz="1800" b="1" i="0" u="none" strike="noStrike" kern="1200" cap="none" spc="0" normalizeH="0" baseline="0" noProof="0">
                <a:ln>
                  <a:noFill/>
                </a:ln>
                <a:solidFill>
                  <a:srgbClr val="002060"/>
                </a:solidFill>
                <a:effectLst>
                  <a:outerShdw blurRad="288925" dir="2700000" algn="tl">
                    <a:srgbClr val="DDDDDD"/>
                  </a:outerShdw>
                </a:effectLst>
                <a:uLnTx/>
                <a:uFillTx/>
                <a:latin typeface="Arial" panose="020B0604020202020204" pitchFamily="34" charset="0"/>
                <a:ea typeface="+mj-ea"/>
                <a:cs typeface="Arial" panose="020B0604020202020204" pitchFamily="34" charset="0"/>
              </a:rPr>
              <a:t> </a:t>
            </a:r>
          </a:p>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err="1">
                <a:ln>
                  <a:noFill/>
                </a:ln>
                <a:solidFill>
                  <a:srgbClr val="0070C0"/>
                </a:solidFill>
                <a:effectLst>
                  <a:outerShdw blurRad="288925" dir="2700000" algn="tl">
                    <a:srgbClr val="DDDDDD"/>
                  </a:outerShdw>
                </a:effectLst>
                <a:uLnTx/>
                <a:uFillTx/>
                <a:latin typeface="Arial" panose="020B0604020202020204" pitchFamily="34" charset="0"/>
                <a:ea typeface="+mj-ea"/>
                <a:cs typeface="Arial" panose="020B0604020202020204" pitchFamily="34" charset="0"/>
              </a:rPr>
              <a:t>E</a:t>
            </a:r>
            <a:r>
              <a:rPr kumimoji="0" lang="en-US" sz="1800" b="1" i="0" u="none" strike="noStrike" kern="1200" cap="none" spc="0" normalizeH="0" baseline="0" noProof="0" err="1">
                <a:ln>
                  <a:noFill/>
                </a:ln>
                <a:solidFill>
                  <a:srgbClr val="002060"/>
                </a:solidFill>
                <a:effectLst>
                  <a:outerShdw blurRad="288925" dir="2700000" algn="tl">
                    <a:srgbClr val="DDDDDD"/>
                  </a:outerShdw>
                </a:effectLst>
                <a:uLnTx/>
                <a:uFillTx/>
                <a:latin typeface="Arial" panose="020B0604020202020204" pitchFamily="34" charset="0"/>
                <a:ea typeface="+mj-ea"/>
                <a:cs typeface="Arial" panose="020B0604020202020204" pitchFamily="34" charset="0"/>
              </a:rPr>
              <a:t>lettromagnetismo</a:t>
            </a:r>
            <a:r>
              <a:rPr kumimoji="0" lang="en-US" sz="1800" b="1" i="0" u="none" strike="noStrike" kern="1200" cap="none" spc="0" normalizeH="0" baseline="0" noProof="0">
                <a:ln>
                  <a:noFill/>
                </a:ln>
                <a:solidFill>
                  <a:srgbClr val="002060"/>
                </a:solidFill>
                <a:effectLst>
                  <a:outerShdw blurRad="288925" dir="2700000" algn="tl">
                    <a:srgbClr val="DDDDDD"/>
                  </a:outerShdw>
                </a:effectLst>
                <a:uLnTx/>
                <a:uFillTx/>
                <a:latin typeface="Arial" panose="020B0604020202020204" pitchFamily="34" charset="0"/>
                <a:ea typeface="+mj-ea"/>
                <a:cs typeface="Arial" panose="020B0604020202020204" pitchFamily="34" charset="0"/>
              </a:rPr>
              <a:t> </a:t>
            </a:r>
          </a:p>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err="1">
                <a:ln>
                  <a:noFill/>
                </a:ln>
                <a:solidFill>
                  <a:srgbClr val="0070C0"/>
                </a:solidFill>
                <a:effectLst>
                  <a:outerShdw blurRad="288925" dir="2700000" algn="tl">
                    <a:srgbClr val="DDDDDD"/>
                  </a:outerShdw>
                </a:effectLst>
                <a:uLnTx/>
                <a:uFillTx/>
                <a:latin typeface="Arial" panose="020B0604020202020204" pitchFamily="34" charset="0"/>
                <a:ea typeface="+mj-ea"/>
                <a:cs typeface="Arial" panose="020B0604020202020204" pitchFamily="34" charset="0"/>
              </a:rPr>
              <a:t>P</a:t>
            </a:r>
            <a:r>
              <a:rPr kumimoji="0" lang="en-US" sz="1800" b="1" i="0" u="none" strike="noStrike" kern="1200" cap="none" spc="0" normalizeH="0" baseline="0" noProof="0" err="1">
                <a:ln>
                  <a:noFill/>
                </a:ln>
                <a:solidFill>
                  <a:srgbClr val="002060"/>
                </a:solidFill>
                <a:effectLst>
                  <a:outerShdw blurRad="288925" dir="2700000" algn="tl">
                    <a:srgbClr val="DDDDDD"/>
                  </a:outerShdw>
                </a:effectLst>
                <a:uLnTx/>
                <a:uFillTx/>
                <a:latin typeface="Arial" panose="020B0604020202020204" pitchFamily="34" charset="0"/>
                <a:ea typeface="+mj-ea"/>
                <a:cs typeface="Arial" panose="020B0604020202020204" pitchFamily="34" charset="0"/>
              </a:rPr>
              <a:t>ervasivo</a:t>
            </a:r>
            <a:endParaRPr kumimoji="0" lang="en-US" sz="1800" b="1" i="0" u="none" strike="noStrike" kern="1200" cap="none" spc="0" normalizeH="0" baseline="0" noProof="0">
              <a:ln>
                <a:noFill/>
              </a:ln>
              <a:solidFill>
                <a:srgbClr val="002060"/>
              </a:solidFill>
              <a:effectLst>
                <a:outerShdw blurRad="288925" dir="2700000" algn="tl">
                  <a:srgbClr val="DDDDDD"/>
                </a:outerShdw>
              </a:effectLst>
              <a:uLnTx/>
              <a:uFillTx/>
              <a:latin typeface="Arial" panose="020B0604020202020204" pitchFamily="34" charset="0"/>
              <a:ea typeface="+mj-ea"/>
              <a:cs typeface="Arial" panose="020B0604020202020204" pitchFamily="34" charset="0"/>
            </a:endParaRPr>
          </a:p>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Arial" panose="020B0604020202020204" pitchFamily="34" charset="0"/>
              <a:ea typeface="+mj-ea"/>
              <a:cs typeface="Arial" panose="020B0604020202020204" pitchFamily="34" charset="0"/>
            </a:endParaRPr>
          </a:p>
        </p:txBody>
      </p:sp>
      <p:pic>
        <p:nvPicPr>
          <p:cNvPr id="16" name="Immagine 15">
            <a:extLst>
              <a:ext uri="{FF2B5EF4-FFF2-40B4-BE49-F238E27FC236}">
                <a16:creationId xmlns:a16="http://schemas.microsoft.com/office/drawing/2014/main" id="{98B164D0-FF84-F14C-9AF7-00FED4BF6B67}"/>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33329" y="5044235"/>
            <a:ext cx="1340782" cy="1628708"/>
          </a:xfrm>
          <a:prstGeom prst="rect">
            <a:avLst/>
          </a:prstGeom>
        </p:spPr>
      </p:pic>
      <p:sp>
        <p:nvSpPr>
          <p:cNvPr id="8" name="CasellaDiTesto 7">
            <a:extLst>
              <a:ext uri="{FF2B5EF4-FFF2-40B4-BE49-F238E27FC236}">
                <a16:creationId xmlns:a16="http://schemas.microsoft.com/office/drawing/2014/main" id="{9ECA5A61-617F-9846-B258-D62BD53C5F7F}"/>
              </a:ext>
            </a:extLst>
          </p:cNvPr>
          <p:cNvSpPr txBox="1"/>
          <p:nvPr/>
        </p:nvSpPr>
        <p:spPr>
          <a:xfrm>
            <a:off x="3277353" y="576375"/>
            <a:ext cx="5715475" cy="120032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24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Sistemi Wearable e Telemetria Medica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24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A.A 2024-25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2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(progetto di fine corso)</a:t>
            </a:r>
          </a:p>
        </p:txBody>
      </p:sp>
      <p:sp>
        <p:nvSpPr>
          <p:cNvPr id="9" name="CasellaDiTesto 7">
            <a:extLst>
              <a:ext uri="{FF2B5EF4-FFF2-40B4-BE49-F238E27FC236}">
                <a16:creationId xmlns:a16="http://schemas.microsoft.com/office/drawing/2014/main" id="{217ED77A-7079-47BE-941F-2EEF719C7A53}"/>
              </a:ext>
            </a:extLst>
          </p:cNvPr>
          <p:cNvSpPr txBox="1"/>
          <p:nvPr/>
        </p:nvSpPr>
        <p:spPr>
          <a:xfrm>
            <a:off x="5758892" y="4546727"/>
            <a:ext cx="4198585"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Prof.		G. Marrocco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Tutor: 	              Ing. Francesca Nanni</a:t>
            </a:r>
          </a:p>
        </p:txBody>
      </p:sp>
      <p:sp>
        <p:nvSpPr>
          <p:cNvPr id="2" name="CasellaDiTesto 1">
            <a:extLst>
              <a:ext uri="{FF2B5EF4-FFF2-40B4-BE49-F238E27FC236}">
                <a16:creationId xmlns:a16="http://schemas.microsoft.com/office/drawing/2014/main" id="{065BADD5-A863-ABDD-9A98-42A92C41671B}"/>
              </a:ext>
            </a:extLst>
          </p:cNvPr>
          <p:cNvSpPr txBox="1"/>
          <p:nvPr/>
        </p:nvSpPr>
        <p:spPr>
          <a:xfrm>
            <a:off x="5140340" y="3769884"/>
            <a:ext cx="1911320" cy="646331"/>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3600" b="1" i="0" u="none" strike="noStrike" kern="1200" cap="none" spc="0" normalizeH="0" baseline="0" noProof="0">
                <a:ln>
                  <a:noFill/>
                </a:ln>
                <a:solidFill>
                  <a:srgbClr val="44546A"/>
                </a:solidFill>
                <a:effectLst/>
                <a:uLnTx/>
                <a:uFillTx/>
                <a:latin typeface="Arial" panose="020B0604020202020204" pitchFamily="34" charset="0"/>
                <a:ea typeface="+mn-ea"/>
                <a:cs typeface="Arial" panose="020B0604020202020204" pitchFamily="34" charset="0"/>
              </a:rPr>
              <a:t>TASK 2</a:t>
            </a:r>
          </a:p>
        </p:txBody>
      </p:sp>
    </p:spTree>
    <p:extLst>
      <p:ext uri="{BB962C8B-B14F-4D97-AF65-F5344CB8AC3E}">
        <p14:creationId xmlns:p14="http://schemas.microsoft.com/office/powerpoint/2010/main" val="1173141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11829-4924-A09C-C987-BE21475F5B69}"/>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FE5F7317-6701-8859-8339-3A6DA52A75B5}"/>
              </a:ext>
            </a:extLst>
          </p:cNvPr>
          <p:cNvSpPr>
            <a:spLocks noGrp="1"/>
          </p:cNvSpPr>
          <p:nvPr>
            <p:ph type="title"/>
          </p:nvPr>
        </p:nvSpPr>
        <p:spPr>
          <a:xfrm>
            <a:off x="1091380" y="371664"/>
            <a:ext cx="10906546" cy="853536"/>
          </a:xfrm>
        </p:spPr>
        <p:txBody>
          <a:bodyPr>
            <a:noAutofit/>
          </a:bodyPr>
          <a:lstStyle/>
          <a:p>
            <a:r>
              <a:rPr lang="it-IT" sz="3600" err="1">
                <a:latin typeface="Arial" panose="020B0604020202020204" pitchFamily="34" charset="0"/>
              </a:rPr>
              <a:t>Physical</a:t>
            </a:r>
            <a:r>
              <a:rPr lang="it-IT" sz="3600">
                <a:latin typeface="Arial" panose="020B0604020202020204" pitchFamily="34" charset="0"/>
              </a:rPr>
              <a:t> </a:t>
            </a:r>
            <a:r>
              <a:rPr lang="it-IT" sz="3600" err="1">
                <a:latin typeface="Arial" panose="020B0604020202020204" pitchFamily="34" charset="0"/>
              </a:rPr>
              <a:t>Insights</a:t>
            </a:r>
            <a:r>
              <a:rPr lang="it-IT" sz="3600">
                <a:latin typeface="Arial" panose="020B0604020202020204" pitchFamily="34" charset="0"/>
              </a:rPr>
              <a:t> </a:t>
            </a:r>
            <a:r>
              <a:rPr lang="it-IT" sz="3600" err="1">
                <a:latin typeface="Arial" panose="020B0604020202020204" pitchFamily="34" charset="0"/>
              </a:rPr>
              <a:t>into</a:t>
            </a:r>
            <a:r>
              <a:rPr lang="it-IT" sz="3600">
                <a:latin typeface="Arial" panose="020B0604020202020204" pitchFamily="34" charset="0"/>
              </a:rPr>
              <a:t> </a:t>
            </a:r>
            <a:r>
              <a:rPr lang="it-IT" sz="3600" err="1">
                <a:latin typeface="Arial" panose="020B0604020202020204" pitchFamily="34" charset="0"/>
              </a:rPr>
              <a:t>Electromagnetic</a:t>
            </a:r>
            <a:r>
              <a:rPr lang="it-IT" sz="3600">
                <a:latin typeface="Arial" panose="020B0604020202020204" pitchFamily="34" charset="0"/>
              </a:rPr>
              <a:t> </a:t>
            </a:r>
            <a:r>
              <a:rPr lang="it-IT" sz="3600" err="1">
                <a:latin typeface="Arial" panose="020B0604020202020204" pitchFamily="34" charset="0"/>
              </a:rPr>
              <a:t>Efficiency</a:t>
            </a:r>
            <a:r>
              <a:rPr lang="it-IT" sz="3600">
                <a:latin typeface="Arial" panose="020B0604020202020204" pitchFamily="34" charset="0"/>
              </a:rPr>
              <a:t> of Wireless </a:t>
            </a:r>
            <a:r>
              <a:rPr lang="it-IT" sz="3600" err="1">
                <a:latin typeface="Arial" panose="020B0604020202020204" pitchFamily="34" charset="0"/>
              </a:rPr>
              <a:t>Implantable</a:t>
            </a:r>
            <a:r>
              <a:rPr lang="it-IT" sz="3600">
                <a:latin typeface="Arial" panose="020B0604020202020204" pitchFamily="34" charset="0"/>
              </a:rPr>
              <a:t> </a:t>
            </a:r>
            <a:r>
              <a:rPr lang="it-IT" sz="3600" err="1">
                <a:latin typeface="Arial" panose="020B0604020202020204" pitchFamily="34" charset="0"/>
              </a:rPr>
              <a:t>Bioelectronics</a:t>
            </a:r>
            <a:r>
              <a:rPr lang="it-IT" sz="3600">
                <a:latin typeface="Arial" panose="020B0604020202020204" pitchFamily="34" charset="0"/>
              </a:rPr>
              <a:t> </a:t>
            </a:r>
            <a:br>
              <a:rPr lang="it-IT" sz="2800">
                <a:latin typeface="Arial" panose="020B0604020202020204" pitchFamily="34" charset="0"/>
              </a:rPr>
            </a:br>
            <a:r>
              <a:rPr lang="it-IT" sz="1800" err="1">
                <a:solidFill>
                  <a:schemeClr val="tx1"/>
                </a:solidFill>
                <a:latin typeface="Arial" panose="020B0604020202020204" pitchFamily="34" charset="0"/>
              </a:rPr>
              <a:t>Mingxiang</a:t>
            </a:r>
            <a:r>
              <a:rPr lang="it-IT" sz="1800">
                <a:solidFill>
                  <a:schemeClr val="tx1"/>
                </a:solidFill>
                <a:latin typeface="Arial" panose="020B0604020202020204" pitchFamily="34" charset="0"/>
              </a:rPr>
              <a:t> Gao, </a:t>
            </a:r>
            <a:r>
              <a:rPr lang="it-IT" sz="1800" err="1">
                <a:solidFill>
                  <a:schemeClr val="tx1"/>
                </a:solidFill>
                <a:latin typeface="Arial" panose="020B0604020202020204" pitchFamily="34" charset="0"/>
              </a:rPr>
              <a:t>Denys</a:t>
            </a:r>
            <a:r>
              <a:rPr lang="it-IT" sz="1800">
                <a:solidFill>
                  <a:schemeClr val="tx1"/>
                </a:solidFill>
                <a:latin typeface="Arial" panose="020B0604020202020204" pitchFamily="34" charset="0"/>
              </a:rPr>
              <a:t> </a:t>
            </a:r>
            <a:r>
              <a:rPr lang="it-IT" sz="1800" err="1">
                <a:solidFill>
                  <a:schemeClr val="tx1"/>
                </a:solidFill>
                <a:latin typeface="Arial" panose="020B0604020202020204" pitchFamily="34" charset="0"/>
              </a:rPr>
              <a:t>Nikolayev</a:t>
            </a:r>
            <a:r>
              <a:rPr lang="it-IT" sz="1800">
                <a:solidFill>
                  <a:schemeClr val="tx1"/>
                </a:solidFill>
                <a:latin typeface="Arial" panose="020B0604020202020204" pitchFamily="34" charset="0"/>
              </a:rPr>
              <a:t>, Zvonimir </a:t>
            </a:r>
            <a:r>
              <a:rPr lang="it-IT" sz="1800" err="1">
                <a:solidFill>
                  <a:schemeClr val="tx1"/>
                </a:solidFill>
                <a:latin typeface="Arial" panose="020B0604020202020204" pitchFamily="34" charset="0"/>
              </a:rPr>
              <a:t>Sipus</a:t>
            </a:r>
            <a:r>
              <a:rPr lang="it-IT" sz="1800">
                <a:solidFill>
                  <a:schemeClr val="tx1"/>
                </a:solidFill>
                <a:latin typeface="Arial" panose="020B0604020202020204" pitchFamily="34" charset="0"/>
              </a:rPr>
              <a:t>, and </a:t>
            </a:r>
            <a:r>
              <a:rPr lang="it-IT" sz="1800" err="1">
                <a:solidFill>
                  <a:schemeClr val="tx1"/>
                </a:solidFill>
                <a:latin typeface="Arial" panose="020B0604020202020204" pitchFamily="34" charset="0"/>
              </a:rPr>
              <a:t>Anja</a:t>
            </a:r>
            <a:r>
              <a:rPr lang="it-IT" sz="1800">
                <a:solidFill>
                  <a:schemeClr val="tx1"/>
                </a:solidFill>
                <a:latin typeface="Arial" panose="020B0604020202020204" pitchFamily="34" charset="0"/>
              </a:rPr>
              <a:t> K. </a:t>
            </a:r>
            <a:r>
              <a:rPr lang="it-IT" sz="1800" err="1">
                <a:solidFill>
                  <a:schemeClr val="tx1"/>
                </a:solidFill>
                <a:latin typeface="Arial" panose="020B0604020202020204" pitchFamily="34" charset="0"/>
              </a:rPr>
              <a:t>Skrivervik</a:t>
            </a:r>
            <a:endParaRPr lang="en-US" sz="3200">
              <a:solidFill>
                <a:schemeClr val="tx1"/>
              </a:solidFill>
              <a:latin typeface="Arial" panose="020B0604020202020204" pitchFamily="34" charset="0"/>
            </a:endParaRPr>
          </a:p>
        </p:txBody>
      </p:sp>
      <p:sp>
        <p:nvSpPr>
          <p:cNvPr id="12" name="Content Placeholder 2">
            <a:extLst>
              <a:ext uri="{FF2B5EF4-FFF2-40B4-BE49-F238E27FC236}">
                <a16:creationId xmlns:a16="http://schemas.microsoft.com/office/drawing/2014/main" id="{13751040-3F3A-D2B4-9B18-686E6216A5FA}"/>
              </a:ext>
            </a:extLst>
          </p:cNvPr>
          <p:cNvSpPr>
            <a:spLocks noGrp="1"/>
          </p:cNvSpPr>
          <p:nvPr>
            <p:ph sz="half" idx="1"/>
          </p:nvPr>
        </p:nvSpPr>
        <p:spPr>
          <a:xfrm>
            <a:off x="440888" y="1781650"/>
            <a:ext cx="5488858" cy="4436653"/>
          </a:xfrm>
        </p:spPr>
        <p:txBody>
          <a:bodyPr>
            <a:normAutofit fontScale="92500" lnSpcReduction="20000"/>
          </a:bodyPr>
          <a:lstStyle/>
          <a:p>
            <a:pPr marL="0" indent="0" algn="ctr">
              <a:buNone/>
            </a:pPr>
            <a:r>
              <a:rPr lang="en-US" b="1">
                <a:solidFill>
                  <a:schemeClr val="tx2"/>
                </a:solidFill>
                <a:latin typeface="Times New Roman" panose="02020603050405020304" pitchFamily="18" charset="0"/>
                <a:cs typeface="Times New Roman" panose="02020603050405020304" pitchFamily="18" charset="0"/>
              </a:rPr>
              <a:t>Hypothesis</a:t>
            </a:r>
          </a:p>
          <a:p>
            <a:pPr marL="0" indent="0" algn="ctr">
              <a:buNone/>
            </a:pPr>
            <a:endParaRPr lang="en-US" b="1">
              <a:solidFill>
                <a:schemeClr val="tx2"/>
              </a:solidFill>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1800">
                <a:latin typeface="Times New Roman" panose="02020603050405020304" pitchFamily="18" charset="0"/>
                <a:cs typeface="Times New Roman" panose="02020603050405020304" pitchFamily="18" charset="0"/>
              </a:rPr>
              <a:t>Properties of body tissue are assumed isotropic, nonmagnetic (permeability </a:t>
            </a:r>
            <a:r>
              <a:rPr lang="el-GR" sz="1800">
                <a:latin typeface="Times New Roman" panose="02020603050405020304" pitchFamily="18" charset="0"/>
                <a:cs typeface="Times New Roman" panose="02020603050405020304" pitchFamily="18" charset="0"/>
              </a:rPr>
              <a:t>μ</a:t>
            </a:r>
            <a:r>
              <a:rPr lang="it-IT" sz="1200">
                <a:latin typeface="Times New Roman" panose="02020603050405020304" pitchFamily="18" charset="0"/>
                <a:cs typeface="Times New Roman" panose="02020603050405020304" pitchFamily="18" charset="0"/>
              </a:rPr>
              <a:t>body</a:t>
            </a:r>
            <a:r>
              <a:rPr lang="it-IT" sz="1800">
                <a:latin typeface="Times New Roman" panose="02020603050405020304" pitchFamily="18" charset="0"/>
                <a:cs typeface="Times New Roman" panose="02020603050405020304" pitchFamily="18" charset="0"/>
              </a:rPr>
              <a:t>=</a:t>
            </a:r>
            <a:r>
              <a:rPr lang="el-GR" sz="1800">
                <a:latin typeface="Times New Roman" panose="02020603050405020304" pitchFamily="18" charset="0"/>
                <a:cs typeface="Times New Roman" panose="02020603050405020304" pitchFamily="18" charset="0"/>
              </a:rPr>
              <a:t> μ</a:t>
            </a:r>
            <a:r>
              <a:rPr lang="it-IT" sz="1200">
                <a:latin typeface="Times New Roman" panose="02020603050405020304" pitchFamily="18" charset="0"/>
                <a:cs typeface="Times New Roman" panose="02020603050405020304" pitchFamily="18" charset="0"/>
              </a:rPr>
              <a:t>0</a:t>
            </a:r>
            <a:r>
              <a:rPr lang="it-IT" sz="1800">
                <a:latin typeface="Times New Roman" panose="02020603050405020304" pitchFamily="18" charset="0"/>
                <a:cs typeface="Times New Roman" panose="02020603050405020304" pitchFamily="18" charset="0"/>
              </a:rPr>
              <a:t>) and linear, i.e., E-</a:t>
            </a:r>
            <a:r>
              <a:rPr lang="it-IT" sz="1800" err="1">
                <a:latin typeface="Times New Roman" panose="02020603050405020304" pitchFamily="18" charset="0"/>
                <a:cs typeface="Times New Roman" panose="02020603050405020304" pitchFamily="18" charset="0"/>
              </a:rPr>
              <a:t>field</a:t>
            </a:r>
            <a:r>
              <a:rPr lang="it-IT" sz="1800">
                <a:latin typeface="Times New Roman" panose="02020603050405020304" pitchFamily="18" charset="0"/>
                <a:cs typeface="Times New Roman" panose="02020603050405020304" pitchFamily="18" charset="0"/>
              </a:rPr>
              <a:t> </a:t>
            </a:r>
            <a:r>
              <a:rPr lang="it-IT" sz="1800" err="1">
                <a:latin typeface="Times New Roman" panose="02020603050405020304" pitchFamily="18" charset="0"/>
                <a:cs typeface="Times New Roman" panose="02020603050405020304" pitchFamily="18" charset="0"/>
              </a:rPr>
              <a:t>amplitude</a:t>
            </a:r>
            <a:r>
              <a:rPr lang="it-IT" sz="1800">
                <a:latin typeface="Times New Roman" panose="02020603050405020304" pitchFamily="18" charset="0"/>
                <a:cs typeface="Times New Roman" panose="02020603050405020304" pitchFamily="18" charset="0"/>
              </a:rPr>
              <a:t> </a:t>
            </a:r>
            <a:r>
              <a:rPr lang="it-IT" sz="1800" err="1">
                <a:latin typeface="Times New Roman" panose="02020603050405020304" pitchFamily="18" charset="0"/>
                <a:cs typeface="Times New Roman" panose="02020603050405020304" pitchFamily="18" charset="0"/>
              </a:rPr>
              <a:t>does</a:t>
            </a:r>
            <a:r>
              <a:rPr lang="it-IT" sz="1800">
                <a:latin typeface="Times New Roman" panose="02020603050405020304" pitchFamily="18" charset="0"/>
                <a:cs typeface="Times New Roman" panose="02020603050405020304" pitchFamily="18" charset="0"/>
              </a:rPr>
              <a:t> </a:t>
            </a:r>
            <a:r>
              <a:rPr lang="it-IT" sz="1800" err="1">
                <a:latin typeface="Times New Roman" panose="02020603050405020304" pitchFamily="18" charset="0"/>
                <a:cs typeface="Times New Roman" panose="02020603050405020304" pitchFamily="18" charset="0"/>
              </a:rPr>
              <a:t>not</a:t>
            </a:r>
            <a:r>
              <a:rPr lang="it-IT" sz="1800">
                <a:latin typeface="Times New Roman" panose="02020603050405020304" pitchFamily="18" charset="0"/>
                <a:cs typeface="Times New Roman" panose="02020603050405020304" pitchFamily="18" charset="0"/>
              </a:rPr>
              <a:t> </a:t>
            </a:r>
            <a:r>
              <a:rPr lang="it-IT" sz="1800" err="1">
                <a:latin typeface="Times New Roman" panose="02020603050405020304" pitchFamily="18" charset="0"/>
                <a:cs typeface="Times New Roman" panose="02020603050405020304" pitchFamily="18" charset="0"/>
              </a:rPr>
              <a:t>affect</a:t>
            </a:r>
            <a:r>
              <a:rPr lang="it-IT" sz="1800">
                <a:latin typeface="Times New Roman" panose="02020603050405020304" pitchFamily="18" charset="0"/>
                <a:cs typeface="Times New Roman" panose="02020603050405020304" pitchFamily="18" charset="0"/>
              </a:rPr>
              <a:t> </a:t>
            </a:r>
            <a:r>
              <a:rPr lang="el-GR" sz="1800">
                <a:latin typeface="Times New Roman" panose="02020603050405020304" pitchFamily="18" charset="0"/>
                <a:cs typeface="Times New Roman" panose="02020603050405020304" pitchFamily="18" charset="0"/>
              </a:rPr>
              <a:t>ε</a:t>
            </a:r>
            <a:r>
              <a:rPr lang="it-IT" sz="1800">
                <a:latin typeface="Times New Roman" panose="02020603050405020304" pitchFamily="18" charset="0"/>
                <a:cs typeface="Times New Roman" panose="02020603050405020304" pitchFamily="18" charset="0"/>
              </a:rPr>
              <a:t>.</a:t>
            </a:r>
          </a:p>
          <a:p>
            <a:pPr marL="514350" indent="-514350" algn="just">
              <a:buFont typeface="+mj-lt"/>
              <a:buAutoNum type="arabicPeriod"/>
            </a:pPr>
            <a:r>
              <a:rPr lang="en-US" sz="1800">
                <a:latin typeface="Times New Roman" panose="02020603050405020304" pitchFamily="18" charset="0"/>
                <a:cs typeface="Times New Roman" panose="02020603050405020304" pitchFamily="18" charset="0"/>
              </a:rPr>
              <a:t>Source TE o TM surrounded by radius sphere </a:t>
            </a:r>
            <a:r>
              <a:rPr lang="en-US" sz="1800" err="1">
                <a:latin typeface="Times New Roman" panose="02020603050405020304" pitchFamily="18" charset="0"/>
                <a:cs typeface="Times New Roman" panose="02020603050405020304" pitchFamily="18" charset="0"/>
              </a:rPr>
              <a:t>r</a:t>
            </a:r>
            <a:r>
              <a:rPr lang="en-US" sz="1400" err="1">
                <a:latin typeface="Times New Roman" panose="02020603050405020304" pitchFamily="18" charset="0"/>
                <a:cs typeface="Times New Roman" panose="02020603050405020304" pitchFamily="18" charset="0"/>
              </a:rPr>
              <a:t>impl</a:t>
            </a:r>
            <a:r>
              <a:rPr lang="en-US" sz="1400">
                <a:latin typeface="Times New Roman" panose="02020603050405020304" pitchFamily="18" charset="0"/>
                <a:cs typeface="Times New Roman" panose="02020603050405020304" pitchFamily="18" charset="0"/>
              </a:rPr>
              <a:t>.</a:t>
            </a:r>
          </a:p>
          <a:p>
            <a:pPr marL="514350" indent="-514350" algn="just">
              <a:buFont typeface="+mj-lt"/>
              <a:buAutoNum type="arabicPeriod"/>
            </a:pPr>
            <a:r>
              <a:rPr lang="en-US" sz="1800">
                <a:latin typeface="Times New Roman" panose="02020603050405020304" pitchFamily="18" charset="0"/>
                <a:cs typeface="Times New Roman" panose="02020603050405020304" pitchFamily="18" charset="0"/>
              </a:rPr>
              <a:t>Antenna matching has been adeptly executed by the antenna engineer.</a:t>
            </a:r>
          </a:p>
          <a:p>
            <a:pPr marL="514350" indent="-514350" algn="just">
              <a:buFont typeface="+mj-lt"/>
              <a:buAutoNum type="arabicPeriod"/>
            </a:pPr>
            <a:r>
              <a:rPr lang="en-US" sz="1800">
                <a:latin typeface="Times New Roman" panose="02020603050405020304" pitchFamily="18" charset="0"/>
                <a:cs typeface="Times New Roman" panose="02020603050405020304" pitchFamily="18" charset="0"/>
              </a:rPr>
              <a:t>The </a:t>
            </a:r>
            <a:r>
              <a:rPr lang="en-US" sz="1800" err="1">
                <a:latin typeface="Times New Roman" panose="02020603050405020304" pitchFamily="18" charset="0"/>
                <a:cs typeface="Times New Roman" panose="02020603050405020304" pitchFamily="18" charset="0"/>
              </a:rPr>
              <a:t>ohimic</a:t>
            </a:r>
            <a:r>
              <a:rPr lang="en-US" sz="1800">
                <a:latin typeface="Times New Roman" panose="02020603050405020304" pitchFamily="18" charset="0"/>
                <a:cs typeface="Times New Roman" panose="02020603050405020304" pitchFamily="18" charset="0"/>
              </a:rPr>
              <a:t> loss is not considered in  the modeling because we regard the antenna mismatch losses as insignificant in comparison to the other losses investigated in this study.</a:t>
            </a:r>
          </a:p>
          <a:p>
            <a:pPr marL="514350" indent="-514350" algn="just">
              <a:buFont typeface="+mj-lt"/>
              <a:buAutoNum type="arabicPeriod"/>
            </a:pPr>
            <a:r>
              <a:rPr lang="en-US" sz="1800">
                <a:latin typeface="Times New Roman" panose="02020603050405020304" pitchFamily="18" charset="0"/>
                <a:cs typeface="Times New Roman" panose="02020603050405020304" pitchFamily="18" charset="0"/>
              </a:rPr>
              <a:t>If </a:t>
            </a:r>
            <a:r>
              <a:rPr lang="en-US" sz="1800" err="1">
                <a:latin typeface="Times New Roman" panose="02020603050405020304" pitchFamily="18" charset="0"/>
                <a:cs typeface="Times New Roman" panose="02020603050405020304" pitchFamily="18" charset="0"/>
              </a:rPr>
              <a:t>r</a:t>
            </a:r>
            <a:r>
              <a:rPr lang="en-US" sz="1200" err="1">
                <a:latin typeface="Times New Roman" panose="02020603050405020304" pitchFamily="18" charset="0"/>
                <a:cs typeface="Times New Roman" panose="02020603050405020304" pitchFamily="18" charset="0"/>
              </a:rPr>
              <a:t>impl</a:t>
            </a:r>
            <a:r>
              <a:rPr lang="en-US" sz="1800">
                <a:latin typeface="Times New Roman" panose="02020603050405020304" pitchFamily="18" charset="0"/>
                <a:cs typeface="Times New Roman" panose="02020603050405020304" pitchFamily="18" charset="0"/>
              </a:rPr>
              <a:t>&lt;&lt; </a:t>
            </a:r>
            <a:r>
              <a:rPr lang="en-US" sz="1800" err="1">
                <a:latin typeface="Times New Roman" panose="02020603050405020304" pitchFamily="18" charset="0"/>
                <a:cs typeface="Times New Roman" panose="02020603050405020304" pitchFamily="18" charset="0"/>
              </a:rPr>
              <a:t>λ</a:t>
            </a:r>
            <a:r>
              <a:rPr lang="en-US" sz="1200" err="1">
                <a:latin typeface="Times New Roman" panose="02020603050405020304" pitchFamily="18" charset="0"/>
                <a:cs typeface="Times New Roman" panose="02020603050405020304" pitchFamily="18" charset="0"/>
              </a:rPr>
              <a:t>body</a:t>
            </a:r>
            <a:r>
              <a:rPr lang="en-US" sz="1200">
                <a:latin typeface="Times New Roman" panose="02020603050405020304" pitchFamily="18" charset="0"/>
                <a:cs typeface="Times New Roman" panose="02020603050405020304" pitchFamily="18" charset="0"/>
              </a:rPr>
              <a:t> </a:t>
            </a:r>
            <a:r>
              <a:rPr lang="en-US" sz="1800">
                <a:latin typeface="Times New Roman" panose="02020603050405020304" pitchFamily="18" charset="0"/>
                <a:cs typeface="Times New Roman" panose="02020603050405020304" pitchFamily="18" charset="0"/>
              </a:rPr>
              <a:t>and the implantation site is surrounded by thin layers </a:t>
            </a:r>
            <a:r>
              <a:rPr lang="en-US" sz="1800">
                <a:latin typeface="Times New Roman" panose="02020603050405020304" pitchFamily="18" charset="0"/>
                <a:cs typeface="Times New Roman" panose="02020603050405020304" pitchFamily="18" charset="0"/>
                <a:sym typeface="Wingdings" panose="05000000000000000000" pitchFamily="2" charset="2"/>
              </a:rPr>
              <a:t> them have no significant effect on </a:t>
            </a:r>
            <a:r>
              <a:rPr lang="el-GR" sz="1800">
                <a:latin typeface="Times New Roman" panose="02020603050405020304" pitchFamily="18" charset="0"/>
                <a:cs typeface="Times New Roman" panose="02020603050405020304" pitchFamily="18" charset="0"/>
                <a:sym typeface="Wingdings" panose="05000000000000000000" pitchFamily="2" charset="2"/>
              </a:rPr>
              <a:t>η</a:t>
            </a:r>
            <a:r>
              <a:rPr lang="it-IT" sz="1200" err="1">
                <a:latin typeface="Times New Roman" panose="02020603050405020304" pitchFamily="18" charset="0"/>
                <a:cs typeface="Times New Roman" panose="02020603050405020304" pitchFamily="18" charset="0"/>
                <a:sym typeface="Wingdings" panose="05000000000000000000" pitchFamily="2" charset="2"/>
              </a:rPr>
              <a:t>total</a:t>
            </a:r>
            <a:r>
              <a:rPr lang="it-IT" sz="1200">
                <a:latin typeface="Times New Roman" panose="02020603050405020304" pitchFamily="18" charset="0"/>
                <a:cs typeface="Times New Roman" panose="02020603050405020304" pitchFamily="18" charset="0"/>
                <a:sym typeface="Wingdings" panose="05000000000000000000" pitchFamily="2" charset="2"/>
              </a:rPr>
              <a:t>. </a:t>
            </a:r>
          </a:p>
          <a:p>
            <a:pPr marL="514350" indent="-514350" algn="just">
              <a:buFont typeface="+mj-lt"/>
              <a:buAutoNum type="arabicPeriod"/>
            </a:pPr>
            <a:r>
              <a:rPr lang="it-IT" sz="1800" err="1">
                <a:latin typeface="Times New Roman" panose="02020603050405020304" pitchFamily="18" charset="0"/>
                <a:cs typeface="Times New Roman" panose="02020603050405020304" pitchFamily="18" charset="0"/>
                <a:sym typeface="Wingdings" panose="05000000000000000000" pitchFamily="2" charset="2"/>
              </a:rPr>
              <a:t>Centered</a:t>
            </a:r>
            <a:r>
              <a:rPr lang="it-IT" sz="1800">
                <a:latin typeface="Times New Roman" panose="02020603050405020304" pitchFamily="18" charset="0"/>
                <a:cs typeface="Times New Roman" panose="02020603050405020304" pitchFamily="18" charset="0"/>
                <a:sym typeface="Wingdings" panose="05000000000000000000" pitchFamily="2" charset="2"/>
              </a:rPr>
              <a:t> source and </a:t>
            </a:r>
            <a:r>
              <a:rPr lang="it-IT" sz="1800" err="1">
                <a:latin typeface="Times New Roman" panose="02020603050405020304" pitchFamily="18" charset="0"/>
                <a:cs typeface="Times New Roman" panose="02020603050405020304" pitchFamily="18" charset="0"/>
                <a:sym typeface="Wingdings" panose="05000000000000000000" pitchFamily="2" charset="2"/>
              </a:rPr>
              <a:t>spherical</a:t>
            </a:r>
            <a:r>
              <a:rPr lang="it-IT" sz="1800">
                <a:latin typeface="Times New Roman" panose="02020603050405020304" pitchFamily="18" charset="0"/>
                <a:cs typeface="Times New Roman" panose="02020603050405020304" pitchFamily="18" charset="0"/>
                <a:sym typeface="Wingdings" panose="05000000000000000000" pitchFamily="2" charset="2"/>
              </a:rPr>
              <a:t> </a:t>
            </a:r>
            <a:r>
              <a:rPr lang="it-IT" sz="1800" err="1">
                <a:latin typeface="Times New Roman" panose="02020603050405020304" pitchFamily="18" charset="0"/>
                <a:cs typeface="Times New Roman" panose="02020603050405020304" pitchFamily="18" charset="0"/>
                <a:sym typeface="Wingdings" panose="05000000000000000000" pitchFamily="2" charset="2"/>
              </a:rPr>
              <a:t>symmetry</a:t>
            </a:r>
            <a:r>
              <a:rPr lang="it-IT" sz="1800">
                <a:latin typeface="Times New Roman" panose="02020603050405020304" pitchFamily="18" charset="0"/>
                <a:cs typeface="Times New Roman" panose="02020603050405020304" pitchFamily="18" charset="0"/>
                <a:sym typeface="Wingdings" panose="05000000000000000000" pitchFamily="2" charset="2"/>
              </a:rPr>
              <a:t> of the model.</a:t>
            </a:r>
            <a:endParaRPr lang="it-IT" sz="1600">
              <a:latin typeface="Times New Roman" panose="02020603050405020304" pitchFamily="18" charset="0"/>
              <a:cs typeface="Times New Roman" panose="02020603050405020304" pitchFamily="18" charset="0"/>
            </a:endParaRPr>
          </a:p>
        </p:txBody>
      </p:sp>
      <p:pic>
        <p:nvPicPr>
          <p:cNvPr id="3" name="Immagine 2">
            <a:extLst>
              <a:ext uri="{FF2B5EF4-FFF2-40B4-BE49-F238E27FC236}">
                <a16:creationId xmlns:a16="http://schemas.microsoft.com/office/drawing/2014/main" id="{05475A6B-9D98-56B9-E1BE-D8C6EDA53B24}"/>
              </a:ext>
            </a:extLst>
          </p:cNvPr>
          <p:cNvPicPr>
            <a:picLocks noChangeAspect="1"/>
          </p:cNvPicPr>
          <p:nvPr/>
        </p:nvPicPr>
        <p:blipFill>
          <a:blip r:embed="rId2"/>
          <a:stretch>
            <a:fillRect/>
          </a:stretch>
        </p:blipFill>
        <p:spPr>
          <a:xfrm>
            <a:off x="6172200" y="2149565"/>
            <a:ext cx="6027942" cy="3558848"/>
          </a:xfrm>
          <a:prstGeom prst="rect">
            <a:avLst/>
          </a:prstGeom>
        </p:spPr>
      </p:pic>
      <p:sp>
        <p:nvSpPr>
          <p:cNvPr id="6" name="Rettangolo 5">
            <a:extLst>
              <a:ext uri="{FF2B5EF4-FFF2-40B4-BE49-F238E27FC236}">
                <a16:creationId xmlns:a16="http://schemas.microsoft.com/office/drawing/2014/main" id="{3DA022B5-C751-95C4-0BDF-24A7C89F70F3}"/>
              </a:ext>
            </a:extLst>
          </p:cNvPr>
          <p:cNvSpPr/>
          <p:nvPr/>
        </p:nvSpPr>
        <p:spPr>
          <a:xfrm>
            <a:off x="6346209" y="2306472"/>
            <a:ext cx="457200" cy="3207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Rettangolo 6">
            <a:extLst>
              <a:ext uri="{FF2B5EF4-FFF2-40B4-BE49-F238E27FC236}">
                <a16:creationId xmlns:a16="http://schemas.microsoft.com/office/drawing/2014/main" id="{CF6459DA-55AD-9D7E-89F7-168B2470561F}"/>
              </a:ext>
            </a:extLst>
          </p:cNvPr>
          <p:cNvSpPr/>
          <p:nvPr/>
        </p:nvSpPr>
        <p:spPr>
          <a:xfrm>
            <a:off x="9630543" y="2339198"/>
            <a:ext cx="313557"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Rettangolo 7">
            <a:extLst>
              <a:ext uri="{FF2B5EF4-FFF2-40B4-BE49-F238E27FC236}">
                <a16:creationId xmlns:a16="http://schemas.microsoft.com/office/drawing/2014/main" id="{A54AC9E3-4BED-20D3-5241-54C984020DD6}"/>
              </a:ext>
            </a:extLst>
          </p:cNvPr>
          <p:cNvSpPr/>
          <p:nvPr/>
        </p:nvSpPr>
        <p:spPr>
          <a:xfrm>
            <a:off x="9715500" y="2552700"/>
            <a:ext cx="18288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Rettangolo 8">
            <a:extLst>
              <a:ext uri="{FF2B5EF4-FFF2-40B4-BE49-F238E27FC236}">
                <a16:creationId xmlns:a16="http://schemas.microsoft.com/office/drawing/2014/main" id="{70866BBD-1A58-EB95-1A77-3C3DA85970AD}"/>
              </a:ext>
            </a:extLst>
          </p:cNvPr>
          <p:cNvSpPr/>
          <p:nvPr/>
        </p:nvSpPr>
        <p:spPr>
          <a:xfrm>
            <a:off x="9690735" y="3933825"/>
            <a:ext cx="236220" cy="2514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834128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ttangolo con angoli arrotondati 15">
            <a:extLst>
              <a:ext uri="{FF2B5EF4-FFF2-40B4-BE49-F238E27FC236}">
                <a16:creationId xmlns:a16="http://schemas.microsoft.com/office/drawing/2014/main" id="{6202C46F-BA5C-3FF2-28ED-EBFBCAC62DB2}"/>
              </a:ext>
            </a:extLst>
          </p:cNvPr>
          <p:cNvSpPr/>
          <p:nvPr/>
        </p:nvSpPr>
        <p:spPr>
          <a:xfrm>
            <a:off x="192269" y="3164136"/>
            <a:ext cx="3588775" cy="1411456"/>
          </a:xfrm>
          <a:prstGeom prst="roundRect">
            <a:avLst/>
          </a:prstGeom>
          <a:ln w="19050"/>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magine 17">
            <a:extLst>
              <a:ext uri="{FF2B5EF4-FFF2-40B4-BE49-F238E27FC236}">
                <a16:creationId xmlns:a16="http://schemas.microsoft.com/office/drawing/2014/main" id="{A08D1E4B-8C8C-D6D0-C1D2-74BB538AF377}"/>
              </a:ext>
            </a:extLst>
          </p:cNvPr>
          <p:cNvPicPr>
            <a:picLocks noChangeAspect="1"/>
          </p:cNvPicPr>
          <p:nvPr/>
        </p:nvPicPr>
        <p:blipFill>
          <a:blip r:embed="rId2"/>
          <a:srcRect l="4325"/>
          <a:stretch/>
        </p:blipFill>
        <p:spPr>
          <a:xfrm>
            <a:off x="275246" y="3391312"/>
            <a:ext cx="3494667" cy="1036020"/>
          </a:xfrm>
          <a:prstGeom prst="rect">
            <a:avLst/>
          </a:prstGeom>
        </p:spPr>
      </p:pic>
      <p:pic>
        <p:nvPicPr>
          <p:cNvPr id="10" name="Immagine 9">
            <a:extLst>
              <a:ext uri="{FF2B5EF4-FFF2-40B4-BE49-F238E27FC236}">
                <a16:creationId xmlns:a16="http://schemas.microsoft.com/office/drawing/2014/main" id="{E73D42CC-73B0-A235-DF78-E0440D34FE1E}"/>
              </a:ext>
            </a:extLst>
          </p:cNvPr>
          <p:cNvPicPr>
            <a:picLocks noChangeAspect="1"/>
          </p:cNvPicPr>
          <p:nvPr/>
        </p:nvPicPr>
        <p:blipFill>
          <a:blip r:embed="rId3"/>
          <a:stretch>
            <a:fillRect/>
          </a:stretch>
        </p:blipFill>
        <p:spPr>
          <a:xfrm>
            <a:off x="5021419" y="2344356"/>
            <a:ext cx="3596952" cy="358171"/>
          </a:xfrm>
          <a:prstGeom prst="rect">
            <a:avLst/>
          </a:prstGeom>
        </p:spPr>
      </p:pic>
      <p:sp>
        <p:nvSpPr>
          <p:cNvPr id="27" name="Rettangolo con angoli arrotondati 26">
            <a:extLst>
              <a:ext uri="{FF2B5EF4-FFF2-40B4-BE49-F238E27FC236}">
                <a16:creationId xmlns:a16="http://schemas.microsoft.com/office/drawing/2014/main" id="{F4DC1F93-C368-7722-D000-F6B9FA8FFDF5}"/>
              </a:ext>
            </a:extLst>
          </p:cNvPr>
          <p:cNvSpPr/>
          <p:nvPr/>
        </p:nvSpPr>
        <p:spPr>
          <a:xfrm>
            <a:off x="7806813" y="3329330"/>
            <a:ext cx="4235245" cy="1200399"/>
          </a:xfrm>
          <a:prstGeom prst="round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Rettangolo con angoli arrotondati 21">
            <a:extLst>
              <a:ext uri="{FF2B5EF4-FFF2-40B4-BE49-F238E27FC236}">
                <a16:creationId xmlns:a16="http://schemas.microsoft.com/office/drawing/2014/main" id="{97E8E284-EDB7-A4F4-A770-A192DA274447}"/>
              </a:ext>
            </a:extLst>
          </p:cNvPr>
          <p:cNvSpPr/>
          <p:nvPr/>
        </p:nvSpPr>
        <p:spPr>
          <a:xfrm>
            <a:off x="3967743" y="3220697"/>
            <a:ext cx="3560696" cy="1378707"/>
          </a:xfrm>
          <a:prstGeom prst="roundRect">
            <a:avLst/>
          </a:prstGeom>
          <a:ln w="19050"/>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olo 1">
            <a:extLst>
              <a:ext uri="{FF2B5EF4-FFF2-40B4-BE49-F238E27FC236}">
                <a16:creationId xmlns:a16="http://schemas.microsoft.com/office/drawing/2014/main" id="{1068D131-55BC-1853-95FF-5EFE5B8984AC}"/>
              </a:ext>
            </a:extLst>
          </p:cNvPr>
          <p:cNvSpPr>
            <a:spLocks noGrp="1"/>
          </p:cNvSpPr>
          <p:nvPr>
            <p:ph type="title"/>
          </p:nvPr>
        </p:nvSpPr>
        <p:spPr/>
        <p:txBody>
          <a:bodyPr>
            <a:normAutofit/>
          </a:bodyPr>
          <a:lstStyle/>
          <a:p>
            <a:r>
              <a:rPr lang="it-IT" sz="4000" err="1">
                <a:latin typeface="Arial" panose="020B0604020202020204" pitchFamily="34" charset="0"/>
              </a:rPr>
              <a:t>Formulas</a:t>
            </a:r>
            <a:r>
              <a:rPr lang="it-IT" sz="4000">
                <a:latin typeface="Arial" panose="020B0604020202020204" pitchFamily="34" charset="0"/>
              </a:rPr>
              <a:t>: TM </a:t>
            </a:r>
            <a:r>
              <a:rPr lang="it-IT" sz="4000" err="1">
                <a:latin typeface="Arial" panose="020B0604020202020204" pitchFamily="34" charset="0"/>
              </a:rPr>
              <a:t>sources</a:t>
            </a:r>
            <a:endParaRPr lang="it-IT" sz="4000">
              <a:latin typeface="Arial" panose="020B0604020202020204" pitchFamily="34" charset="0"/>
            </a:endParaRPr>
          </a:p>
        </p:txBody>
      </p:sp>
      <p:sp>
        <p:nvSpPr>
          <p:cNvPr id="3" name="Segnaposto contenuto 2">
            <a:extLst>
              <a:ext uri="{FF2B5EF4-FFF2-40B4-BE49-F238E27FC236}">
                <a16:creationId xmlns:a16="http://schemas.microsoft.com/office/drawing/2014/main" id="{F5265EC7-C5E2-E00C-854A-5C1660A027EA}"/>
              </a:ext>
            </a:extLst>
          </p:cNvPr>
          <p:cNvSpPr>
            <a:spLocks noGrp="1"/>
          </p:cNvSpPr>
          <p:nvPr>
            <p:ph idx="1"/>
          </p:nvPr>
        </p:nvSpPr>
        <p:spPr>
          <a:xfrm>
            <a:off x="1526458" y="954878"/>
            <a:ext cx="10515600" cy="1218052"/>
          </a:xfrm>
        </p:spPr>
        <p:txBody>
          <a:bodyPr>
            <a:normAutofit/>
          </a:bodyPr>
          <a:lstStyle/>
          <a:p>
            <a:pPr marL="0" indent="0">
              <a:buNone/>
            </a:pPr>
            <a:r>
              <a:rPr lang="en-US" sz="1800">
                <a:latin typeface="Times New Roman" panose="02020603050405020304" pitchFamily="18" charset="0"/>
                <a:cs typeface="Times New Roman" panose="02020603050405020304" pitchFamily="18" charset="0"/>
              </a:rPr>
              <a:t>Since the radiation pattern of the implanted source is not disturbed by the surrounding body phantom, the obtained radiation efficiency can also be directly used to characterize the loss of wireless link or antenna gain caused by the body phantom in any direction. For a homogeneous spherical body model with a center source (</a:t>
            </a:r>
            <a:r>
              <a:rPr lang="en-US" sz="1800" err="1">
                <a:latin typeface="Times New Roman" panose="02020603050405020304" pitchFamily="18" charset="0"/>
                <a:cs typeface="Times New Roman" panose="02020603050405020304" pitchFamily="18" charset="0"/>
              </a:rPr>
              <a:t>rfeed</a:t>
            </a:r>
            <a:r>
              <a:rPr lang="en-US" sz="1800">
                <a:latin typeface="Times New Roman" panose="02020603050405020304" pitchFamily="18" charset="0"/>
                <a:cs typeface="Times New Roman" panose="02020603050405020304" pitchFamily="18" charset="0"/>
              </a:rPr>
              <a:t> = 0), specifically, the total radiation efficiency </a:t>
            </a:r>
            <a:r>
              <a:rPr lang="en-US" sz="1800" err="1">
                <a:latin typeface="Times New Roman" panose="02020603050405020304" pitchFamily="18" charset="0"/>
                <a:cs typeface="Times New Roman" panose="02020603050405020304" pitchFamily="18" charset="0"/>
              </a:rPr>
              <a:t>η</a:t>
            </a:r>
            <a:r>
              <a:rPr lang="en-US" sz="1200" err="1">
                <a:latin typeface="Times New Roman" panose="02020603050405020304" pitchFamily="18" charset="0"/>
                <a:cs typeface="Times New Roman" panose="02020603050405020304" pitchFamily="18" charset="0"/>
              </a:rPr>
              <a:t>total</a:t>
            </a:r>
            <a:r>
              <a:rPr lang="en-US" sz="1800">
                <a:latin typeface="Times New Roman" panose="02020603050405020304" pitchFamily="18" charset="0"/>
                <a:cs typeface="Times New Roman" panose="02020603050405020304" pitchFamily="18" charset="0"/>
              </a:rPr>
              <a:t> could be expressed as:</a:t>
            </a:r>
            <a:endParaRPr lang="it-IT" sz="1800">
              <a:latin typeface="Times New Roman" panose="02020603050405020304" pitchFamily="18" charset="0"/>
              <a:cs typeface="Times New Roman" panose="02020603050405020304" pitchFamily="18" charset="0"/>
            </a:endParaRPr>
          </a:p>
        </p:txBody>
      </p:sp>
      <p:sp>
        <p:nvSpPr>
          <p:cNvPr id="13" name="Ovale 12">
            <a:extLst>
              <a:ext uri="{FF2B5EF4-FFF2-40B4-BE49-F238E27FC236}">
                <a16:creationId xmlns:a16="http://schemas.microsoft.com/office/drawing/2014/main" id="{E2066582-42F8-E73E-CFE5-3E50D77F4E0E}"/>
              </a:ext>
            </a:extLst>
          </p:cNvPr>
          <p:cNvSpPr/>
          <p:nvPr/>
        </p:nvSpPr>
        <p:spPr>
          <a:xfrm>
            <a:off x="5358581" y="2337770"/>
            <a:ext cx="993058" cy="493920"/>
          </a:xfrm>
          <a:prstGeom prst="ellipse">
            <a:avLst/>
          </a:prstGeom>
          <a:noFill/>
          <a:ln w="19050"/>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5" name="Connettore 2 14">
            <a:extLst>
              <a:ext uri="{FF2B5EF4-FFF2-40B4-BE49-F238E27FC236}">
                <a16:creationId xmlns:a16="http://schemas.microsoft.com/office/drawing/2014/main" id="{5F851C5D-3441-7130-1146-0B265956B0AE}"/>
              </a:ext>
            </a:extLst>
          </p:cNvPr>
          <p:cNvCxnSpPr>
            <a:cxnSpLocks/>
          </p:cNvCxnSpPr>
          <p:nvPr/>
        </p:nvCxnSpPr>
        <p:spPr>
          <a:xfrm flipH="1">
            <a:off x="2733368" y="2726777"/>
            <a:ext cx="2625213" cy="33751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7" name="Ovale 16">
            <a:extLst>
              <a:ext uri="{FF2B5EF4-FFF2-40B4-BE49-F238E27FC236}">
                <a16:creationId xmlns:a16="http://schemas.microsoft.com/office/drawing/2014/main" id="{AE5FD9CF-E847-0C23-D2D1-3A46EA9C8C28}"/>
              </a:ext>
            </a:extLst>
          </p:cNvPr>
          <p:cNvSpPr/>
          <p:nvPr/>
        </p:nvSpPr>
        <p:spPr>
          <a:xfrm>
            <a:off x="6351639" y="2310592"/>
            <a:ext cx="1219200" cy="521098"/>
          </a:xfrm>
          <a:prstGeom prst="ellipse">
            <a:avLst/>
          </a:prstGeom>
          <a:noFill/>
          <a:ln w="19050"/>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9" name="Connettore 2 18">
            <a:extLst>
              <a:ext uri="{FF2B5EF4-FFF2-40B4-BE49-F238E27FC236}">
                <a16:creationId xmlns:a16="http://schemas.microsoft.com/office/drawing/2014/main" id="{D324A7C8-E8AC-036A-34D8-0F7BD13F27E4}"/>
              </a:ext>
            </a:extLst>
          </p:cNvPr>
          <p:cNvCxnSpPr>
            <a:cxnSpLocks/>
            <a:stCxn id="17" idx="4"/>
          </p:cNvCxnSpPr>
          <p:nvPr/>
        </p:nvCxnSpPr>
        <p:spPr>
          <a:xfrm flipH="1">
            <a:off x="6295644" y="2831690"/>
            <a:ext cx="665595" cy="332446"/>
          </a:xfrm>
          <a:prstGeom prst="straightConnector1">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4" name="Ovale 23">
            <a:extLst>
              <a:ext uri="{FF2B5EF4-FFF2-40B4-BE49-F238E27FC236}">
                <a16:creationId xmlns:a16="http://schemas.microsoft.com/office/drawing/2014/main" id="{FD443905-2279-173F-3974-D9E1389E8A78}"/>
              </a:ext>
            </a:extLst>
          </p:cNvPr>
          <p:cNvSpPr/>
          <p:nvPr/>
        </p:nvSpPr>
        <p:spPr>
          <a:xfrm>
            <a:off x="7541339" y="2317053"/>
            <a:ext cx="1061885" cy="521097"/>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6" name="Connettore 2 25">
            <a:extLst>
              <a:ext uri="{FF2B5EF4-FFF2-40B4-BE49-F238E27FC236}">
                <a16:creationId xmlns:a16="http://schemas.microsoft.com/office/drawing/2014/main" id="{C4DF2791-9970-4A7C-2919-CA42C722E474}"/>
              </a:ext>
            </a:extLst>
          </p:cNvPr>
          <p:cNvCxnSpPr/>
          <p:nvPr/>
        </p:nvCxnSpPr>
        <p:spPr>
          <a:xfrm>
            <a:off x="8603224" y="2831690"/>
            <a:ext cx="491615" cy="43908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29" name="CasellaDiTesto 28">
            <a:extLst>
              <a:ext uri="{FF2B5EF4-FFF2-40B4-BE49-F238E27FC236}">
                <a16:creationId xmlns:a16="http://schemas.microsoft.com/office/drawing/2014/main" id="{4FB71883-3635-D302-CD45-209D2BD69B3A}"/>
              </a:ext>
            </a:extLst>
          </p:cNvPr>
          <p:cNvSpPr txBox="1"/>
          <p:nvPr/>
        </p:nvSpPr>
        <p:spPr>
          <a:xfrm>
            <a:off x="302881" y="4833369"/>
            <a:ext cx="2292835"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For </a:t>
            </a:r>
            <a:r>
              <a:rPr kumimoji="0" lang="it-IT" sz="20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r</a:t>
            </a:r>
            <a:r>
              <a:rPr kumimoji="0" lang="it-IT" sz="12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body</a:t>
            </a: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&gt;</a:t>
            </a:r>
            <a:r>
              <a:rPr kumimoji="0" lang="el-GR"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λ</a:t>
            </a:r>
            <a:r>
              <a:rPr kumimoji="0" lang="it-IT"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a:t>
            </a: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a:t>
            </a:r>
            <a:r>
              <a:rPr kumimoji="0" lang="el-GR"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π</a:t>
            </a: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p>
        </p:txBody>
      </p:sp>
      <p:sp>
        <p:nvSpPr>
          <p:cNvPr id="33" name="CasellaDiTesto 32">
            <a:extLst>
              <a:ext uri="{FF2B5EF4-FFF2-40B4-BE49-F238E27FC236}">
                <a16:creationId xmlns:a16="http://schemas.microsoft.com/office/drawing/2014/main" id="{A90FAD6B-5078-C721-D5C7-6B9FA3247816}"/>
              </a:ext>
            </a:extLst>
          </p:cNvPr>
          <p:cNvSpPr txBox="1"/>
          <p:nvPr/>
        </p:nvSpPr>
        <p:spPr>
          <a:xfrm>
            <a:off x="302881" y="5467443"/>
            <a:ext cx="1931499"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For </a:t>
            </a:r>
            <a:r>
              <a:rPr kumimoji="0" lang="it-IT" sz="20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r</a:t>
            </a:r>
            <a:r>
              <a:rPr kumimoji="0" lang="it-IT" sz="12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body</a:t>
            </a: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&lt;</a:t>
            </a:r>
            <a:r>
              <a:rPr kumimoji="0" lang="el-GR"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λ</a:t>
            </a:r>
            <a:r>
              <a:rPr kumimoji="0" lang="it-IT"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a:t>
            </a: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a:t>
            </a:r>
            <a:r>
              <a:rPr kumimoji="0" lang="el-GR"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π</a:t>
            </a: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p>
        </p:txBody>
      </p:sp>
      <p:pic>
        <p:nvPicPr>
          <p:cNvPr id="6" name="Immagine 5">
            <a:extLst>
              <a:ext uri="{FF2B5EF4-FFF2-40B4-BE49-F238E27FC236}">
                <a16:creationId xmlns:a16="http://schemas.microsoft.com/office/drawing/2014/main" id="{A04128CF-41F0-32CA-D3C1-7086249956E1}"/>
              </a:ext>
            </a:extLst>
          </p:cNvPr>
          <p:cNvPicPr>
            <a:picLocks noChangeAspect="1"/>
          </p:cNvPicPr>
          <p:nvPr/>
        </p:nvPicPr>
        <p:blipFill>
          <a:blip r:embed="rId4"/>
          <a:stretch>
            <a:fillRect/>
          </a:stretch>
        </p:blipFill>
        <p:spPr>
          <a:xfrm>
            <a:off x="3070530" y="2322422"/>
            <a:ext cx="1950889" cy="403895"/>
          </a:xfrm>
          <a:prstGeom prst="rect">
            <a:avLst/>
          </a:prstGeom>
        </p:spPr>
      </p:pic>
      <p:pic>
        <p:nvPicPr>
          <p:cNvPr id="25" name="Immagine 24">
            <a:extLst>
              <a:ext uri="{FF2B5EF4-FFF2-40B4-BE49-F238E27FC236}">
                <a16:creationId xmlns:a16="http://schemas.microsoft.com/office/drawing/2014/main" id="{F92E9027-89C0-2A22-8175-DF276E635A5D}"/>
              </a:ext>
            </a:extLst>
          </p:cNvPr>
          <p:cNvPicPr>
            <a:picLocks noChangeAspect="1"/>
          </p:cNvPicPr>
          <p:nvPr/>
        </p:nvPicPr>
        <p:blipFill>
          <a:blip r:embed="rId5"/>
          <a:srcRect l="5215"/>
          <a:stretch/>
        </p:blipFill>
        <p:spPr>
          <a:xfrm>
            <a:off x="4105344" y="3464761"/>
            <a:ext cx="3285494" cy="889122"/>
          </a:xfrm>
          <a:prstGeom prst="rect">
            <a:avLst/>
          </a:prstGeom>
        </p:spPr>
      </p:pic>
      <p:pic>
        <p:nvPicPr>
          <p:cNvPr id="30" name="Immagine 29">
            <a:extLst>
              <a:ext uri="{FF2B5EF4-FFF2-40B4-BE49-F238E27FC236}">
                <a16:creationId xmlns:a16="http://schemas.microsoft.com/office/drawing/2014/main" id="{6F23E750-2696-5CB2-3F9B-03D30409DCAC}"/>
              </a:ext>
            </a:extLst>
          </p:cNvPr>
          <p:cNvPicPr>
            <a:picLocks noChangeAspect="1"/>
          </p:cNvPicPr>
          <p:nvPr/>
        </p:nvPicPr>
        <p:blipFill>
          <a:blip r:embed="rId6"/>
          <a:stretch>
            <a:fillRect/>
          </a:stretch>
        </p:blipFill>
        <p:spPr>
          <a:xfrm>
            <a:off x="7854991" y="3498784"/>
            <a:ext cx="3873713" cy="742160"/>
          </a:xfrm>
          <a:prstGeom prst="rect">
            <a:avLst/>
          </a:prstGeom>
        </p:spPr>
      </p:pic>
      <p:pic>
        <p:nvPicPr>
          <p:cNvPr id="34" name="Immagine 33">
            <a:extLst>
              <a:ext uri="{FF2B5EF4-FFF2-40B4-BE49-F238E27FC236}">
                <a16:creationId xmlns:a16="http://schemas.microsoft.com/office/drawing/2014/main" id="{724607EA-1CE8-A850-E8A3-9F9D945D1E80}"/>
              </a:ext>
            </a:extLst>
          </p:cNvPr>
          <p:cNvPicPr>
            <a:picLocks noChangeAspect="1"/>
          </p:cNvPicPr>
          <p:nvPr/>
        </p:nvPicPr>
        <p:blipFill>
          <a:blip r:embed="rId7"/>
          <a:stretch>
            <a:fillRect/>
          </a:stretch>
        </p:blipFill>
        <p:spPr>
          <a:xfrm>
            <a:off x="2223959" y="4778720"/>
            <a:ext cx="2292835" cy="500255"/>
          </a:xfrm>
          <a:prstGeom prst="rect">
            <a:avLst/>
          </a:prstGeom>
        </p:spPr>
      </p:pic>
      <p:pic>
        <p:nvPicPr>
          <p:cNvPr id="38" name="Immagine 37">
            <a:extLst>
              <a:ext uri="{FF2B5EF4-FFF2-40B4-BE49-F238E27FC236}">
                <a16:creationId xmlns:a16="http://schemas.microsoft.com/office/drawing/2014/main" id="{A1C3E0CF-DC56-BB4F-2023-93ABA9738B93}"/>
              </a:ext>
            </a:extLst>
          </p:cNvPr>
          <p:cNvPicPr>
            <a:picLocks noChangeAspect="1"/>
          </p:cNvPicPr>
          <p:nvPr/>
        </p:nvPicPr>
        <p:blipFill>
          <a:blip r:embed="rId8"/>
          <a:srcRect r="8851"/>
          <a:stretch/>
        </p:blipFill>
        <p:spPr>
          <a:xfrm>
            <a:off x="2022579" y="5288128"/>
            <a:ext cx="3237679" cy="780183"/>
          </a:xfrm>
          <a:prstGeom prst="rect">
            <a:avLst/>
          </a:prstGeom>
        </p:spPr>
      </p:pic>
      <p:pic>
        <p:nvPicPr>
          <p:cNvPr id="40" name="Immagine 39">
            <a:extLst>
              <a:ext uri="{FF2B5EF4-FFF2-40B4-BE49-F238E27FC236}">
                <a16:creationId xmlns:a16="http://schemas.microsoft.com/office/drawing/2014/main" id="{E6EB1284-178F-4FB8-66D1-5F3333FE5F11}"/>
              </a:ext>
            </a:extLst>
          </p:cNvPr>
          <p:cNvPicPr>
            <a:picLocks noChangeAspect="1"/>
          </p:cNvPicPr>
          <p:nvPr/>
        </p:nvPicPr>
        <p:blipFill>
          <a:blip r:embed="rId9"/>
          <a:srcRect l="2186"/>
          <a:stretch/>
        </p:blipFill>
        <p:spPr>
          <a:xfrm>
            <a:off x="5260258" y="5218453"/>
            <a:ext cx="4400016" cy="835501"/>
          </a:xfrm>
          <a:prstGeom prst="rect">
            <a:avLst/>
          </a:prstGeom>
        </p:spPr>
      </p:pic>
    </p:spTree>
    <p:extLst>
      <p:ext uri="{BB962C8B-B14F-4D97-AF65-F5344CB8AC3E}">
        <p14:creationId xmlns:p14="http://schemas.microsoft.com/office/powerpoint/2010/main" val="71942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1000"/>
                                        <p:tgtEl>
                                          <p:spTgt spid="17"/>
                                        </p:tgtEl>
                                      </p:cBhvr>
                                    </p:animEffect>
                                    <p:anim calcmode="lin" valueType="num">
                                      <p:cBhvr>
                                        <p:cTn id="32" dur="1000" fill="hold"/>
                                        <p:tgtEl>
                                          <p:spTgt spid="17"/>
                                        </p:tgtEl>
                                        <p:attrNameLst>
                                          <p:attrName>ppt_x</p:attrName>
                                        </p:attrNameLst>
                                      </p:cBhvr>
                                      <p:tavLst>
                                        <p:tav tm="0">
                                          <p:val>
                                            <p:strVal val="#ppt_x"/>
                                          </p:val>
                                        </p:tav>
                                        <p:tav tm="100000">
                                          <p:val>
                                            <p:strVal val="#ppt_x"/>
                                          </p:val>
                                        </p:tav>
                                      </p:tavLst>
                                    </p:anim>
                                    <p:anim calcmode="lin" valueType="num">
                                      <p:cBhvr>
                                        <p:cTn id="33" dur="1000" fill="hold"/>
                                        <p:tgtEl>
                                          <p:spTgt spid="17"/>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1000"/>
                                        <p:tgtEl>
                                          <p:spTgt spid="19"/>
                                        </p:tgtEl>
                                      </p:cBhvr>
                                    </p:animEffect>
                                    <p:anim calcmode="lin" valueType="num">
                                      <p:cBhvr>
                                        <p:cTn id="37" dur="1000" fill="hold"/>
                                        <p:tgtEl>
                                          <p:spTgt spid="19"/>
                                        </p:tgtEl>
                                        <p:attrNameLst>
                                          <p:attrName>ppt_x</p:attrName>
                                        </p:attrNameLst>
                                      </p:cBhvr>
                                      <p:tavLst>
                                        <p:tav tm="0">
                                          <p:val>
                                            <p:strVal val="#ppt_x"/>
                                          </p:val>
                                        </p:tav>
                                        <p:tav tm="100000">
                                          <p:val>
                                            <p:strVal val="#ppt_x"/>
                                          </p:val>
                                        </p:tav>
                                      </p:tavLst>
                                    </p:anim>
                                    <p:anim calcmode="lin" valueType="num">
                                      <p:cBhvr>
                                        <p:cTn id="38"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1000"/>
                                        <p:tgtEl>
                                          <p:spTgt spid="22"/>
                                        </p:tgtEl>
                                      </p:cBhvr>
                                    </p:animEffect>
                                    <p:anim calcmode="lin" valueType="num">
                                      <p:cBhvr>
                                        <p:cTn id="44" dur="1000" fill="hold"/>
                                        <p:tgtEl>
                                          <p:spTgt spid="22"/>
                                        </p:tgtEl>
                                        <p:attrNameLst>
                                          <p:attrName>ppt_x</p:attrName>
                                        </p:attrNameLst>
                                      </p:cBhvr>
                                      <p:tavLst>
                                        <p:tav tm="0">
                                          <p:val>
                                            <p:strVal val="#ppt_x"/>
                                          </p:val>
                                        </p:tav>
                                        <p:tav tm="100000">
                                          <p:val>
                                            <p:strVal val="#ppt_x"/>
                                          </p:val>
                                        </p:tav>
                                      </p:tavLst>
                                    </p:anim>
                                    <p:anim calcmode="lin" valueType="num">
                                      <p:cBhvr>
                                        <p:cTn id="45" dur="1000" fill="hold"/>
                                        <p:tgtEl>
                                          <p:spTgt spid="22"/>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1000"/>
                                        <p:tgtEl>
                                          <p:spTgt spid="25"/>
                                        </p:tgtEl>
                                      </p:cBhvr>
                                    </p:animEffect>
                                    <p:anim calcmode="lin" valueType="num">
                                      <p:cBhvr>
                                        <p:cTn id="49" dur="1000" fill="hold"/>
                                        <p:tgtEl>
                                          <p:spTgt spid="25"/>
                                        </p:tgtEl>
                                        <p:attrNameLst>
                                          <p:attrName>ppt_x</p:attrName>
                                        </p:attrNameLst>
                                      </p:cBhvr>
                                      <p:tavLst>
                                        <p:tav tm="0">
                                          <p:val>
                                            <p:strVal val="#ppt_x"/>
                                          </p:val>
                                        </p:tav>
                                        <p:tav tm="100000">
                                          <p:val>
                                            <p:strVal val="#ppt_x"/>
                                          </p:val>
                                        </p:tav>
                                      </p:tavLst>
                                    </p:anim>
                                    <p:anim calcmode="lin" valueType="num">
                                      <p:cBhvr>
                                        <p:cTn id="5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1000"/>
                                        <p:tgtEl>
                                          <p:spTgt spid="24"/>
                                        </p:tgtEl>
                                      </p:cBhvr>
                                    </p:animEffect>
                                    <p:anim calcmode="lin" valueType="num">
                                      <p:cBhvr>
                                        <p:cTn id="56" dur="1000" fill="hold"/>
                                        <p:tgtEl>
                                          <p:spTgt spid="24"/>
                                        </p:tgtEl>
                                        <p:attrNameLst>
                                          <p:attrName>ppt_x</p:attrName>
                                        </p:attrNameLst>
                                      </p:cBhvr>
                                      <p:tavLst>
                                        <p:tav tm="0">
                                          <p:val>
                                            <p:strVal val="#ppt_x"/>
                                          </p:val>
                                        </p:tav>
                                        <p:tav tm="100000">
                                          <p:val>
                                            <p:strVal val="#ppt_x"/>
                                          </p:val>
                                        </p:tav>
                                      </p:tavLst>
                                    </p:anim>
                                    <p:anim calcmode="lin" valueType="num">
                                      <p:cBhvr>
                                        <p:cTn id="57" dur="1000" fill="hold"/>
                                        <p:tgtEl>
                                          <p:spTgt spid="24"/>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1000"/>
                                        <p:tgtEl>
                                          <p:spTgt spid="26"/>
                                        </p:tgtEl>
                                      </p:cBhvr>
                                    </p:animEffect>
                                    <p:anim calcmode="lin" valueType="num">
                                      <p:cBhvr>
                                        <p:cTn id="61" dur="1000" fill="hold"/>
                                        <p:tgtEl>
                                          <p:spTgt spid="26"/>
                                        </p:tgtEl>
                                        <p:attrNameLst>
                                          <p:attrName>ppt_x</p:attrName>
                                        </p:attrNameLst>
                                      </p:cBhvr>
                                      <p:tavLst>
                                        <p:tav tm="0">
                                          <p:val>
                                            <p:strVal val="#ppt_x"/>
                                          </p:val>
                                        </p:tav>
                                        <p:tav tm="100000">
                                          <p:val>
                                            <p:strVal val="#ppt_x"/>
                                          </p:val>
                                        </p:tav>
                                      </p:tavLst>
                                    </p:anim>
                                    <p:anim calcmode="lin" valueType="num">
                                      <p:cBhvr>
                                        <p:cTn id="62"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1000"/>
                                        <p:tgtEl>
                                          <p:spTgt spid="27"/>
                                        </p:tgtEl>
                                      </p:cBhvr>
                                    </p:animEffect>
                                    <p:anim calcmode="lin" valueType="num">
                                      <p:cBhvr>
                                        <p:cTn id="68" dur="1000" fill="hold"/>
                                        <p:tgtEl>
                                          <p:spTgt spid="27"/>
                                        </p:tgtEl>
                                        <p:attrNameLst>
                                          <p:attrName>ppt_x</p:attrName>
                                        </p:attrNameLst>
                                      </p:cBhvr>
                                      <p:tavLst>
                                        <p:tav tm="0">
                                          <p:val>
                                            <p:strVal val="#ppt_x"/>
                                          </p:val>
                                        </p:tav>
                                        <p:tav tm="100000">
                                          <p:val>
                                            <p:strVal val="#ppt_x"/>
                                          </p:val>
                                        </p:tav>
                                      </p:tavLst>
                                    </p:anim>
                                    <p:anim calcmode="lin" valueType="num">
                                      <p:cBhvr>
                                        <p:cTn id="69" dur="1000" fill="hold"/>
                                        <p:tgtEl>
                                          <p:spTgt spid="27"/>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1000"/>
                                        <p:tgtEl>
                                          <p:spTgt spid="30"/>
                                        </p:tgtEl>
                                      </p:cBhvr>
                                    </p:animEffect>
                                    <p:anim calcmode="lin" valueType="num">
                                      <p:cBhvr>
                                        <p:cTn id="73" dur="1000" fill="hold"/>
                                        <p:tgtEl>
                                          <p:spTgt spid="30"/>
                                        </p:tgtEl>
                                        <p:attrNameLst>
                                          <p:attrName>ppt_x</p:attrName>
                                        </p:attrNameLst>
                                      </p:cBhvr>
                                      <p:tavLst>
                                        <p:tav tm="0">
                                          <p:val>
                                            <p:strVal val="#ppt_x"/>
                                          </p:val>
                                        </p:tav>
                                        <p:tav tm="100000">
                                          <p:val>
                                            <p:strVal val="#ppt_x"/>
                                          </p:val>
                                        </p:tav>
                                      </p:tavLst>
                                    </p:anim>
                                    <p:anim calcmode="lin" valueType="num">
                                      <p:cBhvr>
                                        <p:cTn id="74"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1000"/>
                                        <p:tgtEl>
                                          <p:spTgt spid="29"/>
                                        </p:tgtEl>
                                      </p:cBhvr>
                                    </p:animEffect>
                                    <p:anim calcmode="lin" valueType="num">
                                      <p:cBhvr>
                                        <p:cTn id="80" dur="1000" fill="hold"/>
                                        <p:tgtEl>
                                          <p:spTgt spid="29"/>
                                        </p:tgtEl>
                                        <p:attrNameLst>
                                          <p:attrName>ppt_x</p:attrName>
                                        </p:attrNameLst>
                                      </p:cBhvr>
                                      <p:tavLst>
                                        <p:tav tm="0">
                                          <p:val>
                                            <p:strVal val="#ppt_x"/>
                                          </p:val>
                                        </p:tav>
                                        <p:tav tm="100000">
                                          <p:val>
                                            <p:strVal val="#ppt_x"/>
                                          </p:val>
                                        </p:tav>
                                      </p:tavLst>
                                    </p:anim>
                                    <p:anim calcmode="lin" valueType="num">
                                      <p:cBhvr>
                                        <p:cTn id="81" dur="1000" fill="hold"/>
                                        <p:tgtEl>
                                          <p:spTgt spid="29"/>
                                        </p:tgtEl>
                                        <p:attrNameLst>
                                          <p:attrName>ppt_y</p:attrName>
                                        </p:attrNameLst>
                                      </p:cBhvr>
                                      <p:tavLst>
                                        <p:tav tm="0">
                                          <p:val>
                                            <p:strVal val="#ppt_y+.1"/>
                                          </p:val>
                                        </p:tav>
                                        <p:tav tm="100000">
                                          <p:val>
                                            <p:strVal val="#ppt_y"/>
                                          </p:val>
                                        </p:tav>
                                      </p:tavLst>
                                    </p:anim>
                                  </p:childTnLst>
                                </p:cTn>
                              </p:par>
                              <p:par>
                                <p:cTn id="82" presetID="42" presetClass="entr" presetSubtype="0" fill="hold" nodeType="with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1000"/>
                                        <p:tgtEl>
                                          <p:spTgt spid="34"/>
                                        </p:tgtEl>
                                      </p:cBhvr>
                                    </p:animEffect>
                                    <p:anim calcmode="lin" valueType="num">
                                      <p:cBhvr>
                                        <p:cTn id="85" dur="1000" fill="hold"/>
                                        <p:tgtEl>
                                          <p:spTgt spid="34"/>
                                        </p:tgtEl>
                                        <p:attrNameLst>
                                          <p:attrName>ppt_x</p:attrName>
                                        </p:attrNameLst>
                                      </p:cBhvr>
                                      <p:tavLst>
                                        <p:tav tm="0">
                                          <p:val>
                                            <p:strVal val="#ppt_x"/>
                                          </p:val>
                                        </p:tav>
                                        <p:tav tm="100000">
                                          <p:val>
                                            <p:strVal val="#ppt_x"/>
                                          </p:val>
                                        </p:tav>
                                      </p:tavLst>
                                    </p:anim>
                                    <p:anim calcmode="lin" valueType="num">
                                      <p:cBhvr>
                                        <p:cTn id="86"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1000"/>
                                        <p:tgtEl>
                                          <p:spTgt spid="33"/>
                                        </p:tgtEl>
                                      </p:cBhvr>
                                    </p:animEffect>
                                    <p:anim calcmode="lin" valueType="num">
                                      <p:cBhvr>
                                        <p:cTn id="92" dur="1000" fill="hold"/>
                                        <p:tgtEl>
                                          <p:spTgt spid="33"/>
                                        </p:tgtEl>
                                        <p:attrNameLst>
                                          <p:attrName>ppt_x</p:attrName>
                                        </p:attrNameLst>
                                      </p:cBhvr>
                                      <p:tavLst>
                                        <p:tav tm="0">
                                          <p:val>
                                            <p:strVal val="#ppt_x"/>
                                          </p:val>
                                        </p:tav>
                                        <p:tav tm="100000">
                                          <p:val>
                                            <p:strVal val="#ppt_x"/>
                                          </p:val>
                                        </p:tav>
                                      </p:tavLst>
                                    </p:anim>
                                    <p:anim calcmode="lin" valueType="num">
                                      <p:cBhvr>
                                        <p:cTn id="93" dur="1000" fill="hold"/>
                                        <p:tgtEl>
                                          <p:spTgt spid="33"/>
                                        </p:tgtEl>
                                        <p:attrNameLst>
                                          <p:attrName>ppt_y</p:attrName>
                                        </p:attrNameLst>
                                      </p:cBhvr>
                                      <p:tavLst>
                                        <p:tav tm="0">
                                          <p:val>
                                            <p:strVal val="#ppt_y+.1"/>
                                          </p:val>
                                        </p:tav>
                                        <p:tav tm="100000">
                                          <p:val>
                                            <p:strVal val="#ppt_y"/>
                                          </p:val>
                                        </p:tav>
                                      </p:tavLst>
                                    </p:anim>
                                  </p:childTnLst>
                                </p:cTn>
                              </p:par>
                              <p:par>
                                <p:cTn id="94" presetID="42" presetClass="entr" presetSubtype="0" fill="hold" nodeType="withEffect">
                                  <p:stCondLst>
                                    <p:cond delay="0"/>
                                  </p:stCondLst>
                                  <p:childTnLst>
                                    <p:set>
                                      <p:cBhvr>
                                        <p:cTn id="95" dur="1" fill="hold">
                                          <p:stCondLst>
                                            <p:cond delay="0"/>
                                          </p:stCondLst>
                                        </p:cTn>
                                        <p:tgtEl>
                                          <p:spTgt spid="38"/>
                                        </p:tgtEl>
                                        <p:attrNameLst>
                                          <p:attrName>style.visibility</p:attrName>
                                        </p:attrNameLst>
                                      </p:cBhvr>
                                      <p:to>
                                        <p:strVal val="visible"/>
                                      </p:to>
                                    </p:set>
                                    <p:animEffect transition="in" filter="fade">
                                      <p:cBhvr>
                                        <p:cTn id="96" dur="1000"/>
                                        <p:tgtEl>
                                          <p:spTgt spid="38"/>
                                        </p:tgtEl>
                                      </p:cBhvr>
                                    </p:animEffect>
                                    <p:anim calcmode="lin" valueType="num">
                                      <p:cBhvr>
                                        <p:cTn id="97" dur="1000" fill="hold"/>
                                        <p:tgtEl>
                                          <p:spTgt spid="38"/>
                                        </p:tgtEl>
                                        <p:attrNameLst>
                                          <p:attrName>ppt_x</p:attrName>
                                        </p:attrNameLst>
                                      </p:cBhvr>
                                      <p:tavLst>
                                        <p:tav tm="0">
                                          <p:val>
                                            <p:strVal val="#ppt_x"/>
                                          </p:val>
                                        </p:tav>
                                        <p:tav tm="100000">
                                          <p:val>
                                            <p:strVal val="#ppt_x"/>
                                          </p:val>
                                        </p:tav>
                                      </p:tavLst>
                                    </p:anim>
                                    <p:anim calcmode="lin" valueType="num">
                                      <p:cBhvr>
                                        <p:cTn id="98" dur="1000" fill="hold"/>
                                        <p:tgtEl>
                                          <p:spTgt spid="38"/>
                                        </p:tgtEl>
                                        <p:attrNameLst>
                                          <p:attrName>ppt_y</p:attrName>
                                        </p:attrNameLst>
                                      </p:cBhvr>
                                      <p:tavLst>
                                        <p:tav tm="0">
                                          <p:val>
                                            <p:strVal val="#ppt_y+.1"/>
                                          </p:val>
                                        </p:tav>
                                        <p:tav tm="100000">
                                          <p:val>
                                            <p:strVal val="#ppt_y"/>
                                          </p:val>
                                        </p:tav>
                                      </p:tavLst>
                                    </p:anim>
                                  </p:childTnLst>
                                </p:cTn>
                              </p:par>
                              <p:par>
                                <p:cTn id="99" presetID="42" presetClass="entr" presetSubtype="0" fill="hold" nodeType="withEffect">
                                  <p:stCondLst>
                                    <p:cond delay="0"/>
                                  </p:stCondLst>
                                  <p:childTnLst>
                                    <p:set>
                                      <p:cBhvr>
                                        <p:cTn id="100" dur="1" fill="hold">
                                          <p:stCondLst>
                                            <p:cond delay="0"/>
                                          </p:stCondLst>
                                        </p:cTn>
                                        <p:tgtEl>
                                          <p:spTgt spid="40"/>
                                        </p:tgtEl>
                                        <p:attrNameLst>
                                          <p:attrName>style.visibility</p:attrName>
                                        </p:attrNameLst>
                                      </p:cBhvr>
                                      <p:to>
                                        <p:strVal val="visible"/>
                                      </p:to>
                                    </p:set>
                                    <p:animEffect transition="in" filter="fade">
                                      <p:cBhvr>
                                        <p:cTn id="101" dur="1000"/>
                                        <p:tgtEl>
                                          <p:spTgt spid="40"/>
                                        </p:tgtEl>
                                      </p:cBhvr>
                                    </p:animEffect>
                                    <p:anim calcmode="lin" valueType="num">
                                      <p:cBhvr>
                                        <p:cTn id="102" dur="1000" fill="hold"/>
                                        <p:tgtEl>
                                          <p:spTgt spid="40"/>
                                        </p:tgtEl>
                                        <p:attrNameLst>
                                          <p:attrName>ppt_x</p:attrName>
                                        </p:attrNameLst>
                                      </p:cBhvr>
                                      <p:tavLst>
                                        <p:tav tm="0">
                                          <p:val>
                                            <p:strVal val="#ppt_x"/>
                                          </p:val>
                                        </p:tav>
                                        <p:tav tm="100000">
                                          <p:val>
                                            <p:strVal val="#ppt_x"/>
                                          </p:val>
                                        </p:tav>
                                      </p:tavLst>
                                    </p:anim>
                                    <p:anim calcmode="lin" valueType="num">
                                      <p:cBhvr>
                                        <p:cTn id="103"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7" grpId="0" animBg="1"/>
      <p:bldP spid="22" grpId="0" animBg="1"/>
      <p:bldP spid="13" grpId="0" animBg="1"/>
      <p:bldP spid="17" grpId="0" animBg="1"/>
      <p:bldP spid="24" grpId="0" animBg="1"/>
      <p:bldP spid="29" grpId="0"/>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0B94B-384D-D73E-BF69-CCFD931F4728}"/>
            </a:ext>
          </a:extLst>
        </p:cNvPr>
        <p:cNvGrpSpPr/>
        <p:nvPr/>
      </p:nvGrpSpPr>
      <p:grpSpPr>
        <a:xfrm>
          <a:off x="0" y="0"/>
          <a:ext cx="0" cy="0"/>
          <a:chOff x="0" y="0"/>
          <a:chExt cx="0" cy="0"/>
        </a:xfrm>
      </p:grpSpPr>
      <p:pic>
        <p:nvPicPr>
          <p:cNvPr id="14" name="Immagine 13">
            <a:extLst>
              <a:ext uri="{FF2B5EF4-FFF2-40B4-BE49-F238E27FC236}">
                <a16:creationId xmlns:a16="http://schemas.microsoft.com/office/drawing/2014/main" id="{430D5573-4AD3-C81D-6CE0-91234FFF662A}"/>
              </a:ext>
            </a:extLst>
          </p:cNvPr>
          <p:cNvPicPr>
            <a:picLocks noChangeAspect="1"/>
          </p:cNvPicPr>
          <p:nvPr/>
        </p:nvPicPr>
        <p:blipFill>
          <a:blip r:embed="rId2"/>
          <a:srcRect l="3086"/>
          <a:stretch/>
        </p:blipFill>
        <p:spPr>
          <a:xfrm>
            <a:off x="5000963" y="1855446"/>
            <a:ext cx="3865720" cy="899442"/>
          </a:xfrm>
          <a:prstGeom prst="rect">
            <a:avLst/>
          </a:prstGeom>
        </p:spPr>
      </p:pic>
      <p:sp>
        <p:nvSpPr>
          <p:cNvPr id="2" name="Titolo 1">
            <a:extLst>
              <a:ext uri="{FF2B5EF4-FFF2-40B4-BE49-F238E27FC236}">
                <a16:creationId xmlns:a16="http://schemas.microsoft.com/office/drawing/2014/main" id="{1834A542-82A3-2D12-A5C4-D157AD4D1B4D}"/>
              </a:ext>
            </a:extLst>
          </p:cNvPr>
          <p:cNvSpPr>
            <a:spLocks noGrp="1"/>
          </p:cNvSpPr>
          <p:nvPr>
            <p:ph type="title"/>
          </p:nvPr>
        </p:nvSpPr>
        <p:spPr/>
        <p:txBody>
          <a:bodyPr>
            <a:normAutofit/>
          </a:bodyPr>
          <a:lstStyle/>
          <a:p>
            <a:r>
              <a:rPr lang="it-IT" sz="4000" err="1">
                <a:latin typeface="Arial" panose="020B0604020202020204" pitchFamily="34" charset="0"/>
              </a:rPr>
              <a:t>Formulas</a:t>
            </a:r>
            <a:r>
              <a:rPr lang="it-IT" sz="4000">
                <a:latin typeface="Arial" panose="020B0604020202020204" pitchFamily="34" charset="0"/>
              </a:rPr>
              <a:t>: TE </a:t>
            </a:r>
            <a:r>
              <a:rPr lang="it-IT" sz="4000" err="1">
                <a:latin typeface="Arial" panose="020B0604020202020204" pitchFamily="34" charset="0"/>
              </a:rPr>
              <a:t>sources</a:t>
            </a:r>
            <a:endParaRPr lang="it-IT" sz="4000">
              <a:latin typeface="Arial" panose="020B0604020202020204" pitchFamily="34" charset="0"/>
            </a:endParaRPr>
          </a:p>
        </p:txBody>
      </p:sp>
      <p:sp>
        <p:nvSpPr>
          <p:cNvPr id="4" name="CasellaDiTesto 3">
            <a:extLst>
              <a:ext uri="{FF2B5EF4-FFF2-40B4-BE49-F238E27FC236}">
                <a16:creationId xmlns:a16="http://schemas.microsoft.com/office/drawing/2014/main" id="{0B42D8EB-00C8-7BEB-5046-5E68349F06D6}"/>
              </a:ext>
            </a:extLst>
          </p:cNvPr>
          <p:cNvSpPr txBox="1"/>
          <p:nvPr/>
        </p:nvSpPr>
        <p:spPr>
          <a:xfrm>
            <a:off x="1474839" y="954877"/>
            <a:ext cx="10717161" cy="646331"/>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 the case of TE </a:t>
            </a:r>
            <a:r>
              <a:rPr kumimoji="0" lang="it-IT" sz="18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sources</a:t>
            </a: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some </a:t>
            </a:r>
            <a:r>
              <a:rPr kumimoji="0" lang="it-IT" sz="18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inevitable</a:t>
            </a: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it-IT" sz="18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changes</a:t>
            </a: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are </a:t>
            </a:r>
            <a:r>
              <a:rPr kumimoji="0" lang="it-IT" sz="18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required</a:t>
            </a: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in the </a:t>
            </a:r>
            <a:r>
              <a:rPr kumimoji="0" lang="it-IT" sz="18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approximation</a:t>
            </a: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of </a:t>
            </a:r>
            <a:r>
              <a:rPr kumimoji="0" lang="it-IT" sz="18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near-field</a:t>
            </a: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it-IT" sz="18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loss</a:t>
            </a: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and </a:t>
            </a:r>
            <a:r>
              <a:rPr kumimoji="0" lang="it-IT" sz="18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reflection</a:t>
            </a: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it-IT" sz="18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loss</a:t>
            </a: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t>
            </a:r>
          </a:p>
        </p:txBody>
      </p:sp>
      <p:sp>
        <p:nvSpPr>
          <p:cNvPr id="13" name="CasellaDiTesto 12">
            <a:extLst>
              <a:ext uri="{FF2B5EF4-FFF2-40B4-BE49-F238E27FC236}">
                <a16:creationId xmlns:a16="http://schemas.microsoft.com/office/drawing/2014/main" id="{074917B8-51D5-2646-2FAE-948214A81BEF}"/>
              </a:ext>
            </a:extLst>
          </p:cNvPr>
          <p:cNvSpPr txBox="1"/>
          <p:nvPr/>
        </p:nvSpPr>
        <p:spPr>
          <a:xfrm>
            <a:off x="4644894" y="4679688"/>
            <a:ext cx="1931499"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For </a:t>
            </a:r>
            <a:r>
              <a:rPr kumimoji="0" lang="it-IT" sz="20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r</a:t>
            </a:r>
            <a:r>
              <a:rPr kumimoji="0" lang="it-IT" sz="12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body</a:t>
            </a: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it-IT" sz="18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a:t>≤ </a:t>
            </a:r>
            <a:r>
              <a:rPr kumimoji="0" lang="el-GR"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λ</a:t>
            </a:r>
            <a:r>
              <a:rPr kumimoji="0" lang="it-IT"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a:t>
            </a: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a:t>
            </a:r>
            <a:r>
              <a:rPr kumimoji="0" lang="el-GR"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π</a:t>
            </a:r>
            <a:r>
              <a:rPr kumimoji="0" lang="it-IT"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p>
        </p:txBody>
      </p:sp>
      <p:pic>
        <p:nvPicPr>
          <p:cNvPr id="9" name="Immagine 8">
            <a:extLst>
              <a:ext uri="{FF2B5EF4-FFF2-40B4-BE49-F238E27FC236}">
                <a16:creationId xmlns:a16="http://schemas.microsoft.com/office/drawing/2014/main" id="{B491629E-AAF2-28FB-E838-ED33F913BB02}"/>
              </a:ext>
            </a:extLst>
          </p:cNvPr>
          <p:cNvPicPr>
            <a:picLocks noChangeAspect="1"/>
          </p:cNvPicPr>
          <p:nvPr/>
        </p:nvPicPr>
        <p:blipFill>
          <a:blip r:embed="rId3"/>
          <a:srcRect r="13113" b="-7605"/>
          <a:stretch/>
        </p:blipFill>
        <p:spPr>
          <a:xfrm>
            <a:off x="3781393" y="2018136"/>
            <a:ext cx="1165361" cy="500212"/>
          </a:xfrm>
          <a:prstGeom prst="rect">
            <a:avLst/>
          </a:prstGeom>
        </p:spPr>
      </p:pic>
      <p:pic>
        <p:nvPicPr>
          <p:cNvPr id="17" name="Immagine 16">
            <a:extLst>
              <a:ext uri="{FF2B5EF4-FFF2-40B4-BE49-F238E27FC236}">
                <a16:creationId xmlns:a16="http://schemas.microsoft.com/office/drawing/2014/main" id="{A608D31E-3C15-BFEB-9B80-3F61B7CDB296}"/>
              </a:ext>
            </a:extLst>
          </p:cNvPr>
          <p:cNvPicPr>
            <a:picLocks noChangeAspect="1"/>
          </p:cNvPicPr>
          <p:nvPr/>
        </p:nvPicPr>
        <p:blipFill>
          <a:blip r:embed="rId4"/>
          <a:srcRect t="16728" r="2743"/>
          <a:stretch/>
        </p:blipFill>
        <p:spPr>
          <a:xfrm>
            <a:off x="2649216" y="3236686"/>
            <a:ext cx="3138357" cy="724664"/>
          </a:xfrm>
          <a:prstGeom prst="rect">
            <a:avLst/>
          </a:prstGeom>
        </p:spPr>
      </p:pic>
      <p:pic>
        <p:nvPicPr>
          <p:cNvPr id="19" name="Immagine 18">
            <a:extLst>
              <a:ext uri="{FF2B5EF4-FFF2-40B4-BE49-F238E27FC236}">
                <a16:creationId xmlns:a16="http://schemas.microsoft.com/office/drawing/2014/main" id="{5EBAE8AD-A4C9-ED86-A62E-3F073F422F77}"/>
              </a:ext>
            </a:extLst>
          </p:cNvPr>
          <p:cNvPicPr>
            <a:picLocks noChangeAspect="1"/>
          </p:cNvPicPr>
          <p:nvPr/>
        </p:nvPicPr>
        <p:blipFill>
          <a:blip r:embed="rId5"/>
          <a:srcRect l="3885"/>
          <a:stretch/>
        </p:blipFill>
        <p:spPr>
          <a:xfrm>
            <a:off x="5787573" y="3149248"/>
            <a:ext cx="3919928" cy="899539"/>
          </a:xfrm>
          <a:prstGeom prst="rect">
            <a:avLst/>
          </a:prstGeom>
        </p:spPr>
      </p:pic>
      <p:pic>
        <p:nvPicPr>
          <p:cNvPr id="21" name="Immagine 20">
            <a:extLst>
              <a:ext uri="{FF2B5EF4-FFF2-40B4-BE49-F238E27FC236}">
                <a16:creationId xmlns:a16="http://schemas.microsoft.com/office/drawing/2014/main" id="{C8A40269-7F75-BEBB-ABB5-75FD73DAD607}"/>
              </a:ext>
            </a:extLst>
          </p:cNvPr>
          <p:cNvPicPr>
            <a:picLocks noChangeAspect="1"/>
          </p:cNvPicPr>
          <p:nvPr/>
        </p:nvPicPr>
        <p:blipFill>
          <a:blip r:embed="rId6"/>
          <a:stretch>
            <a:fillRect/>
          </a:stretch>
        </p:blipFill>
        <p:spPr>
          <a:xfrm>
            <a:off x="6576393" y="4732422"/>
            <a:ext cx="1173520" cy="365407"/>
          </a:xfrm>
          <a:prstGeom prst="rect">
            <a:avLst/>
          </a:prstGeom>
        </p:spPr>
      </p:pic>
    </p:spTree>
    <p:extLst>
      <p:ext uri="{BB962C8B-B14F-4D97-AF65-F5344CB8AC3E}">
        <p14:creationId xmlns:p14="http://schemas.microsoft.com/office/powerpoint/2010/main" val="1062993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1000" fill="hold"/>
                                        <p:tgtEl>
                                          <p:spTgt spid="1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1000"/>
                                        <p:tgtEl>
                                          <p:spTgt spid="19"/>
                                        </p:tgtEl>
                                      </p:cBhvr>
                                    </p:animEffect>
                                    <p:anim calcmode="lin" valueType="num">
                                      <p:cBhvr>
                                        <p:cTn id="25" dur="1000" fill="hold"/>
                                        <p:tgtEl>
                                          <p:spTgt spid="19"/>
                                        </p:tgtEl>
                                        <p:attrNameLst>
                                          <p:attrName>ppt_x</p:attrName>
                                        </p:attrNameLst>
                                      </p:cBhvr>
                                      <p:tavLst>
                                        <p:tav tm="0">
                                          <p:val>
                                            <p:strVal val="#ppt_x"/>
                                          </p:val>
                                        </p:tav>
                                        <p:tav tm="100000">
                                          <p:val>
                                            <p:strVal val="#ppt_x"/>
                                          </p:val>
                                        </p:tav>
                                      </p:tavLst>
                                    </p:anim>
                                    <p:anim calcmode="lin" valueType="num">
                                      <p:cBhvr>
                                        <p:cTn id="2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anim calcmode="lin" valueType="num">
                                      <p:cBhvr>
                                        <p:cTn id="32" dur="1000" fill="hold"/>
                                        <p:tgtEl>
                                          <p:spTgt spid="13"/>
                                        </p:tgtEl>
                                        <p:attrNameLst>
                                          <p:attrName>ppt_x</p:attrName>
                                        </p:attrNameLst>
                                      </p:cBhvr>
                                      <p:tavLst>
                                        <p:tav tm="0">
                                          <p:val>
                                            <p:strVal val="#ppt_x"/>
                                          </p:val>
                                        </p:tav>
                                        <p:tav tm="100000">
                                          <p:val>
                                            <p:strVal val="#ppt_x"/>
                                          </p:val>
                                        </p:tav>
                                      </p:tavLst>
                                    </p:anim>
                                    <p:anim calcmode="lin" valueType="num">
                                      <p:cBhvr>
                                        <p:cTn id="33" dur="1000" fill="hold"/>
                                        <p:tgtEl>
                                          <p:spTgt spid="13"/>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1000"/>
                                        <p:tgtEl>
                                          <p:spTgt spid="21"/>
                                        </p:tgtEl>
                                      </p:cBhvr>
                                    </p:animEffect>
                                    <p:anim calcmode="lin" valueType="num">
                                      <p:cBhvr>
                                        <p:cTn id="37" dur="1000" fill="hold"/>
                                        <p:tgtEl>
                                          <p:spTgt spid="21"/>
                                        </p:tgtEl>
                                        <p:attrNameLst>
                                          <p:attrName>ppt_x</p:attrName>
                                        </p:attrNameLst>
                                      </p:cBhvr>
                                      <p:tavLst>
                                        <p:tav tm="0">
                                          <p:val>
                                            <p:strVal val="#ppt_x"/>
                                          </p:val>
                                        </p:tav>
                                        <p:tav tm="100000">
                                          <p:val>
                                            <p:strVal val="#ppt_x"/>
                                          </p:val>
                                        </p:tav>
                                      </p:tavLst>
                                    </p:anim>
                                    <p:anim calcmode="lin" valueType="num">
                                      <p:cBhvr>
                                        <p:cTn id="38"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A2A78-A9EB-2291-0F39-935E27504CB3}"/>
            </a:ext>
          </a:extLst>
        </p:cNvPr>
        <p:cNvGrpSpPr/>
        <p:nvPr/>
      </p:nvGrpSpPr>
      <p:grpSpPr>
        <a:xfrm>
          <a:off x="0" y="0"/>
          <a:ext cx="0" cy="0"/>
          <a:chOff x="0" y="0"/>
          <a:chExt cx="0" cy="0"/>
        </a:xfrm>
      </p:grpSpPr>
      <p:pic>
        <p:nvPicPr>
          <p:cNvPr id="13" name="Immagine 12">
            <a:extLst>
              <a:ext uri="{FF2B5EF4-FFF2-40B4-BE49-F238E27FC236}">
                <a16:creationId xmlns:a16="http://schemas.microsoft.com/office/drawing/2014/main" id="{CF4D476C-4EAA-E57B-7FBB-8702A2EB5945}"/>
              </a:ext>
            </a:extLst>
          </p:cNvPr>
          <p:cNvPicPr>
            <a:picLocks noChangeAspect="1"/>
          </p:cNvPicPr>
          <p:nvPr/>
        </p:nvPicPr>
        <p:blipFill>
          <a:blip r:embed="rId2"/>
          <a:stretch>
            <a:fillRect/>
          </a:stretch>
        </p:blipFill>
        <p:spPr>
          <a:xfrm>
            <a:off x="7318724" y="2937578"/>
            <a:ext cx="1379966" cy="387525"/>
          </a:xfrm>
          <a:prstGeom prst="rect">
            <a:avLst/>
          </a:prstGeom>
        </p:spPr>
      </p:pic>
      <p:sp>
        <p:nvSpPr>
          <p:cNvPr id="2" name="Titolo 1">
            <a:extLst>
              <a:ext uri="{FF2B5EF4-FFF2-40B4-BE49-F238E27FC236}">
                <a16:creationId xmlns:a16="http://schemas.microsoft.com/office/drawing/2014/main" id="{145693FC-4D78-FE78-3EAB-278E8650D494}"/>
              </a:ext>
            </a:extLst>
          </p:cNvPr>
          <p:cNvSpPr>
            <a:spLocks noGrp="1"/>
          </p:cNvSpPr>
          <p:nvPr>
            <p:ph type="title"/>
          </p:nvPr>
        </p:nvSpPr>
        <p:spPr/>
        <p:txBody>
          <a:bodyPr/>
          <a:lstStyle/>
          <a:p>
            <a:r>
              <a:rPr lang="it-IT" sz="4000" err="1">
                <a:latin typeface="Aptos Display"/>
                <a:ea typeface="Calibri"/>
                <a:cs typeface="Arial"/>
              </a:rPr>
              <a:t>Formulas</a:t>
            </a:r>
            <a:r>
              <a:rPr lang="it-IT" sz="4000">
                <a:latin typeface="Aptos Display"/>
                <a:ea typeface="Calibri"/>
                <a:cs typeface="Arial"/>
              </a:rPr>
              <a:t>: </a:t>
            </a:r>
            <a:r>
              <a:rPr lang="it-IT" sz="4000" err="1">
                <a:latin typeface="Aptos Display"/>
                <a:ea typeface="Calibri"/>
                <a:cs typeface="Arial"/>
              </a:rPr>
              <a:t>Path</a:t>
            </a:r>
            <a:r>
              <a:rPr lang="it-IT" sz="4000">
                <a:latin typeface="Aptos Display"/>
                <a:ea typeface="Calibri"/>
                <a:cs typeface="Arial"/>
              </a:rPr>
              <a:t> </a:t>
            </a:r>
            <a:r>
              <a:rPr lang="it-IT" sz="4000" err="1">
                <a:latin typeface="Aptos Display"/>
                <a:ea typeface="Calibri"/>
                <a:cs typeface="Arial"/>
              </a:rPr>
              <a:t>Loss</a:t>
            </a:r>
            <a:r>
              <a:rPr lang="it-IT" sz="4000">
                <a:latin typeface="Aptos Display"/>
                <a:ea typeface="Calibri"/>
                <a:cs typeface="Arial"/>
              </a:rPr>
              <a:t> and Gain</a:t>
            </a:r>
            <a:endParaRPr lang="it-IT" sz="4000">
              <a:latin typeface="Aptos Display"/>
            </a:endParaRPr>
          </a:p>
        </p:txBody>
      </p:sp>
      <p:sp>
        <p:nvSpPr>
          <p:cNvPr id="6" name="CasellaDiTesto 5">
            <a:extLst>
              <a:ext uri="{FF2B5EF4-FFF2-40B4-BE49-F238E27FC236}">
                <a16:creationId xmlns:a16="http://schemas.microsoft.com/office/drawing/2014/main" id="{2502B5BB-67E1-BA84-3BBA-287644139679}"/>
              </a:ext>
            </a:extLst>
          </p:cNvPr>
          <p:cNvSpPr txBox="1"/>
          <p:nvPr/>
        </p:nvSpPr>
        <p:spPr>
          <a:xfrm>
            <a:off x="685271" y="1397265"/>
            <a:ext cx="10710966" cy="120032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it-IT" dirty="0" err="1">
                <a:latin typeface="Times New Roman"/>
                <a:ea typeface="+mn-lt"/>
                <a:cs typeface="+mn-lt"/>
              </a:rPr>
              <a:t>It</a:t>
            </a:r>
            <a:r>
              <a:rPr lang="it-IT" dirty="0">
                <a:latin typeface="Times New Roman"/>
                <a:ea typeface="+mn-lt"/>
                <a:cs typeface="+mn-lt"/>
              </a:rPr>
              <a:t> </a:t>
            </a:r>
            <a:r>
              <a:rPr lang="it-IT" dirty="0" err="1">
                <a:latin typeface="Times New Roman"/>
                <a:ea typeface="+mn-lt"/>
                <a:cs typeface="+mn-lt"/>
              </a:rPr>
              <a:t>is</a:t>
            </a:r>
            <a:r>
              <a:rPr lang="it-IT" dirty="0">
                <a:latin typeface="Times New Roman"/>
                <a:ea typeface="+mn-lt"/>
                <a:cs typeface="+mn-lt"/>
              </a:rPr>
              <a:t> </a:t>
            </a:r>
            <a:r>
              <a:rPr lang="it-IT" dirty="0" err="1">
                <a:latin typeface="Times New Roman"/>
                <a:ea typeface="+mn-lt"/>
                <a:cs typeface="+mn-lt"/>
              </a:rPr>
              <a:t>possible</a:t>
            </a:r>
            <a:r>
              <a:rPr lang="it-IT" dirty="0">
                <a:latin typeface="Times New Roman"/>
                <a:ea typeface="+mn-lt"/>
                <a:cs typeface="+mn-lt"/>
              </a:rPr>
              <a:t> to </a:t>
            </a:r>
            <a:r>
              <a:rPr lang="it-IT" dirty="0" err="1">
                <a:latin typeface="Times New Roman"/>
                <a:ea typeface="+mn-lt"/>
                <a:cs typeface="+mn-lt"/>
              </a:rPr>
              <a:t>approximate</a:t>
            </a:r>
            <a:r>
              <a:rPr lang="it-IT" dirty="0">
                <a:latin typeface="Times New Roman"/>
                <a:ea typeface="+mn-lt"/>
                <a:cs typeface="+mn-lt"/>
              </a:rPr>
              <a:t> the gain of an </a:t>
            </a:r>
            <a:r>
              <a:rPr lang="it-IT" dirty="0" err="1">
                <a:latin typeface="Times New Roman"/>
                <a:ea typeface="+mn-lt"/>
                <a:cs typeface="+mn-lt"/>
              </a:rPr>
              <a:t>implanted</a:t>
            </a:r>
            <a:r>
              <a:rPr lang="it-IT" dirty="0">
                <a:latin typeface="Times New Roman"/>
                <a:ea typeface="+mn-lt"/>
                <a:cs typeface="+mn-lt"/>
              </a:rPr>
              <a:t> source by </a:t>
            </a:r>
            <a:r>
              <a:rPr lang="it-IT" dirty="0" err="1">
                <a:latin typeface="Times New Roman"/>
                <a:ea typeface="+mn-lt"/>
                <a:cs typeface="+mn-lt"/>
              </a:rPr>
              <a:t>extending</a:t>
            </a:r>
            <a:r>
              <a:rPr lang="it-IT" dirty="0">
                <a:latin typeface="Times New Roman"/>
                <a:ea typeface="+mn-lt"/>
                <a:cs typeface="+mn-lt"/>
              </a:rPr>
              <a:t> the in-body </a:t>
            </a:r>
            <a:r>
              <a:rPr lang="it-IT" dirty="0" err="1">
                <a:latin typeface="Times New Roman"/>
                <a:ea typeface="+mn-lt"/>
                <a:cs typeface="+mn-lt"/>
              </a:rPr>
              <a:t>path</a:t>
            </a:r>
            <a:r>
              <a:rPr lang="it-IT" dirty="0">
                <a:latin typeface="Times New Roman"/>
                <a:ea typeface="+mn-lt"/>
                <a:cs typeface="+mn-lt"/>
              </a:rPr>
              <a:t> </a:t>
            </a:r>
            <a:r>
              <a:rPr lang="it-IT" dirty="0" err="1">
                <a:latin typeface="Times New Roman"/>
                <a:ea typeface="+mn-lt"/>
                <a:cs typeface="+mn-lt"/>
              </a:rPr>
              <a:t>loss</a:t>
            </a:r>
            <a:r>
              <a:rPr lang="it-IT" dirty="0">
                <a:latin typeface="Times New Roman"/>
                <a:ea typeface="+mn-lt"/>
                <a:cs typeface="+mn-lt"/>
              </a:rPr>
              <a:t> to the EM </a:t>
            </a:r>
            <a:r>
              <a:rPr lang="it-IT" dirty="0" err="1">
                <a:latin typeface="Times New Roman"/>
                <a:ea typeface="+mn-lt"/>
                <a:cs typeface="+mn-lt"/>
              </a:rPr>
              <a:t>radiation</a:t>
            </a:r>
            <a:r>
              <a:rPr lang="it-IT" dirty="0">
                <a:latin typeface="Times New Roman"/>
                <a:ea typeface="+mn-lt"/>
                <a:cs typeface="+mn-lt"/>
              </a:rPr>
              <a:t> </a:t>
            </a:r>
            <a:r>
              <a:rPr lang="it-IT" dirty="0" err="1">
                <a:latin typeface="Times New Roman"/>
                <a:ea typeface="+mn-lt"/>
                <a:cs typeface="+mn-lt"/>
              </a:rPr>
              <a:t>reaching</a:t>
            </a:r>
            <a:r>
              <a:rPr lang="it-IT" dirty="0">
                <a:latin typeface="Times New Roman"/>
                <a:ea typeface="+mn-lt"/>
                <a:cs typeface="+mn-lt"/>
              </a:rPr>
              <a:t> the far-</a:t>
            </a:r>
            <a:r>
              <a:rPr lang="it-IT" err="1">
                <a:latin typeface="Times New Roman"/>
                <a:ea typeface="+mn-lt"/>
                <a:cs typeface="+mn-lt"/>
              </a:rPr>
              <a:t>field</a:t>
            </a:r>
            <a:r>
              <a:rPr lang="it-IT" dirty="0">
                <a:latin typeface="Times New Roman"/>
                <a:ea typeface="+mn-lt"/>
                <a:cs typeface="+mn-lt"/>
              </a:rPr>
              <a:t> </a:t>
            </a:r>
            <a:r>
              <a:rPr lang="it-IT" dirty="0" err="1">
                <a:latin typeface="Times New Roman"/>
                <a:ea typeface="+mn-lt"/>
                <a:cs typeface="+mn-lt"/>
              </a:rPr>
              <a:t>region</a:t>
            </a:r>
            <a:r>
              <a:rPr lang="it-IT" dirty="0">
                <a:latin typeface="Times New Roman"/>
                <a:ea typeface="+mn-lt"/>
                <a:cs typeface="+mn-lt"/>
              </a:rPr>
              <a:t> in free </a:t>
            </a:r>
            <a:r>
              <a:rPr lang="it-IT" dirty="0" err="1">
                <a:latin typeface="Times New Roman"/>
                <a:ea typeface="+mn-lt"/>
                <a:cs typeface="+mn-lt"/>
              </a:rPr>
              <a:t>space</a:t>
            </a:r>
            <a:r>
              <a:rPr lang="it-IT" dirty="0">
                <a:latin typeface="Times New Roman"/>
                <a:ea typeface="+mn-lt"/>
                <a:cs typeface="+mn-lt"/>
              </a:rPr>
              <a:t>. To </a:t>
            </a:r>
            <a:r>
              <a:rPr lang="it-IT" dirty="0" err="1">
                <a:latin typeface="Times New Roman"/>
                <a:ea typeface="+mn-lt"/>
                <a:cs typeface="+mn-lt"/>
              </a:rPr>
              <a:t>achieve</a:t>
            </a:r>
            <a:r>
              <a:rPr lang="it-IT" dirty="0">
                <a:latin typeface="Times New Roman"/>
                <a:ea typeface="+mn-lt"/>
                <a:cs typeface="+mn-lt"/>
              </a:rPr>
              <a:t> </a:t>
            </a:r>
            <a:r>
              <a:rPr lang="it-IT" dirty="0" err="1">
                <a:latin typeface="Times New Roman"/>
                <a:ea typeface="+mn-lt"/>
                <a:cs typeface="+mn-lt"/>
              </a:rPr>
              <a:t>this</a:t>
            </a:r>
            <a:r>
              <a:rPr lang="it-IT" dirty="0">
                <a:latin typeface="Times New Roman"/>
                <a:ea typeface="+mn-lt"/>
                <a:cs typeface="+mn-lt"/>
              </a:rPr>
              <a:t>, </a:t>
            </a:r>
            <a:r>
              <a:rPr lang="it-IT" dirty="0" err="1">
                <a:latin typeface="Times New Roman"/>
                <a:ea typeface="+mn-lt"/>
                <a:cs typeface="+mn-lt"/>
              </a:rPr>
              <a:t>another</a:t>
            </a:r>
            <a:r>
              <a:rPr lang="it-IT" dirty="0">
                <a:latin typeface="Times New Roman"/>
                <a:ea typeface="+mn-lt"/>
                <a:cs typeface="+mn-lt"/>
              </a:rPr>
              <a:t> </a:t>
            </a:r>
            <a:r>
              <a:rPr lang="it-IT" dirty="0" err="1">
                <a:latin typeface="Times New Roman"/>
                <a:ea typeface="+mn-lt"/>
                <a:cs typeface="+mn-lt"/>
              </a:rPr>
              <a:t>loss</a:t>
            </a:r>
            <a:r>
              <a:rPr lang="it-IT" dirty="0">
                <a:latin typeface="Times New Roman"/>
                <a:ea typeface="+mn-lt"/>
                <a:cs typeface="+mn-lt"/>
              </a:rPr>
              <a:t> </a:t>
            </a:r>
            <a:r>
              <a:rPr lang="it-IT" dirty="0" err="1">
                <a:latin typeface="Times New Roman"/>
                <a:ea typeface="+mn-lt"/>
                <a:cs typeface="+mn-lt"/>
              </a:rPr>
              <a:t>contribution</a:t>
            </a:r>
            <a:r>
              <a:rPr lang="it-IT" dirty="0">
                <a:latin typeface="Times New Roman"/>
                <a:ea typeface="+mn-lt"/>
                <a:cs typeface="+mn-lt"/>
              </a:rPr>
              <a:t>, the </a:t>
            </a:r>
            <a:r>
              <a:rPr lang="it-IT" dirty="0" err="1">
                <a:latin typeface="Times New Roman"/>
                <a:ea typeface="+mn-lt"/>
                <a:cs typeface="+mn-lt"/>
              </a:rPr>
              <a:t>efficiency</a:t>
            </a:r>
            <a:r>
              <a:rPr lang="it-IT" dirty="0">
                <a:latin typeface="Times New Roman"/>
                <a:ea typeface="+mn-lt"/>
                <a:cs typeface="+mn-lt"/>
              </a:rPr>
              <a:t> due to </a:t>
            </a:r>
            <a:r>
              <a:rPr lang="it-IT" dirty="0" err="1">
                <a:latin typeface="Times New Roman"/>
                <a:ea typeface="+mn-lt"/>
                <a:cs typeface="+mn-lt"/>
              </a:rPr>
              <a:t>refractions</a:t>
            </a:r>
            <a:r>
              <a:rPr lang="it-IT" dirty="0">
                <a:latin typeface="Times New Roman"/>
                <a:ea typeface="+mn-lt"/>
                <a:cs typeface="+mn-lt"/>
              </a:rPr>
              <a:t> </a:t>
            </a:r>
            <a:r>
              <a:rPr lang="it-IT" dirty="0" err="1">
                <a:latin typeface="Times New Roman"/>
                <a:ea typeface="+mn-lt"/>
                <a:cs typeface="+mn-lt"/>
              </a:rPr>
              <a:t>at</a:t>
            </a:r>
            <a:r>
              <a:rPr lang="it-IT" dirty="0">
                <a:latin typeface="Times New Roman"/>
                <a:ea typeface="+mn-lt"/>
                <a:cs typeface="+mn-lt"/>
              </a:rPr>
              <a:t> the body-air </a:t>
            </a:r>
            <a:r>
              <a:rPr lang="it-IT" dirty="0" err="1">
                <a:latin typeface="Times New Roman"/>
                <a:ea typeface="+mn-lt"/>
                <a:cs typeface="+mn-lt"/>
              </a:rPr>
              <a:t>interface</a:t>
            </a:r>
            <a:r>
              <a:rPr lang="it-IT" dirty="0">
                <a:latin typeface="Times New Roman"/>
                <a:ea typeface="+mn-lt"/>
                <a:cs typeface="+mn-lt"/>
              </a:rPr>
              <a:t> </a:t>
            </a:r>
            <a:r>
              <a:rPr lang="it-IT" dirty="0" err="1">
                <a:latin typeface="Times New Roman"/>
                <a:ea typeface="+mn-lt"/>
                <a:cs typeface="+mn-lt"/>
              </a:rPr>
              <a:t>η</a:t>
            </a:r>
            <a:r>
              <a:rPr lang="it-IT" sz="1200" dirty="0" err="1">
                <a:latin typeface="Times New Roman"/>
                <a:ea typeface="+mn-lt"/>
                <a:cs typeface="+mn-lt"/>
              </a:rPr>
              <a:t>refractions</a:t>
            </a:r>
            <a:r>
              <a:rPr lang="it-IT" dirty="0">
                <a:latin typeface="Times New Roman"/>
                <a:ea typeface="+mn-lt"/>
                <a:cs typeface="+mn-lt"/>
              </a:rPr>
              <a:t>. </a:t>
            </a:r>
            <a:r>
              <a:rPr lang="it-IT" dirty="0" err="1">
                <a:latin typeface="Times New Roman"/>
                <a:ea typeface="+mn-lt"/>
                <a:cs typeface="+mn-lt"/>
              </a:rPr>
              <a:t>As</a:t>
            </a:r>
            <a:r>
              <a:rPr lang="it-IT" dirty="0">
                <a:latin typeface="Times New Roman"/>
                <a:ea typeface="+mn-lt"/>
                <a:cs typeface="+mn-lt"/>
              </a:rPr>
              <a:t> a </a:t>
            </a:r>
            <a:r>
              <a:rPr lang="it-IT" dirty="0" err="1">
                <a:latin typeface="Times New Roman"/>
                <a:ea typeface="+mn-lt"/>
                <a:cs typeface="+mn-lt"/>
              </a:rPr>
              <a:t>consequence</a:t>
            </a:r>
            <a:r>
              <a:rPr lang="it-IT" dirty="0">
                <a:latin typeface="Times New Roman"/>
                <a:ea typeface="+mn-lt"/>
                <a:cs typeface="+mn-lt"/>
              </a:rPr>
              <a:t>, the gain of the </a:t>
            </a:r>
            <a:r>
              <a:rPr lang="it-IT" dirty="0" err="1">
                <a:latin typeface="Times New Roman"/>
                <a:ea typeface="+mn-lt"/>
                <a:cs typeface="+mn-lt"/>
              </a:rPr>
              <a:t>implanted</a:t>
            </a:r>
            <a:r>
              <a:rPr lang="it-IT" dirty="0">
                <a:latin typeface="Times New Roman"/>
                <a:ea typeface="+mn-lt"/>
                <a:cs typeface="+mn-lt"/>
              </a:rPr>
              <a:t> source can be </a:t>
            </a:r>
            <a:r>
              <a:rPr lang="it-IT" dirty="0" err="1">
                <a:latin typeface="Times New Roman"/>
                <a:ea typeface="+mn-lt"/>
                <a:cs typeface="+mn-lt"/>
              </a:rPr>
              <a:t>expressed</a:t>
            </a:r>
            <a:r>
              <a:rPr lang="it-IT" dirty="0">
                <a:latin typeface="Times New Roman"/>
                <a:ea typeface="+mn-lt"/>
                <a:cs typeface="+mn-lt"/>
              </a:rPr>
              <a:t> </a:t>
            </a:r>
            <a:r>
              <a:rPr lang="it-IT" dirty="0" err="1">
                <a:latin typeface="Times New Roman"/>
                <a:ea typeface="+mn-lt"/>
                <a:cs typeface="+mn-lt"/>
              </a:rPr>
              <a:t>as</a:t>
            </a:r>
            <a:r>
              <a:rPr lang="it-IT" dirty="0">
                <a:latin typeface="Times New Roman"/>
                <a:ea typeface="+mn-lt"/>
                <a:cs typeface="+mn-lt"/>
              </a:rPr>
              <a:t>:</a:t>
            </a:r>
            <a:endParaRPr lang="it-IT" dirty="0">
              <a:latin typeface="Times New Roman"/>
            </a:endParaRPr>
          </a:p>
        </p:txBody>
      </p:sp>
      <p:cxnSp>
        <p:nvCxnSpPr>
          <p:cNvPr id="8" name="Connettore 2 7">
            <a:extLst>
              <a:ext uri="{FF2B5EF4-FFF2-40B4-BE49-F238E27FC236}">
                <a16:creationId xmlns:a16="http://schemas.microsoft.com/office/drawing/2014/main" id="{6482F7AD-D5BA-128B-BA3C-C74C2A7B69BB}"/>
              </a:ext>
            </a:extLst>
          </p:cNvPr>
          <p:cNvCxnSpPr>
            <a:cxnSpLocks/>
          </p:cNvCxnSpPr>
          <p:nvPr/>
        </p:nvCxnSpPr>
        <p:spPr>
          <a:xfrm>
            <a:off x="8179762" y="3429496"/>
            <a:ext cx="0" cy="52307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CasellaDiTesto 14">
            <a:extLst>
              <a:ext uri="{FF2B5EF4-FFF2-40B4-BE49-F238E27FC236}">
                <a16:creationId xmlns:a16="http://schemas.microsoft.com/office/drawing/2014/main" id="{B8CB32FE-92A3-B288-2C0A-6F3F9BC1D03F}"/>
              </a:ext>
            </a:extLst>
          </p:cNvPr>
          <p:cNvSpPr txBox="1"/>
          <p:nvPr/>
        </p:nvSpPr>
        <p:spPr>
          <a:xfrm>
            <a:off x="6515195" y="5752675"/>
            <a:ext cx="1493512" cy="369332"/>
          </a:xfrm>
          <a:prstGeom prst="rect">
            <a:avLst/>
          </a:prstGeom>
          <a:noFill/>
        </p:spPr>
        <p:txBody>
          <a:bodyPr wrap="square" rtlCol="0" anchor="ctr">
            <a:spAutoFit/>
          </a:bodyPr>
          <a:lstStyle/>
          <a:p>
            <a:pPr algn="l"/>
            <a:r>
              <a:rPr lang="it-IT" b="0" dirty="0">
                <a:solidFill>
                  <a:schemeClr val="tx1"/>
                </a:solidFill>
                <a:latin typeface="Times New Roman" panose="02020603050405020304" pitchFamily="18" charset="0"/>
                <a:cs typeface="Times New Roman" panose="02020603050405020304" pitchFamily="18" charset="0"/>
              </a:rPr>
              <a:t>For </a:t>
            </a:r>
            <a:r>
              <a:rPr lang="it-IT" dirty="0" err="1">
                <a:latin typeface="Times New Roman" panose="02020603050405020304" pitchFamily="18" charset="0"/>
                <a:cs typeface="Times New Roman" panose="02020603050405020304" pitchFamily="18" charset="0"/>
              </a:rPr>
              <a:t>r</a:t>
            </a:r>
            <a:r>
              <a:rPr lang="it-IT" sz="1200" dirty="0" err="1">
                <a:latin typeface="Times New Roman" panose="02020603050405020304" pitchFamily="18" charset="0"/>
                <a:cs typeface="Times New Roman" panose="02020603050405020304" pitchFamily="18" charset="0"/>
              </a:rPr>
              <a:t>body</a:t>
            </a:r>
            <a:r>
              <a:rPr lang="it-IT" sz="1200" dirty="0">
                <a:latin typeface="Times New Roman" panose="02020603050405020304" pitchFamily="18" charset="0"/>
                <a:cs typeface="Times New Roman" panose="02020603050405020304" pitchFamily="18" charset="0"/>
              </a:rPr>
              <a:t> </a:t>
            </a:r>
            <a:r>
              <a:rPr lang="it-IT" dirty="0">
                <a:latin typeface="Times New Roman" panose="02020603050405020304" pitchFamily="18" charset="0"/>
                <a:cs typeface="Times New Roman" panose="02020603050405020304" pitchFamily="18" charset="0"/>
              </a:rPr>
              <a:t>→ ∞: </a:t>
            </a:r>
            <a:endParaRPr lang="it-IT" b="0" dirty="0">
              <a:solidFill>
                <a:schemeClr val="tx1"/>
              </a:solidFill>
              <a:latin typeface="Times New Roman" panose="02020603050405020304" pitchFamily="18" charset="0"/>
              <a:cs typeface="Times New Roman" panose="02020603050405020304" pitchFamily="18" charset="0"/>
            </a:endParaRPr>
          </a:p>
        </p:txBody>
      </p:sp>
      <p:pic>
        <p:nvPicPr>
          <p:cNvPr id="11" name="Immagine 10" descr="Immagine che contiene testo, diagramma, schermata, cerchio&#10;&#10;Il contenuto generato dall&amp;#39;IA potrebbe non essere corretto.">
            <a:extLst>
              <a:ext uri="{FF2B5EF4-FFF2-40B4-BE49-F238E27FC236}">
                <a16:creationId xmlns:a16="http://schemas.microsoft.com/office/drawing/2014/main" id="{6D938D90-19B4-AD4F-1FCF-122A45452E9B}"/>
              </a:ext>
            </a:extLst>
          </p:cNvPr>
          <p:cNvPicPr>
            <a:picLocks noChangeAspect="1"/>
          </p:cNvPicPr>
          <p:nvPr/>
        </p:nvPicPr>
        <p:blipFill>
          <a:blip r:embed="rId3"/>
          <a:stretch>
            <a:fillRect/>
          </a:stretch>
        </p:blipFill>
        <p:spPr>
          <a:xfrm>
            <a:off x="685271" y="3437997"/>
            <a:ext cx="5529792" cy="2682875"/>
          </a:xfrm>
          <a:prstGeom prst="rect">
            <a:avLst/>
          </a:prstGeom>
          <a:ln>
            <a:noFill/>
          </a:ln>
        </p:spPr>
      </p:pic>
      <p:pic>
        <p:nvPicPr>
          <p:cNvPr id="12" name="Immagine 11" descr="Immagine che contiene Carattere, testo, bianco, calligrafia&#10;&#10;Il contenuto generato dall&amp;#39;IA potrebbe non essere corretto.">
            <a:extLst>
              <a:ext uri="{FF2B5EF4-FFF2-40B4-BE49-F238E27FC236}">
                <a16:creationId xmlns:a16="http://schemas.microsoft.com/office/drawing/2014/main" id="{0C1B8AD4-6535-D487-4F6F-81CC817D05CF}"/>
              </a:ext>
            </a:extLst>
          </p:cNvPr>
          <p:cNvPicPr>
            <a:picLocks noChangeAspect="1"/>
          </p:cNvPicPr>
          <p:nvPr/>
        </p:nvPicPr>
        <p:blipFill>
          <a:blip r:embed="rId4"/>
          <a:srcRect r="4" b="-5750"/>
          <a:stretch/>
        </p:blipFill>
        <p:spPr>
          <a:xfrm>
            <a:off x="1204498" y="2810769"/>
            <a:ext cx="6207829" cy="537632"/>
          </a:xfrm>
          <a:prstGeom prst="rect">
            <a:avLst/>
          </a:prstGeom>
        </p:spPr>
      </p:pic>
      <p:pic>
        <p:nvPicPr>
          <p:cNvPr id="16" name="Immagine 15">
            <a:extLst>
              <a:ext uri="{FF2B5EF4-FFF2-40B4-BE49-F238E27FC236}">
                <a16:creationId xmlns:a16="http://schemas.microsoft.com/office/drawing/2014/main" id="{3B9A27A0-7AB5-BA06-3AE2-CCBFB7D8D77E}"/>
              </a:ext>
            </a:extLst>
          </p:cNvPr>
          <p:cNvPicPr>
            <a:picLocks noChangeAspect="1"/>
          </p:cNvPicPr>
          <p:nvPr/>
        </p:nvPicPr>
        <p:blipFill>
          <a:blip r:embed="rId5"/>
          <a:stretch>
            <a:fillRect/>
          </a:stretch>
        </p:blipFill>
        <p:spPr>
          <a:xfrm>
            <a:off x="7384183" y="3008356"/>
            <a:ext cx="102625" cy="256562"/>
          </a:xfrm>
          <a:prstGeom prst="rect">
            <a:avLst/>
          </a:prstGeom>
        </p:spPr>
      </p:pic>
      <p:sp>
        <p:nvSpPr>
          <p:cNvPr id="7" name="Ovale 6">
            <a:extLst>
              <a:ext uri="{FF2B5EF4-FFF2-40B4-BE49-F238E27FC236}">
                <a16:creationId xmlns:a16="http://schemas.microsoft.com/office/drawing/2014/main" id="{28E3ED4D-8C4F-A897-009C-AF410FE51EEE}"/>
              </a:ext>
            </a:extLst>
          </p:cNvPr>
          <p:cNvSpPr/>
          <p:nvPr/>
        </p:nvSpPr>
        <p:spPr>
          <a:xfrm>
            <a:off x="7412327" y="2843051"/>
            <a:ext cx="1435327" cy="51064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9" name="Immagine 18">
            <a:extLst>
              <a:ext uri="{FF2B5EF4-FFF2-40B4-BE49-F238E27FC236}">
                <a16:creationId xmlns:a16="http://schemas.microsoft.com/office/drawing/2014/main" id="{42954287-01D3-A3EB-B5B0-269B2B1455B6}"/>
              </a:ext>
            </a:extLst>
          </p:cNvPr>
          <p:cNvPicPr>
            <a:picLocks noChangeAspect="1"/>
          </p:cNvPicPr>
          <p:nvPr/>
        </p:nvPicPr>
        <p:blipFill>
          <a:blip r:embed="rId6"/>
          <a:srcRect r="6202"/>
          <a:stretch/>
        </p:blipFill>
        <p:spPr>
          <a:xfrm>
            <a:off x="6347616" y="4126050"/>
            <a:ext cx="3656193" cy="1073337"/>
          </a:xfrm>
          <a:prstGeom prst="rect">
            <a:avLst/>
          </a:prstGeom>
        </p:spPr>
      </p:pic>
      <p:sp>
        <p:nvSpPr>
          <p:cNvPr id="9" name="Rettangolo con angoli arrotondati 8">
            <a:extLst>
              <a:ext uri="{FF2B5EF4-FFF2-40B4-BE49-F238E27FC236}">
                <a16:creationId xmlns:a16="http://schemas.microsoft.com/office/drawing/2014/main" id="{72366B66-C31A-0BCF-C30A-2BC76B3EE9EE}"/>
              </a:ext>
            </a:extLst>
          </p:cNvPr>
          <p:cNvSpPr/>
          <p:nvPr/>
        </p:nvSpPr>
        <p:spPr>
          <a:xfrm>
            <a:off x="6291854" y="4028368"/>
            <a:ext cx="4009432" cy="1184044"/>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21" name="Immagine 20">
            <a:extLst>
              <a:ext uri="{FF2B5EF4-FFF2-40B4-BE49-F238E27FC236}">
                <a16:creationId xmlns:a16="http://schemas.microsoft.com/office/drawing/2014/main" id="{89B425BB-EEF3-6701-A854-ADF3D9A63A88}"/>
              </a:ext>
            </a:extLst>
          </p:cNvPr>
          <p:cNvPicPr>
            <a:picLocks noChangeAspect="1"/>
          </p:cNvPicPr>
          <p:nvPr/>
        </p:nvPicPr>
        <p:blipFill>
          <a:blip r:embed="rId7"/>
          <a:srcRect r="8461"/>
          <a:stretch/>
        </p:blipFill>
        <p:spPr>
          <a:xfrm>
            <a:off x="8008707" y="5541919"/>
            <a:ext cx="1995102" cy="937341"/>
          </a:xfrm>
          <a:prstGeom prst="rect">
            <a:avLst/>
          </a:prstGeom>
        </p:spPr>
      </p:pic>
    </p:spTree>
    <p:extLst>
      <p:ext uri="{BB962C8B-B14F-4D97-AF65-F5344CB8AC3E}">
        <p14:creationId xmlns:p14="http://schemas.microsoft.com/office/powerpoint/2010/main" val="80193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1" presetClass="entr" presetSubtype="0" fill="hold" grpId="1" nodeType="withEffect">
                                  <p:stCondLst>
                                    <p:cond delay="0"/>
                                  </p:stCondLst>
                                  <p:childTnLst>
                                    <p:set>
                                      <p:cBhvr>
                                        <p:cTn id="23" dur="1" fill="hold">
                                          <p:stCondLst>
                                            <p:cond delay="0"/>
                                          </p:stCondLst>
                                        </p:cTn>
                                        <p:tgtEl>
                                          <p:spTgt spid="9"/>
                                        </p:tgtEl>
                                        <p:attrNameLst>
                                          <p:attrName>style.visibility</p:attrName>
                                        </p:attrNameLst>
                                      </p:cBhvr>
                                      <p:to>
                                        <p:strVal val="visible"/>
                                      </p:to>
                                    </p:set>
                                  </p:childTnLst>
                                </p:cTn>
                              </p:par>
                              <p:par>
                                <p:cTn id="24" presetID="42" presetClass="entr" presetSubtype="0"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1000"/>
                                        <p:tgtEl>
                                          <p:spTgt spid="19"/>
                                        </p:tgtEl>
                                      </p:cBhvr>
                                    </p:animEffect>
                                    <p:anim calcmode="lin" valueType="num">
                                      <p:cBhvr>
                                        <p:cTn id="27" dur="1000" fill="hold"/>
                                        <p:tgtEl>
                                          <p:spTgt spid="19"/>
                                        </p:tgtEl>
                                        <p:attrNameLst>
                                          <p:attrName>ppt_x</p:attrName>
                                        </p:attrNameLst>
                                      </p:cBhvr>
                                      <p:tavLst>
                                        <p:tav tm="0">
                                          <p:val>
                                            <p:strVal val="#ppt_x"/>
                                          </p:val>
                                        </p:tav>
                                        <p:tav tm="100000">
                                          <p:val>
                                            <p:strVal val="#ppt_x"/>
                                          </p:val>
                                        </p:tav>
                                      </p:tavLst>
                                    </p:anim>
                                    <p:anim calcmode="lin" valueType="num">
                                      <p:cBhvr>
                                        <p:cTn id="28"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1000"/>
                                        <p:tgtEl>
                                          <p:spTgt spid="15"/>
                                        </p:tgtEl>
                                      </p:cBhvr>
                                    </p:animEffect>
                                    <p:anim calcmode="lin" valueType="num">
                                      <p:cBhvr>
                                        <p:cTn id="34" dur="1000" fill="hold"/>
                                        <p:tgtEl>
                                          <p:spTgt spid="15"/>
                                        </p:tgtEl>
                                        <p:attrNameLst>
                                          <p:attrName>ppt_x</p:attrName>
                                        </p:attrNameLst>
                                      </p:cBhvr>
                                      <p:tavLst>
                                        <p:tav tm="0">
                                          <p:val>
                                            <p:strVal val="#ppt_x"/>
                                          </p:val>
                                        </p:tav>
                                        <p:tav tm="100000">
                                          <p:val>
                                            <p:strVal val="#ppt_x"/>
                                          </p:val>
                                        </p:tav>
                                      </p:tavLst>
                                    </p:anim>
                                    <p:anim calcmode="lin" valueType="num">
                                      <p:cBhvr>
                                        <p:cTn id="35" dur="1000" fill="hold"/>
                                        <p:tgtEl>
                                          <p:spTgt spid="15"/>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1000"/>
                                        <p:tgtEl>
                                          <p:spTgt spid="21"/>
                                        </p:tgtEl>
                                      </p:cBhvr>
                                    </p:animEffect>
                                    <p:anim calcmode="lin" valueType="num">
                                      <p:cBhvr>
                                        <p:cTn id="39" dur="1000" fill="hold"/>
                                        <p:tgtEl>
                                          <p:spTgt spid="21"/>
                                        </p:tgtEl>
                                        <p:attrNameLst>
                                          <p:attrName>ppt_x</p:attrName>
                                        </p:attrNameLst>
                                      </p:cBhvr>
                                      <p:tavLst>
                                        <p:tav tm="0">
                                          <p:val>
                                            <p:strVal val="#ppt_x"/>
                                          </p:val>
                                        </p:tav>
                                        <p:tav tm="100000">
                                          <p:val>
                                            <p:strVal val="#ppt_x"/>
                                          </p:val>
                                        </p:tav>
                                      </p:tavLst>
                                    </p:anim>
                                    <p:anim calcmode="lin" valueType="num">
                                      <p:cBhvr>
                                        <p:cTn id="40"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7" grpId="0" animBg="1"/>
      <p:bldP spid="9" grpId="0" animBg="1"/>
      <p:bldP spid="9"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EBD2A-3C86-7884-232D-1922446A7FD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6B28167-4B36-ABB3-9EB5-BB5945F215F9}"/>
              </a:ext>
            </a:extLst>
          </p:cNvPr>
          <p:cNvSpPr>
            <a:spLocks noGrp="1"/>
          </p:cNvSpPr>
          <p:nvPr>
            <p:ph type="title"/>
          </p:nvPr>
        </p:nvSpPr>
        <p:spPr/>
        <p:txBody>
          <a:bodyPr>
            <a:normAutofit/>
          </a:bodyPr>
          <a:lstStyle/>
          <a:p>
            <a:r>
              <a:rPr lang="it-IT" sz="4000">
                <a:latin typeface="Arial" panose="020B0604020202020204" pitchFamily="34" charset="0"/>
              </a:rPr>
              <a:t>SIMULATIONS [1]: </a:t>
            </a:r>
            <a:r>
              <a:rPr lang="it-IT" sz="4000" err="1">
                <a:latin typeface="Arial" panose="020B0604020202020204" pitchFamily="34" charset="0"/>
              </a:rPr>
              <a:t>Floating</a:t>
            </a:r>
            <a:r>
              <a:rPr lang="it-IT" sz="4000">
                <a:latin typeface="Arial" panose="020B0604020202020204" pitchFamily="34" charset="0"/>
              </a:rPr>
              <a:t> Device</a:t>
            </a:r>
          </a:p>
        </p:txBody>
      </p:sp>
      <p:graphicFrame>
        <p:nvGraphicFramePr>
          <p:cNvPr id="5" name="Tabella 4">
            <a:extLst>
              <a:ext uri="{FF2B5EF4-FFF2-40B4-BE49-F238E27FC236}">
                <a16:creationId xmlns:a16="http://schemas.microsoft.com/office/drawing/2014/main" id="{A8612A36-1CD1-E269-7694-5ECEBE55AFA5}"/>
              </a:ext>
            </a:extLst>
          </p:cNvPr>
          <p:cNvGraphicFramePr>
            <a:graphicFrameLocks noGrp="1"/>
          </p:cNvGraphicFramePr>
          <p:nvPr>
            <p:extLst>
              <p:ext uri="{D42A27DB-BD31-4B8C-83A1-F6EECF244321}">
                <p14:modId xmlns:p14="http://schemas.microsoft.com/office/powerpoint/2010/main" val="2347521631"/>
              </p:ext>
            </p:extLst>
          </p:nvPr>
        </p:nvGraphicFramePr>
        <p:xfrm>
          <a:off x="478504" y="1348931"/>
          <a:ext cx="3159432" cy="1483360"/>
        </p:xfrm>
        <a:graphic>
          <a:graphicData uri="http://schemas.openxmlformats.org/drawingml/2006/table">
            <a:tbl>
              <a:tblPr firstRow="1" bandRow="1">
                <a:tableStyleId>{5C22544A-7EE6-4342-B048-85BDC9FD1C3A}</a:tableStyleId>
              </a:tblPr>
              <a:tblGrid>
                <a:gridCol w="1723922">
                  <a:extLst>
                    <a:ext uri="{9D8B030D-6E8A-4147-A177-3AD203B41FA5}">
                      <a16:colId xmlns:a16="http://schemas.microsoft.com/office/drawing/2014/main" val="347306131"/>
                    </a:ext>
                  </a:extLst>
                </a:gridCol>
                <a:gridCol w="1435510">
                  <a:extLst>
                    <a:ext uri="{9D8B030D-6E8A-4147-A177-3AD203B41FA5}">
                      <a16:colId xmlns:a16="http://schemas.microsoft.com/office/drawing/2014/main" val="1047406618"/>
                    </a:ext>
                  </a:extLst>
                </a:gridCol>
              </a:tblGrid>
              <a:tr h="370840">
                <a:tc>
                  <a:txBody>
                    <a:bodyPr/>
                    <a:lstStyle/>
                    <a:p>
                      <a:pPr lvl="0">
                        <a:buNone/>
                      </a:pPr>
                      <a:r>
                        <a:rPr lang="it-IT" sz="1800">
                          <a:latin typeface="Times New Roman"/>
                          <a:cs typeface="Times New Roman"/>
                        </a:rPr>
                        <a:t>Hypotesis</a:t>
                      </a:r>
                    </a:p>
                  </a:txBody>
                  <a:tcPr/>
                </a:tc>
                <a:tc>
                  <a:txBody>
                    <a:bodyPr/>
                    <a:lstStyle/>
                    <a:p>
                      <a:r>
                        <a:rPr lang="it-IT" sz="1800">
                          <a:latin typeface="Times New Roman"/>
                          <a:cs typeface="Times New Roman"/>
                        </a:rPr>
                        <a:t>Values </a:t>
                      </a:r>
                    </a:p>
                  </a:txBody>
                  <a:tcPr/>
                </a:tc>
                <a:extLst>
                  <a:ext uri="{0D108BD9-81ED-4DB2-BD59-A6C34878D82A}">
                    <a16:rowId xmlns:a16="http://schemas.microsoft.com/office/drawing/2014/main" val="3179322792"/>
                  </a:ext>
                </a:extLst>
              </a:tr>
              <a:tr h="370840">
                <a:tc>
                  <a:txBody>
                    <a:bodyPr/>
                    <a:lstStyle/>
                    <a:p>
                      <a:r>
                        <a:rPr lang="it-IT" sz="1800">
                          <a:latin typeface="Times New Roman"/>
                          <a:cs typeface="Times New Roman"/>
                        </a:rPr>
                        <a:t>Frequency</a:t>
                      </a:r>
                    </a:p>
                  </a:txBody>
                  <a:tcPr/>
                </a:tc>
                <a:tc>
                  <a:txBody>
                    <a:bodyPr/>
                    <a:lstStyle/>
                    <a:p>
                      <a:r>
                        <a:rPr lang="it-IT" sz="1800">
                          <a:latin typeface="Times New Roman"/>
                          <a:cs typeface="Times New Roman"/>
                        </a:rPr>
                        <a:t>915 MHz</a:t>
                      </a:r>
                    </a:p>
                  </a:txBody>
                  <a:tcPr/>
                </a:tc>
                <a:extLst>
                  <a:ext uri="{0D108BD9-81ED-4DB2-BD59-A6C34878D82A}">
                    <a16:rowId xmlns:a16="http://schemas.microsoft.com/office/drawing/2014/main" val="284369545"/>
                  </a:ext>
                </a:extLst>
              </a:tr>
              <a:tr h="370840">
                <a:tc>
                  <a:txBody>
                    <a:bodyPr/>
                    <a:lstStyle/>
                    <a:p>
                      <a:r>
                        <a:rPr lang="it-IT" sz="1800">
                          <a:latin typeface="Times New Roman"/>
                          <a:cs typeface="Times New Roman"/>
                        </a:rPr>
                        <a:t>Rbody = d</a:t>
                      </a:r>
                    </a:p>
                  </a:txBody>
                  <a:tcPr/>
                </a:tc>
                <a:tc>
                  <a:txBody>
                    <a:bodyPr/>
                    <a:lstStyle/>
                    <a:p>
                      <a:r>
                        <a:rPr lang="it-IT" sz="1800">
                          <a:latin typeface="Times New Roman"/>
                          <a:cs typeface="Times New Roman"/>
                        </a:rPr>
                        <a:t>10.35 cm</a:t>
                      </a:r>
                    </a:p>
                  </a:txBody>
                  <a:tcPr/>
                </a:tc>
                <a:extLst>
                  <a:ext uri="{0D108BD9-81ED-4DB2-BD59-A6C34878D82A}">
                    <a16:rowId xmlns:a16="http://schemas.microsoft.com/office/drawing/2014/main" val="57426017"/>
                  </a:ext>
                </a:extLst>
              </a:tr>
              <a:tr h="370840">
                <a:tc>
                  <a:txBody>
                    <a:bodyPr/>
                    <a:lstStyle/>
                    <a:p>
                      <a:r>
                        <a:rPr lang="it-IT" sz="1800">
                          <a:latin typeface="Times New Roman"/>
                          <a:cs typeface="Times New Roman"/>
                        </a:rPr>
                        <a:t>Rimpl </a:t>
                      </a:r>
                    </a:p>
                  </a:txBody>
                  <a:tcPr/>
                </a:tc>
                <a:tc>
                  <a:txBody>
                    <a:bodyPr/>
                    <a:lstStyle/>
                    <a:p>
                      <a:r>
                        <a:rPr lang="it-IT" sz="1800" dirty="0">
                          <a:latin typeface="Times New Roman"/>
                          <a:cs typeface="Times New Roman"/>
                        </a:rPr>
                        <a:t>0.5 cm</a:t>
                      </a:r>
                    </a:p>
                  </a:txBody>
                  <a:tcPr/>
                </a:tc>
                <a:extLst>
                  <a:ext uri="{0D108BD9-81ED-4DB2-BD59-A6C34878D82A}">
                    <a16:rowId xmlns:a16="http://schemas.microsoft.com/office/drawing/2014/main" val="2223124822"/>
                  </a:ext>
                </a:extLst>
              </a:tr>
            </a:tbl>
          </a:graphicData>
        </a:graphic>
      </p:graphicFrame>
      <p:graphicFrame>
        <p:nvGraphicFramePr>
          <p:cNvPr id="4" name="Tabella 3">
            <a:extLst>
              <a:ext uri="{FF2B5EF4-FFF2-40B4-BE49-F238E27FC236}">
                <a16:creationId xmlns:a16="http://schemas.microsoft.com/office/drawing/2014/main" id="{790BEDD0-4CB1-BFC1-D56C-871E875CB66F}"/>
              </a:ext>
            </a:extLst>
          </p:cNvPr>
          <p:cNvGraphicFramePr>
            <a:graphicFrameLocks noGrp="1"/>
          </p:cNvGraphicFramePr>
          <p:nvPr>
            <p:extLst>
              <p:ext uri="{D42A27DB-BD31-4B8C-83A1-F6EECF244321}">
                <p14:modId xmlns:p14="http://schemas.microsoft.com/office/powerpoint/2010/main" val="2541091871"/>
              </p:ext>
            </p:extLst>
          </p:nvPr>
        </p:nvGraphicFramePr>
        <p:xfrm>
          <a:off x="478504" y="3304258"/>
          <a:ext cx="4925292" cy="2834640"/>
        </p:xfrm>
        <a:graphic>
          <a:graphicData uri="http://schemas.openxmlformats.org/drawingml/2006/table">
            <a:tbl>
              <a:tblPr firstRow="1" bandRow="1">
                <a:tableStyleId>{5C22544A-7EE6-4342-B048-85BDC9FD1C3A}</a:tableStyleId>
              </a:tblPr>
              <a:tblGrid>
                <a:gridCol w="1641764">
                  <a:extLst>
                    <a:ext uri="{9D8B030D-6E8A-4147-A177-3AD203B41FA5}">
                      <a16:colId xmlns:a16="http://schemas.microsoft.com/office/drawing/2014/main" val="687410471"/>
                    </a:ext>
                  </a:extLst>
                </a:gridCol>
                <a:gridCol w="1641764">
                  <a:extLst>
                    <a:ext uri="{9D8B030D-6E8A-4147-A177-3AD203B41FA5}">
                      <a16:colId xmlns:a16="http://schemas.microsoft.com/office/drawing/2014/main" val="1061306889"/>
                    </a:ext>
                  </a:extLst>
                </a:gridCol>
                <a:gridCol w="1641764">
                  <a:extLst>
                    <a:ext uri="{9D8B030D-6E8A-4147-A177-3AD203B41FA5}">
                      <a16:colId xmlns:a16="http://schemas.microsoft.com/office/drawing/2014/main" val="432733876"/>
                    </a:ext>
                  </a:extLst>
                </a:gridCol>
              </a:tblGrid>
              <a:tr h="363778">
                <a:tc>
                  <a:txBody>
                    <a:bodyPr/>
                    <a:lstStyle/>
                    <a:p>
                      <a:r>
                        <a:rPr lang="it-IT" sz="1800">
                          <a:latin typeface="Times New Roman" panose="02020603050405020304" pitchFamily="18" charset="0"/>
                          <a:cs typeface="Times New Roman" panose="02020603050405020304" pitchFamily="18" charset="0"/>
                        </a:rPr>
                        <a:t>Tissue Name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a:latin typeface="Times New Roman" panose="02020603050405020304" pitchFamily="18" charset="0"/>
                          <a:cs typeface="Times New Roman" panose="02020603050405020304" pitchFamily="18" charset="0"/>
                        </a:rPr>
                        <a:t>Relative </a:t>
                      </a:r>
                      <a:r>
                        <a:rPr lang="it-IT" sz="1800" err="1">
                          <a:latin typeface="Times New Roman" panose="02020603050405020304" pitchFamily="18" charset="0"/>
                          <a:cs typeface="Times New Roman" panose="02020603050405020304" pitchFamily="18" charset="0"/>
                        </a:rPr>
                        <a:t>Permittivity</a:t>
                      </a:r>
                      <a:endParaRPr lang="it-IT" sz="180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a:latin typeface="Times New Roman" panose="02020603050405020304" pitchFamily="18" charset="0"/>
                          <a:cs typeface="Times New Roman" panose="02020603050405020304" pitchFamily="18" charset="0"/>
                        </a:rPr>
                        <a:t>Conductivity [S/m]</a:t>
                      </a:r>
                    </a:p>
                  </a:txBody>
                  <a:tcPr/>
                </a:tc>
                <a:extLst>
                  <a:ext uri="{0D108BD9-81ED-4DB2-BD59-A6C34878D82A}">
                    <a16:rowId xmlns:a16="http://schemas.microsoft.com/office/drawing/2014/main" val="614612131"/>
                  </a:ext>
                </a:extLst>
              </a:tr>
              <a:tr h="3637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a:latin typeface="Times New Roman" panose="02020603050405020304" pitchFamily="18" charset="0"/>
                          <a:cs typeface="Times New Roman" panose="02020603050405020304" pitchFamily="18" charset="0"/>
                        </a:rPr>
                        <a:t>Air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a:latin typeface="Times New Roman" panose="02020603050405020304" pitchFamily="18" charset="0"/>
                          <a:cs typeface="Times New Roman" panose="02020603050405020304" pitchFamily="18" charset="0"/>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a:latin typeface="Times New Roman" panose="02020603050405020304" pitchFamily="18" charset="0"/>
                          <a:cs typeface="Times New Roman" panose="02020603050405020304" pitchFamily="18" charset="0"/>
                        </a:rPr>
                        <a:t>0</a:t>
                      </a:r>
                    </a:p>
                  </a:txBody>
                  <a:tcPr/>
                </a:tc>
                <a:extLst>
                  <a:ext uri="{0D108BD9-81ED-4DB2-BD59-A6C34878D82A}">
                    <a16:rowId xmlns:a16="http://schemas.microsoft.com/office/drawing/2014/main" val="2092138218"/>
                  </a:ext>
                </a:extLst>
              </a:tr>
              <a:tr h="3637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a:latin typeface="Times New Roman" panose="02020603050405020304" pitchFamily="18" charset="0"/>
                          <a:cs typeface="Times New Roman" panose="02020603050405020304" pitchFamily="18" charset="0"/>
                        </a:rPr>
                        <a:t>Bodyfluid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a:latin typeface="Times New Roman" panose="02020603050405020304" pitchFamily="18" charset="0"/>
                          <a:cs typeface="Times New Roman" panose="02020603050405020304" pitchFamily="18" charset="0"/>
                        </a:rPr>
                        <a:t>68.898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dirty="0">
                          <a:latin typeface="Times New Roman" panose="02020603050405020304" pitchFamily="18" charset="0"/>
                          <a:cs typeface="Times New Roman" panose="02020603050405020304" pitchFamily="18" charset="0"/>
                        </a:rPr>
                        <a:t>1.6406</a:t>
                      </a:r>
                    </a:p>
                  </a:txBody>
                  <a:tcPr/>
                </a:tc>
                <a:extLst>
                  <a:ext uri="{0D108BD9-81ED-4DB2-BD59-A6C34878D82A}">
                    <a16:rowId xmlns:a16="http://schemas.microsoft.com/office/drawing/2014/main" val="439083583"/>
                  </a:ext>
                </a:extLst>
              </a:tr>
              <a:tr h="3637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a:latin typeface="Times New Roman" panose="02020603050405020304" pitchFamily="18" charset="0"/>
                          <a:cs typeface="Times New Roman" panose="02020603050405020304" pitchFamily="18" charset="0"/>
                        </a:rPr>
                        <a:t>Bladder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a:latin typeface="Times New Roman" panose="02020603050405020304" pitchFamily="18" charset="0"/>
                          <a:cs typeface="Times New Roman" panose="02020603050405020304" pitchFamily="18" charset="0"/>
                        </a:rPr>
                        <a:t>18.923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latin typeface="Times New Roman" panose="02020603050405020304" pitchFamily="18" charset="0"/>
                          <a:cs typeface="Times New Roman" panose="02020603050405020304" pitchFamily="18" charset="0"/>
                        </a:rPr>
                        <a:t>0.38506</a:t>
                      </a:r>
                      <a:endParaRPr lang="it-IT" sz="18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81946939"/>
                  </a:ext>
                </a:extLst>
              </a:tr>
              <a:tr h="3637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a:latin typeface="Times New Roman" panose="02020603050405020304" pitchFamily="18" charset="0"/>
                          <a:cs typeface="Times New Roman" panose="02020603050405020304" pitchFamily="18" charset="0"/>
                        </a:rPr>
                        <a:t>Fat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a:latin typeface="Times New Roman" panose="02020603050405020304" pitchFamily="18" charset="0"/>
                          <a:cs typeface="Times New Roman" panose="02020603050405020304" pitchFamily="18" charset="0"/>
                        </a:rPr>
                        <a:t>5.4596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0.051402</a:t>
                      </a:r>
                      <a:endParaRPr lang="it-IT"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60150004"/>
                  </a:ext>
                </a:extLst>
              </a:tr>
              <a:tr h="3637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a:latin typeface="Times New Roman" panose="02020603050405020304" pitchFamily="18" charset="0"/>
                          <a:cs typeface="Times New Roman" panose="02020603050405020304" pitchFamily="18" charset="0"/>
                        </a:rPr>
                        <a:t>Dry Skin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a:latin typeface="Times New Roman" panose="02020603050405020304" pitchFamily="18" charset="0"/>
                          <a:cs typeface="Times New Roman" panose="02020603050405020304" pitchFamily="18" charset="0"/>
                        </a:rPr>
                        <a:t>41.329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latin typeface="Times New Roman" panose="02020603050405020304" pitchFamily="18" charset="0"/>
                          <a:cs typeface="Times New Roman" panose="02020603050405020304" pitchFamily="18" charset="0"/>
                        </a:rPr>
                        <a:t>0.87169</a:t>
                      </a:r>
                      <a:endParaRPr lang="it-IT" sz="18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25253130"/>
                  </a:ext>
                </a:extLst>
              </a:tr>
              <a:tr h="363778">
                <a:tc>
                  <a:txBody>
                    <a:bodyPr/>
                    <a:lstStyle/>
                    <a:p>
                      <a:r>
                        <a:rPr lang="it-IT" sz="1800">
                          <a:latin typeface="Times New Roman" panose="02020603050405020304" pitchFamily="18" charset="0"/>
                          <a:cs typeface="Times New Roman" panose="02020603050405020304" pitchFamily="18" charset="0"/>
                        </a:rPr>
                        <a:t>Urine</a:t>
                      </a:r>
                    </a:p>
                  </a:txBody>
                  <a:tcPr/>
                </a:tc>
                <a:tc>
                  <a:txBody>
                    <a:bodyPr/>
                    <a:lstStyle/>
                    <a:p>
                      <a:r>
                        <a:rPr lang="it-IT" sz="1800">
                          <a:latin typeface="Times New Roman" panose="02020603050405020304" pitchFamily="18" charset="0"/>
                          <a:cs typeface="Times New Roman" panose="02020603050405020304" pitchFamily="18" charset="0"/>
                        </a:rPr>
                        <a:t>34.949</a:t>
                      </a:r>
                    </a:p>
                  </a:txBody>
                  <a:tcPr/>
                </a:tc>
                <a:tc>
                  <a:txBody>
                    <a:bodyPr/>
                    <a:lstStyle/>
                    <a:p>
                      <a:r>
                        <a:rPr lang="it-IT" sz="1800" dirty="0">
                          <a:latin typeface="Times New Roman" panose="02020603050405020304" pitchFamily="18" charset="0"/>
                          <a:cs typeface="Times New Roman" panose="02020603050405020304" pitchFamily="18" charset="0"/>
                        </a:rPr>
                        <a:t>0.8203</a:t>
                      </a:r>
                    </a:p>
                  </a:txBody>
                  <a:tcPr/>
                </a:tc>
                <a:extLst>
                  <a:ext uri="{0D108BD9-81ED-4DB2-BD59-A6C34878D82A}">
                    <a16:rowId xmlns:a16="http://schemas.microsoft.com/office/drawing/2014/main" val="3075693043"/>
                  </a:ext>
                </a:extLst>
              </a:tr>
            </a:tbl>
          </a:graphicData>
        </a:graphic>
      </p:graphicFrame>
      <p:pic>
        <p:nvPicPr>
          <p:cNvPr id="6" name="Immagine 5">
            <a:extLst>
              <a:ext uri="{FF2B5EF4-FFF2-40B4-BE49-F238E27FC236}">
                <a16:creationId xmlns:a16="http://schemas.microsoft.com/office/drawing/2014/main" id="{5A7A5C68-0406-AE71-D0D9-16AE0D9E27D4}"/>
              </a:ext>
            </a:extLst>
          </p:cNvPr>
          <p:cNvPicPr>
            <a:picLocks noChangeAspect="1"/>
          </p:cNvPicPr>
          <p:nvPr/>
        </p:nvPicPr>
        <p:blipFill>
          <a:blip r:embed="rId2"/>
          <a:srcRect l="10071" t="2723" r="12757" b="3513"/>
          <a:stretch/>
        </p:blipFill>
        <p:spPr>
          <a:xfrm>
            <a:off x="6680051" y="1775974"/>
            <a:ext cx="4518891" cy="4471037"/>
          </a:xfrm>
          <a:prstGeom prst="rect">
            <a:avLst/>
          </a:prstGeom>
        </p:spPr>
      </p:pic>
      <p:cxnSp>
        <p:nvCxnSpPr>
          <p:cNvPr id="8" name="Connettore 2 7">
            <a:extLst>
              <a:ext uri="{FF2B5EF4-FFF2-40B4-BE49-F238E27FC236}">
                <a16:creationId xmlns:a16="http://schemas.microsoft.com/office/drawing/2014/main" id="{F72A896C-E8F7-38A8-ECC2-A8FF69C8295C}"/>
              </a:ext>
            </a:extLst>
          </p:cNvPr>
          <p:cNvCxnSpPr>
            <a:cxnSpLocks/>
          </p:cNvCxnSpPr>
          <p:nvPr/>
        </p:nvCxnSpPr>
        <p:spPr>
          <a:xfrm flipH="1" flipV="1">
            <a:off x="7475656" y="1513730"/>
            <a:ext cx="501445" cy="5244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Connettore 2 11">
            <a:extLst>
              <a:ext uri="{FF2B5EF4-FFF2-40B4-BE49-F238E27FC236}">
                <a16:creationId xmlns:a16="http://schemas.microsoft.com/office/drawing/2014/main" id="{18180A99-CD89-4325-9E4F-952045B63D69}"/>
              </a:ext>
            </a:extLst>
          </p:cNvPr>
          <p:cNvCxnSpPr>
            <a:cxnSpLocks/>
          </p:cNvCxnSpPr>
          <p:nvPr/>
        </p:nvCxnSpPr>
        <p:spPr>
          <a:xfrm flipH="1" flipV="1">
            <a:off x="6961923" y="1998136"/>
            <a:ext cx="897191" cy="8513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Connettore 2 13">
            <a:extLst>
              <a:ext uri="{FF2B5EF4-FFF2-40B4-BE49-F238E27FC236}">
                <a16:creationId xmlns:a16="http://schemas.microsoft.com/office/drawing/2014/main" id="{1BE9E085-5D3F-E474-A26D-BE45EA9A5AC1}"/>
              </a:ext>
            </a:extLst>
          </p:cNvPr>
          <p:cNvCxnSpPr>
            <a:cxnSpLocks/>
          </p:cNvCxnSpPr>
          <p:nvPr/>
        </p:nvCxnSpPr>
        <p:spPr>
          <a:xfrm flipH="1" flipV="1">
            <a:off x="6512093" y="2657214"/>
            <a:ext cx="1347021" cy="13137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Connettore 2 19">
            <a:extLst>
              <a:ext uri="{FF2B5EF4-FFF2-40B4-BE49-F238E27FC236}">
                <a16:creationId xmlns:a16="http://schemas.microsoft.com/office/drawing/2014/main" id="{38CC8099-9E89-48AC-4637-A3FBBC2F885F}"/>
              </a:ext>
            </a:extLst>
          </p:cNvPr>
          <p:cNvCxnSpPr/>
          <p:nvPr/>
        </p:nvCxnSpPr>
        <p:spPr>
          <a:xfrm flipV="1">
            <a:off x="9301316" y="1755729"/>
            <a:ext cx="1120877" cy="18029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Connettore 2 21">
            <a:extLst>
              <a:ext uri="{FF2B5EF4-FFF2-40B4-BE49-F238E27FC236}">
                <a16:creationId xmlns:a16="http://schemas.microsoft.com/office/drawing/2014/main" id="{84B14E7C-4C0F-99F1-B9FC-C9BFCFAE0BD0}"/>
              </a:ext>
            </a:extLst>
          </p:cNvPr>
          <p:cNvCxnSpPr>
            <a:cxnSpLocks/>
          </p:cNvCxnSpPr>
          <p:nvPr/>
        </p:nvCxnSpPr>
        <p:spPr>
          <a:xfrm>
            <a:off x="9301316" y="4359550"/>
            <a:ext cx="1406013" cy="16419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CasellaDiTesto 25">
            <a:extLst>
              <a:ext uri="{FF2B5EF4-FFF2-40B4-BE49-F238E27FC236}">
                <a16:creationId xmlns:a16="http://schemas.microsoft.com/office/drawing/2014/main" id="{B6013B2F-B204-94EE-57B6-A8B5F371E8E6}"/>
              </a:ext>
            </a:extLst>
          </p:cNvPr>
          <p:cNvSpPr txBox="1"/>
          <p:nvPr/>
        </p:nvSpPr>
        <p:spPr>
          <a:xfrm>
            <a:off x="5770567" y="1161928"/>
            <a:ext cx="1818968" cy="369332"/>
          </a:xfrm>
          <a:prstGeom prst="rect">
            <a:avLst/>
          </a:prstGeom>
          <a:noFill/>
        </p:spPr>
        <p:txBody>
          <a:bodyPr wrap="square" rtlCol="0" anchor="ctr">
            <a:spAutoFit/>
          </a:bodyPr>
          <a:lstStyle/>
          <a:p>
            <a:pPr algn="l"/>
            <a:r>
              <a:rPr lang="it-IT" b="0" dirty="0">
                <a:solidFill>
                  <a:schemeClr val="tx1"/>
                </a:solidFill>
                <a:latin typeface="Times New Roman" panose="02020603050405020304" pitchFamily="18" charset="0"/>
                <a:cs typeface="Times New Roman" panose="02020603050405020304" pitchFamily="18" charset="0"/>
              </a:rPr>
              <a:t>Dry </a:t>
            </a:r>
            <a:r>
              <a:rPr lang="it-IT" b="0" dirty="0" err="1">
                <a:solidFill>
                  <a:schemeClr val="tx1"/>
                </a:solidFill>
                <a:latin typeface="Times New Roman" panose="02020603050405020304" pitchFamily="18" charset="0"/>
                <a:cs typeface="Times New Roman" panose="02020603050405020304" pitchFamily="18" charset="0"/>
              </a:rPr>
              <a:t>Skin</a:t>
            </a:r>
            <a:r>
              <a:rPr lang="it-IT" b="0" dirty="0">
                <a:solidFill>
                  <a:schemeClr val="tx1"/>
                </a:solidFill>
                <a:latin typeface="Times New Roman" panose="02020603050405020304" pitchFamily="18" charset="0"/>
                <a:cs typeface="Times New Roman" panose="02020603050405020304" pitchFamily="18" charset="0"/>
              </a:rPr>
              <a:t> (0.2cm)</a:t>
            </a:r>
          </a:p>
        </p:txBody>
      </p:sp>
      <p:sp>
        <p:nvSpPr>
          <p:cNvPr id="29" name="CasellaDiTesto 28">
            <a:extLst>
              <a:ext uri="{FF2B5EF4-FFF2-40B4-BE49-F238E27FC236}">
                <a16:creationId xmlns:a16="http://schemas.microsoft.com/office/drawing/2014/main" id="{CD5512F2-13E6-64E9-F957-C650BF2482FE}"/>
              </a:ext>
            </a:extLst>
          </p:cNvPr>
          <p:cNvSpPr txBox="1"/>
          <p:nvPr/>
        </p:nvSpPr>
        <p:spPr>
          <a:xfrm>
            <a:off x="5432726" y="1782692"/>
            <a:ext cx="1163346" cy="430887"/>
          </a:xfrm>
          <a:prstGeom prst="rect">
            <a:avLst/>
          </a:prstGeom>
          <a:noFill/>
        </p:spPr>
        <p:txBody>
          <a:bodyPr wrap="square" rtlCol="0" anchor="ctr">
            <a:spAutoFit/>
          </a:bodyPr>
          <a:lstStyle/>
          <a:p>
            <a:pPr algn="l"/>
            <a:endParaRPr lang="it-IT" sz="2200" b="0" dirty="0">
              <a:solidFill>
                <a:schemeClr val="tx1"/>
              </a:solidFill>
            </a:endParaRPr>
          </a:p>
        </p:txBody>
      </p:sp>
      <p:sp>
        <p:nvSpPr>
          <p:cNvPr id="30" name="CasellaDiTesto 29">
            <a:extLst>
              <a:ext uri="{FF2B5EF4-FFF2-40B4-BE49-F238E27FC236}">
                <a16:creationId xmlns:a16="http://schemas.microsoft.com/office/drawing/2014/main" id="{4841B257-DB52-4BC7-31E7-3199C5C5B7EA}"/>
              </a:ext>
            </a:extLst>
          </p:cNvPr>
          <p:cNvSpPr txBox="1"/>
          <p:nvPr/>
        </p:nvSpPr>
        <p:spPr>
          <a:xfrm>
            <a:off x="5770567" y="1734052"/>
            <a:ext cx="1347021" cy="369332"/>
          </a:xfrm>
          <a:prstGeom prst="rect">
            <a:avLst/>
          </a:prstGeom>
          <a:noFill/>
        </p:spPr>
        <p:txBody>
          <a:bodyPr wrap="square" rtlCol="0" anchor="ctr">
            <a:spAutoFit/>
          </a:bodyPr>
          <a:lstStyle/>
          <a:p>
            <a:pPr algn="l"/>
            <a:r>
              <a:rPr lang="it-IT" b="0" dirty="0" err="1">
                <a:solidFill>
                  <a:schemeClr val="tx1"/>
                </a:solidFill>
                <a:latin typeface="Times New Roman" panose="02020603050405020304" pitchFamily="18" charset="0"/>
                <a:cs typeface="Times New Roman" panose="02020603050405020304" pitchFamily="18" charset="0"/>
              </a:rPr>
              <a:t>Fat</a:t>
            </a:r>
            <a:r>
              <a:rPr lang="it-IT" b="0" dirty="0">
                <a:solidFill>
                  <a:schemeClr val="tx1"/>
                </a:solidFill>
                <a:latin typeface="Times New Roman" panose="02020603050405020304" pitchFamily="18" charset="0"/>
                <a:cs typeface="Times New Roman" panose="02020603050405020304" pitchFamily="18" charset="0"/>
              </a:rPr>
              <a:t> (5cm)</a:t>
            </a:r>
          </a:p>
        </p:txBody>
      </p:sp>
      <p:sp>
        <p:nvSpPr>
          <p:cNvPr id="31" name="CasellaDiTesto 30">
            <a:extLst>
              <a:ext uri="{FF2B5EF4-FFF2-40B4-BE49-F238E27FC236}">
                <a16:creationId xmlns:a16="http://schemas.microsoft.com/office/drawing/2014/main" id="{DD795402-27B7-9F15-6EFC-34B67BFEEB53}"/>
              </a:ext>
            </a:extLst>
          </p:cNvPr>
          <p:cNvSpPr txBox="1"/>
          <p:nvPr/>
        </p:nvSpPr>
        <p:spPr>
          <a:xfrm>
            <a:off x="5080138" y="2290897"/>
            <a:ext cx="1579048" cy="369332"/>
          </a:xfrm>
          <a:prstGeom prst="rect">
            <a:avLst/>
          </a:prstGeom>
          <a:noFill/>
        </p:spPr>
        <p:txBody>
          <a:bodyPr wrap="square" rtlCol="0" anchor="ctr">
            <a:spAutoFit/>
          </a:bodyPr>
          <a:lstStyle/>
          <a:p>
            <a:pPr algn="l"/>
            <a:r>
              <a:rPr lang="it-IT" b="0" dirty="0" err="1">
                <a:solidFill>
                  <a:schemeClr val="tx1"/>
                </a:solidFill>
                <a:latin typeface="Times New Roman" panose="02020603050405020304" pitchFamily="18" charset="0"/>
                <a:cs typeface="Times New Roman" panose="02020603050405020304" pitchFamily="18" charset="0"/>
              </a:rPr>
              <a:t>Bladder</a:t>
            </a:r>
            <a:r>
              <a:rPr lang="it-IT" b="0" dirty="0">
                <a:solidFill>
                  <a:schemeClr val="tx1"/>
                </a:solidFill>
                <a:latin typeface="Times New Roman" panose="02020603050405020304" pitchFamily="18" charset="0"/>
                <a:cs typeface="Times New Roman" panose="02020603050405020304" pitchFamily="18" charset="0"/>
              </a:rPr>
              <a:t> (1cm)</a:t>
            </a:r>
          </a:p>
        </p:txBody>
      </p:sp>
      <p:sp>
        <p:nvSpPr>
          <p:cNvPr id="32" name="CasellaDiTesto 31">
            <a:extLst>
              <a:ext uri="{FF2B5EF4-FFF2-40B4-BE49-F238E27FC236}">
                <a16:creationId xmlns:a16="http://schemas.microsoft.com/office/drawing/2014/main" id="{ABB20227-3CE1-E2E8-46C1-56834DD4F5FA}"/>
              </a:ext>
            </a:extLst>
          </p:cNvPr>
          <p:cNvSpPr txBox="1"/>
          <p:nvPr/>
        </p:nvSpPr>
        <p:spPr>
          <a:xfrm>
            <a:off x="10467939" y="1468951"/>
            <a:ext cx="1573162" cy="369332"/>
          </a:xfrm>
          <a:prstGeom prst="rect">
            <a:avLst/>
          </a:prstGeom>
          <a:noFill/>
        </p:spPr>
        <p:txBody>
          <a:bodyPr wrap="square" lIns="91440" tIns="45720" rIns="91440" bIns="45720" rtlCol="0" anchor="ctr">
            <a:spAutoFit/>
          </a:bodyPr>
          <a:lstStyle/>
          <a:p>
            <a:r>
              <a:rPr lang="it-IT" b="0">
                <a:solidFill>
                  <a:schemeClr val="tx1"/>
                </a:solidFill>
                <a:latin typeface="Times New Roman" panose="02020603050405020304" pitchFamily="18" charset="0"/>
                <a:cs typeface="Times New Roman" panose="02020603050405020304" pitchFamily="18" charset="0"/>
              </a:rPr>
              <a:t>Air </a:t>
            </a:r>
            <a:r>
              <a:rPr lang="it-IT" b="0" dirty="0">
                <a:solidFill>
                  <a:schemeClr val="tx1"/>
                </a:solidFill>
                <a:latin typeface="Times New Roman" panose="02020603050405020304" pitchFamily="18" charset="0"/>
                <a:cs typeface="Times New Roman" panose="02020603050405020304" pitchFamily="18" charset="0"/>
              </a:rPr>
              <a:t>(</a:t>
            </a:r>
            <a:r>
              <a:rPr lang="it-IT" b="0">
                <a:solidFill>
                  <a:schemeClr val="tx1"/>
                </a:solidFill>
                <a:latin typeface="Times New Roman" panose="02020603050405020304" pitchFamily="18" charset="0"/>
                <a:cs typeface="Times New Roman" panose="02020603050405020304" pitchFamily="18" charset="0"/>
              </a:rPr>
              <a:t>4.15 cm</a:t>
            </a:r>
            <a:r>
              <a:rPr lang="it-IT" b="0" dirty="0">
                <a:solidFill>
                  <a:schemeClr val="tx1"/>
                </a:solidFill>
                <a:latin typeface="Times New Roman" panose="02020603050405020304" pitchFamily="18" charset="0"/>
                <a:cs typeface="Times New Roman" panose="02020603050405020304" pitchFamily="18" charset="0"/>
              </a:rPr>
              <a:t>)</a:t>
            </a:r>
            <a:endParaRPr lang="it-IT">
              <a:latin typeface="Times New Roman" panose="02020603050405020304" pitchFamily="18" charset="0"/>
              <a:cs typeface="Times New Roman" panose="02020603050405020304" pitchFamily="18" charset="0"/>
            </a:endParaRPr>
          </a:p>
        </p:txBody>
      </p:sp>
      <p:sp>
        <p:nvSpPr>
          <p:cNvPr id="33" name="CasellaDiTesto 32">
            <a:extLst>
              <a:ext uri="{FF2B5EF4-FFF2-40B4-BE49-F238E27FC236}">
                <a16:creationId xmlns:a16="http://schemas.microsoft.com/office/drawing/2014/main" id="{EE930524-F450-CEE8-CE8A-A8FE6E7AAF44}"/>
              </a:ext>
            </a:extLst>
          </p:cNvPr>
          <p:cNvSpPr txBox="1"/>
          <p:nvPr/>
        </p:nvSpPr>
        <p:spPr>
          <a:xfrm>
            <a:off x="10633587" y="6006677"/>
            <a:ext cx="1740310" cy="369332"/>
          </a:xfrm>
          <a:prstGeom prst="rect">
            <a:avLst/>
          </a:prstGeom>
          <a:noFill/>
        </p:spPr>
        <p:txBody>
          <a:bodyPr wrap="square" lIns="91440" tIns="45720" rIns="91440" bIns="45720" rtlCol="0" anchor="ctr">
            <a:spAutoFit/>
          </a:bodyPr>
          <a:lstStyle/>
          <a:p>
            <a:pPr algn="l"/>
            <a:r>
              <a:rPr lang="it-IT">
                <a:latin typeface="Times New Roman"/>
                <a:cs typeface="Times New Roman"/>
              </a:rPr>
              <a:t>Urine (4.15 cm)</a:t>
            </a:r>
            <a:endParaRPr lang="it-IT" sz="2200" b="0" dirty="0">
              <a:solidFill>
                <a:schemeClr val="tx1"/>
              </a:solidFill>
            </a:endParaRPr>
          </a:p>
        </p:txBody>
      </p:sp>
      <p:sp>
        <p:nvSpPr>
          <p:cNvPr id="34" name="Connettore 33">
            <a:extLst>
              <a:ext uri="{FF2B5EF4-FFF2-40B4-BE49-F238E27FC236}">
                <a16:creationId xmlns:a16="http://schemas.microsoft.com/office/drawing/2014/main" id="{FED6B510-6F31-2B5C-2D81-1E3120C63694}"/>
              </a:ext>
            </a:extLst>
          </p:cNvPr>
          <p:cNvSpPr/>
          <p:nvPr/>
        </p:nvSpPr>
        <p:spPr>
          <a:xfrm>
            <a:off x="8836257" y="3814847"/>
            <a:ext cx="206478" cy="196645"/>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36" name="Connettore 2 35">
            <a:extLst>
              <a:ext uri="{FF2B5EF4-FFF2-40B4-BE49-F238E27FC236}">
                <a16:creationId xmlns:a16="http://schemas.microsoft.com/office/drawing/2014/main" id="{F093EBAF-8D88-5E12-F712-86CF2D61A529}"/>
              </a:ext>
            </a:extLst>
          </p:cNvPr>
          <p:cNvCxnSpPr>
            <a:cxnSpLocks/>
          </p:cNvCxnSpPr>
          <p:nvPr/>
        </p:nvCxnSpPr>
        <p:spPr>
          <a:xfrm flipH="1">
            <a:off x="6961923" y="3913238"/>
            <a:ext cx="1958717" cy="20882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CasellaDiTesto 37">
            <a:extLst>
              <a:ext uri="{FF2B5EF4-FFF2-40B4-BE49-F238E27FC236}">
                <a16:creationId xmlns:a16="http://schemas.microsoft.com/office/drawing/2014/main" id="{75322AF8-331C-FB69-1566-76B5F99D387F}"/>
              </a:ext>
            </a:extLst>
          </p:cNvPr>
          <p:cNvSpPr txBox="1"/>
          <p:nvPr/>
        </p:nvSpPr>
        <p:spPr>
          <a:xfrm>
            <a:off x="5869662" y="6037455"/>
            <a:ext cx="2052195" cy="369332"/>
          </a:xfrm>
          <a:prstGeom prst="rect">
            <a:avLst/>
          </a:prstGeom>
          <a:noFill/>
        </p:spPr>
        <p:txBody>
          <a:bodyPr wrap="square" rtlCol="0" anchor="ctr">
            <a:spAutoFit/>
          </a:bodyPr>
          <a:lstStyle/>
          <a:p>
            <a:pPr algn="l"/>
            <a:r>
              <a:rPr lang="it-IT" b="1" dirty="0">
                <a:solidFill>
                  <a:schemeClr val="tx1"/>
                </a:solidFill>
                <a:latin typeface="Times New Roman" panose="02020603050405020304" pitchFamily="18" charset="0"/>
                <a:cs typeface="Times New Roman" panose="02020603050405020304" pitchFamily="18" charset="0"/>
              </a:rPr>
              <a:t>Device (0.5cm)</a:t>
            </a:r>
          </a:p>
        </p:txBody>
      </p:sp>
    </p:spTree>
    <p:extLst>
      <p:ext uri="{BB962C8B-B14F-4D97-AF65-F5344CB8AC3E}">
        <p14:creationId xmlns:p14="http://schemas.microsoft.com/office/powerpoint/2010/main" val="3320288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CD572-3254-E9DF-8C61-DDB184A52998}"/>
              </a:ext>
            </a:extLst>
          </p:cNvPr>
          <p:cNvSpPr>
            <a:spLocks noGrp="1"/>
          </p:cNvSpPr>
          <p:nvPr>
            <p:ph type="title"/>
          </p:nvPr>
        </p:nvSpPr>
        <p:spPr/>
        <p:txBody>
          <a:bodyPr>
            <a:normAutofit/>
          </a:bodyPr>
          <a:lstStyle/>
          <a:p>
            <a:r>
              <a:rPr lang="it-IT" sz="4000">
                <a:latin typeface="Arial" panose="020B0604020202020204" pitchFamily="34" charset="0"/>
              </a:rPr>
              <a:t>SIMULATIONS [1]: </a:t>
            </a:r>
            <a:r>
              <a:rPr lang="it-IT" sz="4000" err="1">
                <a:latin typeface="Arial" panose="020B0604020202020204" pitchFamily="34" charset="0"/>
              </a:rPr>
              <a:t>Results</a:t>
            </a:r>
            <a:endParaRPr lang="it-IT" sz="4000">
              <a:latin typeface="Arial" panose="020B0604020202020204" pitchFamily="34" charset="0"/>
            </a:endParaRPr>
          </a:p>
        </p:txBody>
      </p:sp>
      <p:graphicFrame>
        <p:nvGraphicFramePr>
          <p:cNvPr id="4" name="Tabella 3">
            <a:extLst>
              <a:ext uri="{FF2B5EF4-FFF2-40B4-BE49-F238E27FC236}">
                <a16:creationId xmlns:a16="http://schemas.microsoft.com/office/drawing/2014/main" id="{3EF005E2-D853-B4AA-50A6-071E8816CDA5}"/>
              </a:ext>
            </a:extLst>
          </p:cNvPr>
          <p:cNvGraphicFramePr>
            <a:graphicFrameLocks noGrp="1"/>
          </p:cNvGraphicFramePr>
          <p:nvPr>
            <p:extLst>
              <p:ext uri="{D42A27DB-BD31-4B8C-83A1-F6EECF244321}">
                <p14:modId xmlns:p14="http://schemas.microsoft.com/office/powerpoint/2010/main" val="3373562161"/>
              </p:ext>
            </p:extLst>
          </p:nvPr>
        </p:nvGraphicFramePr>
        <p:xfrm>
          <a:off x="171968" y="1325343"/>
          <a:ext cx="6354915" cy="1849120"/>
        </p:xfrm>
        <a:graphic>
          <a:graphicData uri="http://schemas.openxmlformats.org/drawingml/2006/table">
            <a:tbl>
              <a:tblPr firstRow="1" bandRow="1">
                <a:tableStyleId>{5C22544A-7EE6-4342-B048-85BDC9FD1C3A}</a:tableStyleId>
              </a:tblPr>
              <a:tblGrid>
                <a:gridCol w="2068052">
                  <a:extLst>
                    <a:ext uri="{9D8B030D-6E8A-4147-A177-3AD203B41FA5}">
                      <a16:colId xmlns:a16="http://schemas.microsoft.com/office/drawing/2014/main" val="1731400970"/>
                    </a:ext>
                  </a:extLst>
                </a:gridCol>
                <a:gridCol w="1779637">
                  <a:extLst>
                    <a:ext uri="{9D8B030D-6E8A-4147-A177-3AD203B41FA5}">
                      <a16:colId xmlns:a16="http://schemas.microsoft.com/office/drawing/2014/main" val="432249152"/>
                    </a:ext>
                  </a:extLst>
                </a:gridCol>
                <a:gridCol w="1232853">
                  <a:extLst>
                    <a:ext uri="{9D8B030D-6E8A-4147-A177-3AD203B41FA5}">
                      <a16:colId xmlns:a16="http://schemas.microsoft.com/office/drawing/2014/main" val="1680756031"/>
                    </a:ext>
                  </a:extLst>
                </a:gridCol>
                <a:gridCol w="1274373">
                  <a:extLst>
                    <a:ext uri="{9D8B030D-6E8A-4147-A177-3AD203B41FA5}">
                      <a16:colId xmlns:a16="http://schemas.microsoft.com/office/drawing/2014/main" val="1547525881"/>
                    </a:ext>
                  </a:extLst>
                </a:gridCol>
              </a:tblGrid>
              <a:tr h="0">
                <a:tc>
                  <a:txBody>
                    <a:bodyPr/>
                    <a:lstStyle/>
                    <a:p>
                      <a:r>
                        <a:rPr lang="it-IT" sz="1800" dirty="0" err="1">
                          <a:latin typeface="Times New Roman" panose="02020603050405020304" pitchFamily="18" charset="0"/>
                          <a:cs typeface="Times New Roman" panose="02020603050405020304" pitchFamily="18" charset="0"/>
                        </a:rPr>
                        <a:t>Results</a:t>
                      </a:r>
                      <a:r>
                        <a:rPr lang="it-IT" sz="1800" dirty="0">
                          <a:latin typeface="Times New Roman" panose="02020603050405020304" pitchFamily="18" charset="0"/>
                          <a:cs typeface="Times New Roman" panose="02020603050405020304" pitchFamily="18" charset="0"/>
                        </a:rPr>
                        <a:t> </a:t>
                      </a:r>
                      <a:r>
                        <a:rPr lang="el-GR" sz="1800" b="1" i="0" kern="1200" dirty="0">
                          <a:solidFill>
                            <a:schemeClr val="lt1"/>
                          </a:solidFill>
                          <a:effectLst/>
                          <a:latin typeface="Times New Roman" panose="02020603050405020304" pitchFamily="18" charset="0"/>
                          <a:ea typeface="+mn-ea"/>
                          <a:cs typeface="Times New Roman" panose="02020603050405020304" pitchFamily="18" charset="0"/>
                        </a:rPr>
                        <a:t>η</a:t>
                      </a:r>
                      <a:r>
                        <a:rPr lang="it-IT" sz="1200" b="1" i="0" kern="1200" dirty="0">
                          <a:solidFill>
                            <a:schemeClr val="lt1"/>
                          </a:solidFill>
                          <a:effectLst/>
                          <a:latin typeface="Times New Roman" panose="02020603050405020304" pitchFamily="18" charset="0"/>
                          <a:ea typeface="+mn-ea"/>
                          <a:cs typeface="Times New Roman" panose="02020603050405020304" pitchFamily="18" charset="0"/>
                        </a:rPr>
                        <a:t>tot</a:t>
                      </a:r>
                      <a:endParaRPr lang="it-IT" sz="1200" b="1" dirty="0">
                        <a:latin typeface="Times New Roman" panose="02020603050405020304" pitchFamily="18" charset="0"/>
                        <a:cs typeface="Times New Roman" panose="02020603050405020304" pitchFamily="18" charset="0"/>
                      </a:endParaRPr>
                    </a:p>
                  </a:txBody>
                  <a:tcPr/>
                </a:tc>
                <a:tc>
                  <a:txBody>
                    <a:bodyPr/>
                    <a:lstStyle/>
                    <a:p>
                      <a:endParaRPr lang="it-IT">
                        <a:latin typeface="Times New Roman" panose="02020603050405020304" pitchFamily="18" charset="0"/>
                        <a:cs typeface="Times New Roman" panose="02020603050405020304" pitchFamily="18" charset="0"/>
                      </a:endParaRPr>
                    </a:p>
                  </a:txBody>
                  <a:tcPr/>
                </a:tc>
                <a:tc>
                  <a:txBody>
                    <a:bodyPr/>
                    <a:lstStyle/>
                    <a:p>
                      <a:r>
                        <a:rPr lang="it-IT">
                          <a:latin typeface="Times New Roman" panose="02020603050405020304" pitchFamily="18" charset="0"/>
                          <a:cs typeface="Times New Roman" panose="02020603050405020304" pitchFamily="18" charset="0"/>
                        </a:rPr>
                        <a:t>TE source</a:t>
                      </a:r>
                    </a:p>
                  </a:txBody>
                  <a:tcPr/>
                </a:tc>
                <a:tc>
                  <a:txBody>
                    <a:bodyPr/>
                    <a:lstStyle/>
                    <a:p>
                      <a:r>
                        <a:rPr lang="it-IT">
                          <a:latin typeface="Times New Roman" panose="02020603050405020304" pitchFamily="18" charset="0"/>
                          <a:cs typeface="Times New Roman" panose="02020603050405020304" pitchFamily="18" charset="0"/>
                        </a:rPr>
                        <a:t>TM source</a:t>
                      </a:r>
                    </a:p>
                  </a:txBody>
                  <a:tcPr/>
                </a:tc>
                <a:extLst>
                  <a:ext uri="{0D108BD9-81ED-4DB2-BD59-A6C34878D82A}">
                    <a16:rowId xmlns:a16="http://schemas.microsoft.com/office/drawing/2014/main" val="2923140079"/>
                  </a:ext>
                </a:extLst>
              </a:tr>
              <a:tr h="370840">
                <a:tc rowSpan="2">
                  <a:txBody>
                    <a:bodyPr/>
                    <a:lstStyle/>
                    <a:p>
                      <a:r>
                        <a:rPr lang="en-GB" noProof="0">
                          <a:latin typeface="Times New Roman" panose="02020603050405020304" pitchFamily="18" charset="0"/>
                          <a:cs typeface="Times New Roman" panose="02020603050405020304" pitchFamily="18" charset="0"/>
                        </a:rPr>
                        <a:t>Uniform body</a:t>
                      </a:r>
                    </a:p>
                  </a:txBody>
                  <a:tcPr/>
                </a:tc>
                <a:tc>
                  <a:txBody>
                    <a:bodyPr/>
                    <a:lstStyle/>
                    <a:p>
                      <a:r>
                        <a:rPr lang="en-GB" noProof="0">
                          <a:latin typeface="Times New Roman" panose="02020603050405020304" pitchFamily="18" charset="0"/>
                          <a:cs typeface="Times New Roman" panose="02020603050405020304" pitchFamily="18" charset="0"/>
                        </a:rPr>
                        <a:t>Aritmetic mean</a:t>
                      </a:r>
                    </a:p>
                  </a:txBody>
                  <a:tcPr/>
                </a:tc>
                <a:tc>
                  <a:txBody>
                    <a:bodyPr/>
                    <a:lstStyle/>
                    <a:p>
                      <a:r>
                        <a:rPr lang="en-GB" noProof="0">
                          <a:latin typeface="Times New Roman" panose="02020603050405020304" pitchFamily="18" charset="0"/>
                          <a:cs typeface="Times New Roman" panose="02020603050405020304" pitchFamily="18" charset="0"/>
                        </a:rPr>
                        <a:t>-21.7 dB</a:t>
                      </a:r>
                    </a:p>
                  </a:txBody>
                  <a:tcPr/>
                </a:tc>
                <a:tc>
                  <a:txBody>
                    <a:bodyPr/>
                    <a:lstStyle/>
                    <a:p>
                      <a:r>
                        <a:rPr lang="en-GB" noProof="0">
                          <a:latin typeface="Times New Roman" panose="02020603050405020304" pitchFamily="18" charset="0"/>
                          <a:cs typeface="Times New Roman" panose="02020603050405020304" pitchFamily="18" charset="0"/>
                        </a:rPr>
                        <a:t>-25.6 dB</a:t>
                      </a:r>
                    </a:p>
                  </a:txBody>
                  <a:tcPr/>
                </a:tc>
                <a:extLst>
                  <a:ext uri="{0D108BD9-81ED-4DB2-BD59-A6C34878D82A}">
                    <a16:rowId xmlns:a16="http://schemas.microsoft.com/office/drawing/2014/main" val="3575555220"/>
                  </a:ext>
                </a:extLst>
              </a:tr>
              <a:tr h="370840">
                <a:tc vMerge="1">
                  <a:txBody>
                    <a:bodyPr/>
                    <a:lstStyle/>
                    <a:p>
                      <a:endParaRPr lang="it-IT"/>
                    </a:p>
                  </a:txBody>
                  <a:tcPr/>
                </a:tc>
                <a:tc>
                  <a:txBody>
                    <a:bodyPr/>
                    <a:lstStyle/>
                    <a:p>
                      <a:r>
                        <a:rPr lang="en-GB" noProof="0">
                          <a:latin typeface="Times New Roman" panose="02020603050405020304" pitchFamily="18" charset="0"/>
                          <a:cs typeface="Times New Roman" panose="02020603050405020304" pitchFamily="18" charset="0"/>
                        </a:rPr>
                        <a:t>Weighted mean</a:t>
                      </a:r>
                    </a:p>
                  </a:txBody>
                  <a:tcPr/>
                </a:tc>
                <a:tc>
                  <a:txBody>
                    <a:bodyPr/>
                    <a:lstStyle/>
                    <a:p>
                      <a:r>
                        <a:rPr lang="en-GB" noProof="0">
                          <a:latin typeface="Times New Roman" panose="02020603050405020304" pitchFamily="18" charset="0"/>
                          <a:cs typeface="Times New Roman" panose="02020603050405020304" pitchFamily="18" charset="0"/>
                        </a:rPr>
                        <a:t>-19.4 dB</a:t>
                      </a:r>
                    </a:p>
                  </a:txBody>
                  <a:tcPr/>
                </a:tc>
                <a:tc>
                  <a:txBody>
                    <a:bodyPr/>
                    <a:lstStyle/>
                    <a:p>
                      <a:r>
                        <a:rPr lang="en-GB" noProof="0">
                          <a:latin typeface="Times New Roman" panose="02020603050405020304" pitchFamily="18" charset="0"/>
                          <a:cs typeface="Times New Roman" panose="02020603050405020304" pitchFamily="18" charset="0"/>
                        </a:rPr>
                        <a:t>-24.4 dB</a:t>
                      </a:r>
                    </a:p>
                  </a:txBody>
                  <a:tcPr/>
                </a:tc>
                <a:extLst>
                  <a:ext uri="{0D108BD9-81ED-4DB2-BD59-A6C34878D82A}">
                    <a16:rowId xmlns:a16="http://schemas.microsoft.com/office/drawing/2014/main" val="3025131076"/>
                  </a:ext>
                </a:extLst>
              </a:tr>
              <a:tr h="370840">
                <a:tc rowSpan="2">
                  <a:txBody>
                    <a:bodyPr/>
                    <a:lstStyle/>
                    <a:p>
                      <a:r>
                        <a:rPr lang="en-GB" noProof="0">
                          <a:latin typeface="Times New Roman" panose="02020603050405020304" pitchFamily="18" charset="0"/>
                          <a:cs typeface="Times New Roman" panose="02020603050405020304" pitchFamily="18" charset="0"/>
                        </a:rPr>
                        <a:t>Layered body</a:t>
                      </a:r>
                    </a:p>
                  </a:txBody>
                  <a:tcPr/>
                </a:tc>
                <a:tc>
                  <a:txBody>
                    <a:bodyPr/>
                    <a:lstStyle/>
                    <a:p>
                      <a:r>
                        <a:rPr lang="en-GB" noProof="0">
                          <a:latin typeface="Times New Roman" panose="02020603050405020304" pitchFamily="18" charset="0"/>
                          <a:cs typeface="Times New Roman" panose="02020603050405020304" pitchFamily="18" charset="0"/>
                        </a:rPr>
                        <a:t>Aritmetic mean</a:t>
                      </a:r>
                    </a:p>
                  </a:txBody>
                  <a:tcPr/>
                </a:tc>
                <a:tc>
                  <a:txBody>
                    <a:bodyPr/>
                    <a:lstStyle/>
                    <a:p>
                      <a:r>
                        <a:rPr lang="en-GB" noProof="0">
                          <a:latin typeface="Times New Roman" panose="02020603050405020304" pitchFamily="18" charset="0"/>
                          <a:cs typeface="Times New Roman" panose="02020603050405020304" pitchFamily="18" charset="0"/>
                        </a:rPr>
                        <a:t>-24 dB</a:t>
                      </a:r>
                    </a:p>
                  </a:txBody>
                  <a:tcPr/>
                </a:tc>
                <a:tc>
                  <a:txBody>
                    <a:bodyPr/>
                    <a:lstStyle/>
                    <a:p>
                      <a:r>
                        <a:rPr lang="en-GB" noProof="0">
                          <a:latin typeface="Times New Roman" panose="02020603050405020304" pitchFamily="18" charset="0"/>
                          <a:cs typeface="Times New Roman" panose="02020603050405020304" pitchFamily="18" charset="0"/>
                        </a:rPr>
                        <a:t>-27.7 dB</a:t>
                      </a:r>
                    </a:p>
                  </a:txBody>
                  <a:tcPr/>
                </a:tc>
                <a:extLst>
                  <a:ext uri="{0D108BD9-81ED-4DB2-BD59-A6C34878D82A}">
                    <a16:rowId xmlns:a16="http://schemas.microsoft.com/office/drawing/2014/main" val="3581931851"/>
                  </a:ext>
                </a:extLst>
              </a:tr>
              <a:tr h="370840">
                <a:tc vMerge="1">
                  <a:txBody>
                    <a:bodyPr/>
                    <a:lstStyle/>
                    <a:p>
                      <a:endParaRPr lang="it-IT"/>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a:latin typeface="Times New Roman" panose="02020603050405020304" pitchFamily="18" charset="0"/>
                          <a:cs typeface="Times New Roman" panose="02020603050405020304" pitchFamily="18" charset="0"/>
                        </a:rPr>
                        <a:t>Weighted mean</a:t>
                      </a:r>
                    </a:p>
                  </a:txBody>
                  <a:tcPr/>
                </a:tc>
                <a:tc>
                  <a:txBody>
                    <a:bodyPr/>
                    <a:lstStyle/>
                    <a:p>
                      <a:r>
                        <a:rPr lang="en-GB" noProof="0">
                          <a:latin typeface="Times New Roman" panose="02020603050405020304" pitchFamily="18" charset="0"/>
                          <a:cs typeface="Times New Roman" panose="02020603050405020304" pitchFamily="18" charset="0"/>
                        </a:rPr>
                        <a:t>-22.15 dB</a:t>
                      </a:r>
                    </a:p>
                  </a:txBody>
                  <a:tcPr/>
                </a:tc>
                <a:tc>
                  <a:txBody>
                    <a:bodyPr/>
                    <a:lstStyle/>
                    <a:p>
                      <a:r>
                        <a:rPr lang="en-GB" noProof="0">
                          <a:latin typeface="Times New Roman" panose="02020603050405020304" pitchFamily="18" charset="0"/>
                          <a:cs typeface="Times New Roman" panose="02020603050405020304" pitchFamily="18" charset="0"/>
                        </a:rPr>
                        <a:t>-27 dB</a:t>
                      </a:r>
                    </a:p>
                  </a:txBody>
                  <a:tcPr/>
                </a:tc>
                <a:extLst>
                  <a:ext uri="{0D108BD9-81ED-4DB2-BD59-A6C34878D82A}">
                    <a16:rowId xmlns:a16="http://schemas.microsoft.com/office/drawing/2014/main" val="1015948895"/>
                  </a:ext>
                </a:extLst>
              </a:tr>
            </a:tbl>
          </a:graphicData>
        </a:graphic>
      </p:graphicFrame>
      <p:pic>
        <p:nvPicPr>
          <p:cNvPr id="6" name="Immagine 5" descr="Immagine che contiene testo, linea, diagramma, Diagramma&#10;&#10;Il contenuto generato dall&amp;#39;IA potrebbe non essere corretto.">
            <a:extLst>
              <a:ext uri="{FF2B5EF4-FFF2-40B4-BE49-F238E27FC236}">
                <a16:creationId xmlns:a16="http://schemas.microsoft.com/office/drawing/2014/main" id="{DF7D19FA-119F-9B3C-E426-0CA8CD80445F}"/>
              </a:ext>
            </a:extLst>
          </p:cNvPr>
          <p:cNvPicPr>
            <a:picLocks noChangeAspect="1"/>
          </p:cNvPicPr>
          <p:nvPr/>
        </p:nvPicPr>
        <p:blipFill>
          <a:blip r:embed="rId2"/>
          <a:stretch>
            <a:fillRect/>
          </a:stretch>
        </p:blipFill>
        <p:spPr>
          <a:xfrm>
            <a:off x="6012873" y="3596341"/>
            <a:ext cx="5875939" cy="2787156"/>
          </a:xfrm>
          <a:prstGeom prst="rect">
            <a:avLst/>
          </a:prstGeom>
        </p:spPr>
      </p:pic>
      <p:pic>
        <p:nvPicPr>
          <p:cNvPr id="7" name="Immagine 6" descr="Immagine che contiene testo, linea, schermata, diagramma&#10;&#10;Il contenuto generato dall&amp;#39;IA potrebbe non essere corretto.">
            <a:extLst>
              <a:ext uri="{FF2B5EF4-FFF2-40B4-BE49-F238E27FC236}">
                <a16:creationId xmlns:a16="http://schemas.microsoft.com/office/drawing/2014/main" id="{A6C95983-F744-827C-8FD3-988FE4EAFE83}"/>
              </a:ext>
            </a:extLst>
          </p:cNvPr>
          <p:cNvPicPr>
            <a:picLocks noChangeAspect="1"/>
          </p:cNvPicPr>
          <p:nvPr/>
        </p:nvPicPr>
        <p:blipFill rotWithShape="1">
          <a:blip r:embed="rId3"/>
          <a:srcRect l="5554"/>
          <a:stretch/>
        </p:blipFill>
        <p:spPr>
          <a:xfrm>
            <a:off x="671945" y="3560577"/>
            <a:ext cx="5620804" cy="2822920"/>
          </a:xfrm>
          <a:prstGeom prst="rect">
            <a:avLst/>
          </a:prstGeom>
        </p:spPr>
      </p:pic>
      <p:sp>
        <p:nvSpPr>
          <p:cNvPr id="8" name="CasellaDiTesto 5"/>
          <p:cNvSpPr txBox="1"/>
          <p:nvPr/>
        </p:nvSpPr>
        <p:spPr>
          <a:xfrm>
            <a:off x="6761018" y="996399"/>
            <a:ext cx="5237802" cy="2569934"/>
          </a:xfrm>
          <a:prstGeom prst="rect">
            <a:avLst/>
          </a:prstGeom>
          <a:noFill/>
        </p:spPr>
        <p:txBody>
          <a:bodyPr wrap="square" rtlCol="0" anchor="ctr">
            <a:spAutoFit/>
          </a:bodyPr>
          <a:lstStyle/>
          <a:p>
            <a:pPr marL="342900" indent="-342900">
              <a:buFont typeface="Arial" panose="020B0604020202020204" pitchFamily="34" charset="0"/>
              <a:buChar char="•"/>
            </a:pPr>
            <a:r>
              <a:rPr lang="en-US" sz="2300">
                <a:latin typeface="Times New Roman" panose="02020603050405020304" pitchFamily="18" charset="0"/>
                <a:cs typeface="Times New Roman" panose="02020603050405020304" pitchFamily="18" charset="0"/>
              </a:rPr>
              <a:t>Assuming an </a:t>
            </a:r>
            <a:r>
              <a:rPr lang="en-US" sz="2300" b="1">
                <a:latin typeface="Times New Roman" panose="02020603050405020304" pitchFamily="18" charset="0"/>
                <a:cs typeface="Times New Roman" panose="02020603050405020304" pitchFamily="18" charset="0"/>
              </a:rPr>
              <a:t>antenna gain</a:t>
            </a:r>
            <a:r>
              <a:rPr lang="en-US" sz="2300">
                <a:latin typeface="Times New Roman" panose="02020603050405020304" pitchFamily="18" charset="0"/>
                <a:cs typeface="Times New Roman" panose="02020603050405020304" pitchFamily="18" charset="0"/>
              </a:rPr>
              <a:t> of 0 dB, the calculated efficiency values approximately represent the gain of the implanted source;</a:t>
            </a:r>
          </a:p>
          <a:p>
            <a:pPr marL="342900" indent="-342900">
              <a:buFont typeface="Arial" panose="020B0604020202020204" pitchFamily="34" charset="0"/>
              <a:buChar char="•"/>
            </a:pPr>
            <a:r>
              <a:rPr lang="en-US" sz="2300">
                <a:latin typeface="Times New Roman" panose="02020603050405020304" pitchFamily="18" charset="0"/>
                <a:cs typeface="Times New Roman" panose="02020603050405020304" pitchFamily="18" charset="0"/>
              </a:rPr>
              <a:t>Efficiency trends were analyzed as </a:t>
            </a:r>
            <a:r>
              <a:rPr lang="en-US" sz="2300" b="1" i="1" err="1">
                <a:latin typeface="Times New Roman" panose="02020603050405020304" pitchFamily="18" charset="0"/>
                <a:cs typeface="Times New Roman" panose="02020603050405020304" pitchFamily="18" charset="0"/>
              </a:rPr>
              <a:t>Rimpl</a:t>
            </a:r>
            <a:r>
              <a:rPr lang="en-US" sz="2300" i="1">
                <a:latin typeface="Times New Roman" panose="02020603050405020304" pitchFamily="18" charset="0"/>
                <a:cs typeface="Times New Roman" panose="02020603050405020304" pitchFamily="18" charset="0"/>
              </a:rPr>
              <a:t> </a:t>
            </a:r>
            <a:r>
              <a:rPr lang="en-US" sz="2300">
                <a:latin typeface="Times New Roman" panose="02020603050405020304" pitchFamily="18" charset="0"/>
                <a:cs typeface="Times New Roman" panose="02020603050405020304" pitchFamily="18" charset="0"/>
              </a:rPr>
              <a:t>varied, using a weighted-average layered body model.</a:t>
            </a:r>
            <a:endParaRPr lang="it-IT" sz="2300" b="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8127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magine 9"/>
          <p:cNvPicPr>
            <a:picLocks noChangeAspect="1"/>
          </p:cNvPicPr>
          <p:nvPr/>
        </p:nvPicPr>
        <p:blipFill>
          <a:blip r:embed="rId2"/>
          <a:stretch>
            <a:fillRect/>
          </a:stretch>
        </p:blipFill>
        <p:spPr>
          <a:xfrm>
            <a:off x="6264065" y="2625184"/>
            <a:ext cx="3493707" cy="3523670"/>
          </a:xfrm>
          <a:prstGeom prst="rect">
            <a:avLst/>
          </a:prstGeom>
        </p:spPr>
      </p:pic>
      <p:sp>
        <p:nvSpPr>
          <p:cNvPr id="2" name="Title 1">
            <a:extLst>
              <a:ext uri="{FF2B5EF4-FFF2-40B4-BE49-F238E27FC236}">
                <a16:creationId xmlns:a16="http://schemas.microsoft.com/office/drawing/2014/main" id="{036CD572-3254-E9DF-8C61-DDB184A52998}"/>
              </a:ext>
            </a:extLst>
          </p:cNvPr>
          <p:cNvSpPr>
            <a:spLocks noGrp="1"/>
          </p:cNvSpPr>
          <p:nvPr>
            <p:ph type="title"/>
          </p:nvPr>
        </p:nvSpPr>
        <p:spPr/>
        <p:txBody>
          <a:bodyPr>
            <a:normAutofit/>
          </a:bodyPr>
          <a:lstStyle/>
          <a:p>
            <a:r>
              <a:rPr lang="it-IT" sz="4000">
                <a:latin typeface="Arial" panose="020B0604020202020204" pitchFamily="34" charset="0"/>
              </a:rPr>
              <a:t>SIMULATIONS [1]: </a:t>
            </a:r>
            <a:r>
              <a:rPr lang="it-IT" sz="4000" err="1">
                <a:latin typeface="Arial" panose="020B0604020202020204" pitchFamily="34" charset="0"/>
              </a:rPr>
              <a:t>Intraluminal</a:t>
            </a:r>
            <a:r>
              <a:rPr lang="it-IT" sz="4000">
                <a:latin typeface="Arial" panose="020B0604020202020204" pitchFamily="34" charset="0"/>
              </a:rPr>
              <a:t> Device</a:t>
            </a:r>
          </a:p>
        </p:txBody>
      </p:sp>
      <p:sp>
        <p:nvSpPr>
          <p:cNvPr id="9" name="CasellaDiTesto 8"/>
          <p:cNvSpPr txBox="1"/>
          <p:nvPr/>
        </p:nvSpPr>
        <p:spPr>
          <a:xfrm>
            <a:off x="148989" y="1109707"/>
            <a:ext cx="8193149" cy="1154162"/>
          </a:xfrm>
          <a:prstGeom prst="rect">
            <a:avLst/>
          </a:prstGeom>
          <a:noFill/>
        </p:spPr>
        <p:txBody>
          <a:bodyPr wrap="square" rtlCol="0" anchor="ctr">
            <a:spAutoFit/>
          </a:bodyPr>
          <a:lstStyle/>
          <a:p>
            <a:r>
              <a:rPr lang="en-US" sz="2300">
                <a:latin typeface="Times New Roman" panose="02020603050405020304" pitchFamily="18" charset="0"/>
                <a:cs typeface="Times New Roman" panose="02020603050405020304" pitchFamily="18" charset="0"/>
              </a:rPr>
              <a:t>The efficiency was analyzed as a function of </a:t>
            </a:r>
            <a:r>
              <a:rPr lang="en-US" sz="2300" b="1">
                <a:latin typeface="Times New Roman" panose="02020603050405020304" pitchFamily="18" charset="0"/>
                <a:cs typeface="Times New Roman" panose="02020603050405020304" pitchFamily="18" charset="0"/>
              </a:rPr>
              <a:t>depth</a:t>
            </a:r>
            <a:r>
              <a:rPr lang="en-US" sz="2300">
                <a:latin typeface="Times New Roman" panose="02020603050405020304" pitchFamily="18" charset="0"/>
                <a:cs typeface="Times New Roman" panose="02020603050405020304" pitchFamily="18" charset="0"/>
              </a:rPr>
              <a:t> within the bladder layer, using a layered body model with weighted-average properties.</a:t>
            </a:r>
            <a:endParaRPr lang="it-IT" sz="2300" b="0">
              <a:solidFill>
                <a:schemeClr val="tx1"/>
              </a:solidFill>
              <a:latin typeface="Times New Roman" panose="02020603050405020304" pitchFamily="18" charset="0"/>
              <a:cs typeface="Times New Roman" panose="02020603050405020304" pitchFamily="18" charset="0"/>
            </a:endParaRPr>
          </a:p>
        </p:txBody>
      </p:sp>
      <p:cxnSp>
        <p:nvCxnSpPr>
          <p:cNvPr id="11" name="Connettore 2 10">
            <a:extLst>
              <a:ext uri="{FF2B5EF4-FFF2-40B4-BE49-F238E27FC236}">
                <a16:creationId xmlns:a16="http://schemas.microsoft.com/office/drawing/2014/main" id="{38CC8099-9E89-48AC-4637-A3FBBC2F885F}"/>
              </a:ext>
            </a:extLst>
          </p:cNvPr>
          <p:cNvCxnSpPr>
            <a:endCxn id="18" idx="1"/>
          </p:cNvCxnSpPr>
          <p:nvPr/>
        </p:nvCxnSpPr>
        <p:spPr>
          <a:xfrm flipV="1">
            <a:off x="7384473" y="4364082"/>
            <a:ext cx="2884007" cy="901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Connettore 2 15">
            <a:extLst>
              <a:ext uri="{FF2B5EF4-FFF2-40B4-BE49-F238E27FC236}">
                <a16:creationId xmlns:a16="http://schemas.microsoft.com/office/drawing/2014/main" id="{38CC8099-9E89-48AC-4637-A3FBBC2F885F}"/>
              </a:ext>
            </a:extLst>
          </p:cNvPr>
          <p:cNvCxnSpPr>
            <a:endCxn id="18" idx="1"/>
          </p:cNvCxnSpPr>
          <p:nvPr/>
        </p:nvCxnSpPr>
        <p:spPr>
          <a:xfrm flipV="1">
            <a:off x="7616589" y="4364082"/>
            <a:ext cx="2651891" cy="320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CasellaDiTesto 17">
            <a:extLst>
              <a:ext uri="{FF2B5EF4-FFF2-40B4-BE49-F238E27FC236}">
                <a16:creationId xmlns:a16="http://schemas.microsoft.com/office/drawing/2014/main" id="{75322AF8-331C-FB69-1566-76B5F99D387F}"/>
              </a:ext>
            </a:extLst>
          </p:cNvPr>
          <p:cNvSpPr txBox="1"/>
          <p:nvPr/>
        </p:nvSpPr>
        <p:spPr>
          <a:xfrm>
            <a:off x="10268480" y="4179416"/>
            <a:ext cx="2052195" cy="369332"/>
          </a:xfrm>
          <a:prstGeom prst="rect">
            <a:avLst/>
          </a:prstGeom>
          <a:noFill/>
        </p:spPr>
        <p:txBody>
          <a:bodyPr wrap="square" rtlCol="0" anchor="ctr">
            <a:spAutoFit/>
          </a:bodyPr>
          <a:lstStyle/>
          <a:p>
            <a:pPr algn="l"/>
            <a:r>
              <a:rPr lang="it-IT" b="1">
                <a:solidFill>
                  <a:schemeClr val="tx1"/>
                </a:solidFill>
                <a:latin typeface="Times New Roman" panose="02020603050405020304" pitchFamily="18" charset="0"/>
                <a:cs typeface="Times New Roman" panose="02020603050405020304" pitchFamily="18" charset="0"/>
              </a:rPr>
              <a:t>Device (0.2cm)</a:t>
            </a:r>
          </a:p>
        </p:txBody>
      </p:sp>
      <p:sp>
        <p:nvSpPr>
          <p:cNvPr id="19" name="CasellaDiTesto 18">
            <a:extLst>
              <a:ext uri="{FF2B5EF4-FFF2-40B4-BE49-F238E27FC236}">
                <a16:creationId xmlns:a16="http://schemas.microsoft.com/office/drawing/2014/main" id="{B6013B2F-B204-94EE-57B6-A8B5F371E8E6}"/>
              </a:ext>
            </a:extLst>
          </p:cNvPr>
          <p:cNvSpPr txBox="1"/>
          <p:nvPr/>
        </p:nvSpPr>
        <p:spPr>
          <a:xfrm>
            <a:off x="8783412" y="1284314"/>
            <a:ext cx="1818968" cy="369332"/>
          </a:xfrm>
          <a:prstGeom prst="rect">
            <a:avLst/>
          </a:prstGeom>
          <a:noFill/>
        </p:spPr>
        <p:txBody>
          <a:bodyPr wrap="square" rtlCol="0" anchor="ctr">
            <a:spAutoFit/>
          </a:bodyPr>
          <a:lstStyle/>
          <a:p>
            <a:pPr algn="l"/>
            <a:r>
              <a:rPr lang="it-IT" b="0">
                <a:solidFill>
                  <a:schemeClr val="tx1"/>
                </a:solidFill>
                <a:latin typeface="Times New Roman" panose="02020603050405020304" pitchFamily="18" charset="0"/>
                <a:cs typeface="Times New Roman" panose="02020603050405020304" pitchFamily="18" charset="0"/>
              </a:rPr>
              <a:t>Dry </a:t>
            </a:r>
            <a:r>
              <a:rPr lang="it-IT" b="0" err="1">
                <a:solidFill>
                  <a:schemeClr val="tx1"/>
                </a:solidFill>
                <a:latin typeface="Times New Roman" panose="02020603050405020304" pitchFamily="18" charset="0"/>
                <a:cs typeface="Times New Roman" panose="02020603050405020304" pitchFamily="18" charset="0"/>
              </a:rPr>
              <a:t>Skin</a:t>
            </a:r>
            <a:r>
              <a:rPr lang="it-IT" b="0">
                <a:solidFill>
                  <a:schemeClr val="tx1"/>
                </a:solidFill>
                <a:latin typeface="Times New Roman" panose="02020603050405020304" pitchFamily="18" charset="0"/>
                <a:cs typeface="Times New Roman" panose="02020603050405020304" pitchFamily="18" charset="0"/>
              </a:rPr>
              <a:t> (0.2cm)</a:t>
            </a:r>
          </a:p>
        </p:txBody>
      </p:sp>
      <p:cxnSp>
        <p:nvCxnSpPr>
          <p:cNvPr id="20" name="Connettore 2 19">
            <a:extLst>
              <a:ext uri="{FF2B5EF4-FFF2-40B4-BE49-F238E27FC236}">
                <a16:creationId xmlns:a16="http://schemas.microsoft.com/office/drawing/2014/main" id="{F72A896C-E8F7-38A8-ECC2-A8FF69C8295C}"/>
              </a:ext>
            </a:extLst>
          </p:cNvPr>
          <p:cNvCxnSpPr>
            <a:cxnSpLocks/>
          </p:cNvCxnSpPr>
          <p:nvPr/>
        </p:nvCxnSpPr>
        <p:spPr>
          <a:xfrm flipV="1">
            <a:off x="7372932" y="1599601"/>
            <a:ext cx="1432859" cy="13845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CasellaDiTesto 22">
            <a:extLst>
              <a:ext uri="{FF2B5EF4-FFF2-40B4-BE49-F238E27FC236}">
                <a16:creationId xmlns:a16="http://schemas.microsoft.com/office/drawing/2014/main" id="{4841B257-DB52-4BC7-31E7-3199C5C5B7EA}"/>
              </a:ext>
            </a:extLst>
          </p:cNvPr>
          <p:cNvSpPr txBox="1"/>
          <p:nvPr/>
        </p:nvSpPr>
        <p:spPr>
          <a:xfrm>
            <a:off x="9316499" y="1876744"/>
            <a:ext cx="1347021" cy="369332"/>
          </a:xfrm>
          <a:prstGeom prst="rect">
            <a:avLst/>
          </a:prstGeom>
          <a:noFill/>
        </p:spPr>
        <p:txBody>
          <a:bodyPr wrap="square" rtlCol="0" anchor="ctr">
            <a:spAutoFit/>
          </a:bodyPr>
          <a:lstStyle/>
          <a:p>
            <a:pPr algn="l"/>
            <a:r>
              <a:rPr lang="it-IT" b="0" err="1">
                <a:solidFill>
                  <a:schemeClr val="tx1"/>
                </a:solidFill>
                <a:latin typeface="Times New Roman" panose="02020603050405020304" pitchFamily="18" charset="0"/>
                <a:cs typeface="Times New Roman" panose="02020603050405020304" pitchFamily="18" charset="0"/>
              </a:rPr>
              <a:t>Fat</a:t>
            </a:r>
            <a:r>
              <a:rPr lang="it-IT" b="0">
                <a:solidFill>
                  <a:schemeClr val="tx1"/>
                </a:solidFill>
                <a:latin typeface="Times New Roman" panose="02020603050405020304" pitchFamily="18" charset="0"/>
                <a:cs typeface="Times New Roman" panose="02020603050405020304" pitchFamily="18" charset="0"/>
              </a:rPr>
              <a:t> (5cm)</a:t>
            </a:r>
          </a:p>
        </p:txBody>
      </p:sp>
      <p:cxnSp>
        <p:nvCxnSpPr>
          <p:cNvPr id="24" name="Connettore 2 23">
            <a:extLst>
              <a:ext uri="{FF2B5EF4-FFF2-40B4-BE49-F238E27FC236}">
                <a16:creationId xmlns:a16="http://schemas.microsoft.com/office/drawing/2014/main" id="{F72A896C-E8F7-38A8-ECC2-A8FF69C8295C}"/>
              </a:ext>
            </a:extLst>
          </p:cNvPr>
          <p:cNvCxnSpPr>
            <a:cxnSpLocks/>
          </p:cNvCxnSpPr>
          <p:nvPr/>
        </p:nvCxnSpPr>
        <p:spPr>
          <a:xfrm flipV="1">
            <a:off x="8094270" y="2246076"/>
            <a:ext cx="1222229" cy="13632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CasellaDiTesto 25">
            <a:extLst>
              <a:ext uri="{FF2B5EF4-FFF2-40B4-BE49-F238E27FC236}">
                <a16:creationId xmlns:a16="http://schemas.microsoft.com/office/drawing/2014/main" id="{DD795402-27B7-9F15-6EFC-34B67BFEEB53}"/>
              </a:ext>
            </a:extLst>
          </p:cNvPr>
          <p:cNvSpPr txBox="1"/>
          <p:nvPr/>
        </p:nvSpPr>
        <p:spPr>
          <a:xfrm>
            <a:off x="9873996" y="2685758"/>
            <a:ext cx="1579048" cy="369332"/>
          </a:xfrm>
          <a:prstGeom prst="rect">
            <a:avLst/>
          </a:prstGeom>
          <a:noFill/>
        </p:spPr>
        <p:txBody>
          <a:bodyPr wrap="square" rtlCol="0" anchor="ctr">
            <a:spAutoFit/>
          </a:bodyPr>
          <a:lstStyle/>
          <a:p>
            <a:pPr algn="l"/>
            <a:r>
              <a:rPr lang="it-IT" b="0" err="1">
                <a:solidFill>
                  <a:schemeClr val="tx1"/>
                </a:solidFill>
                <a:latin typeface="Times New Roman" panose="02020603050405020304" pitchFamily="18" charset="0"/>
                <a:cs typeface="Times New Roman" panose="02020603050405020304" pitchFamily="18" charset="0"/>
              </a:rPr>
              <a:t>Bladder</a:t>
            </a:r>
            <a:endParaRPr lang="it-IT" b="0">
              <a:solidFill>
                <a:schemeClr val="tx1"/>
              </a:solidFill>
              <a:latin typeface="Times New Roman" panose="02020603050405020304" pitchFamily="18" charset="0"/>
              <a:cs typeface="Times New Roman" panose="02020603050405020304" pitchFamily="18" charset="0"/>
            </a:endParaRPr>
          </a:p>
        </p:txBody>
      </p:sp>
      <p:cxnSp>
        <p:nvCxnSpPr>
          <p:cNvPr id="28" name="Connettore 2 27">
            <a:extLst>
              <a:ext uri="{FF2B5EF4-FFF2-40B4-BE49-F238E27FC236}">
                <a16:creationId xmlns:a16="http://schemas.microsoft.com/office/drawing/2014/main" id="{F72A896C-E8F7-38A8-ECC2-A8FF69C8295C}"/>
              </a:ext>
            </a:extLst>
          </p:cNvPr>
          <p:cNvCxnSpPr>
            <a:cxnSpLocks/>
          </p:cNvCxnSpPr>
          <p:nvPr/>
        </p:nvCxnSpPr>
        <p:spPr>
          <a:xfrm flipV="1">
            <a:off x="8527228" y="3017257"/>
            <a:ext cx="1230544" cy="11845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 name="Immagine 2"/>
          <p:cNvPicPr>
            <a:picLocks noChangeAspect="1"/>
          </p:cNvPicPr>
          <p:nvPr/>
        </p:nvPicPr>
        <p:blipFill>
          <a:blip r:embed="rId3"/>
          <a:stretch>
            <a:fillRect/>
          </a:stretch>
        </p:blipFill>
        <p:spPr>
          <a:xfrm>
            <a:off x="588817" y="2321951"/>
            <a:ext cx="5049871" cy="4084262"/>
          </a:xfrm>
          <a:prstGeom prst="rect">
            <a:avLst/>
          </a:prstGeom>
        </p:spPr>
      </p:pic>
    </p:spTree>
    <p:extLst>
      <p:ext uri="{BB962C8B-B14F-4D97-AF65-F5344CB8AC3E}">
        <p14:creationId xmlns:p14="http://schemas.microsoft.com/office/powerpoint/2010/main" val="2215264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AC7F4-BC31-65CF-DCEC-8C42300A602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D4495C6-AAE7-760D-BCEC-D937657C2BCA}"/>
              </a:ext>
            </a:extLst>
          </p:cNvPr>
          <p:cNvSpPr>
            <a:spLocks noGrp="1"/>
          </p:cNvSpPr>
          <p:nvPr>
            <p:ph type="title"/>
          </p:nvPr>
        </p:nvSpPr>
        <p:spPr/>
        <p:txBody>
          <a:bodyPr>
            <a:normAutofit/>
          </a:bodyPr>
          <a:lstStyle/>
          <a:p>
            <a:r>
              <a:rPr lang="it-IT" sz="4000">
                <a:latin typeface="Arial" panose="020B0604020202020204" pitchFamily="34" charset="0"/>
              </a:rPr>
              <a:t>SIMULATIONS [2]: </a:t>
            </a:r>
            <a:r>
              <a:rPr lang="it-IT" sz="4000" err="1">
                <a:latin typeface="Arial" panose="020B0604020202020204" pitchFamily="34" charset="0"/>
              </a:rPr>
              <a:t>External</a:t>
            </a:r>
            <a:r>
              <a:rPr lang="it-IT" sz="4000">
                <a:latin typeface="Arial" panose="020B0604020202020204" pitchFamily="34" charset="0"/>
              </a:rPr>
              <a:t> Device</a:t>
            </a:r>
          </a:p>
        </p:txBody>
      </p:sp>
      <p:graphicFrame>
        <p:nvGraphicFramePr>
          <p:cNvPr id="4" name="Tabella 3">
            <a:extLst>
              <a:ext uri="{FF2B5EF4-FFF2-40B4-BE49-F238E27FC236}">
                <a16:creationId xmlns:a16="http://schemas.microsoft.com/office/drawing/2014/main" id="{B5C376DF-6B5D-3D66-7EE3-EEBAFFCD621B}"/>
              </a:ext>
            </a:extLst>
          </p:cNvPr>
          <p:cNvGraphicFramePr>
            <a:graphicFrameLocks noGrp="1"/>
          </p:cNvGraphicFramePr>
          <p:nvPr>
            <p:extLst>
              <p:ext uri="{D42A27DB-BD31-4B8C-83A1-F6EECF244321}">
                <p14:modId xmlns:p14="http://schemas.microsoft.com/office/powerpoint/2010/main" val="72159945"/>
              </p:ext>
            </p:extLst>
          </p:nvPr>
        </p:nvGraphicFramePr>
        <p:xfrm>
          <a:off x="665317" y="1574595"/>
          <a:ext cx="3159432" cy="1483360"/>
        </p:xfrm>
        <a:graphic>
          <a:graphicData uri="http://schemas.openxmlformats.org/drawingml/2006/table">
            <a:tbl>
              <a:tblPr firstRow="1" bandRow="1">
                <a:tableStyleId>{5C22544A-7EE6-4342-B048-85BDC9FD1C3A}</a:tableStyleId>
              </a:tblPr>
              <a:tblGrid>
                <a:gridCol w="1723922">
                  <a:extLst>
                    <a:ext uri="{9D8B030D-6E8A-4147-A177-3AD203B41FA5}">
                      <a16:colId xmlns:a16="http://schemas.microsoft.com/office/drawing/2014/main" val="347306131"/>
                    </a:ext>
                  </a:extLst>
                </a:gridCol>
                <a:gridCol w="1435510">
                  <a:extLst>
                    <a:ext uri="{9D8B030D-6E8A-4147-A177-3AD203B41FA5}">
                      <a16:colId xmlns:a16="http://schemas.microsoft.com/office/drawing/2014/main" val="1047406618"/>
                    </a:ext>
                  </a:extLst>
                </a:gridCol>
              </a:tblGrid>
              <a:tr h="370840">
                <a:tc>
                  <a:txBody>
                    <a:bodyPr/>
                    <a:lstStyle/>
                    <a:p>
                      <a:pPr lvl="0">
                        <a:buNone/>
                      </a:pPr>
                      <a:r>
                        <a:rPr lang="it-IT" sz="1800">
                          <a:latin typeface="Times New Roman"/>
                          <a:cs typeface="Times New Roman"/>
                        </a:rPr>
                        <a:t>Hypotesis</a:t>
                      </a:r>
                    </a:p>
                  </a:txBody>
                  <a:tcPr/>
                </a:tc>
                <a:tc>
                  <a:txBody>
                    <a:bodyPr/>
                    <a:lstStyle/>
                    <a:p>
                      <a:r>
                        <a:rPr lang="it-IT" sz="1800">
                          <a:latin typeface="Times New Roman"/>
                          <a:cs typeface="Times New Roman"/>
                        </a:rPr>
                        <a:t>Values </a:t>
                      </a:r>
                    </a:p>
                  </a:txBody>
                  <a:tcPr/>
                </a:tc>
                <a:extLst>
                  <a:ext uri="{0D108BD9-81ED-4DB2-BD59-A6C34878D82A}">
                    <a16:rowId xmlns:a16="http://schemas.microsoft.com/office/drawing/2014/main" val="3179322792"/>
                  </a:ext>
                </a:extLst>
              </a:tr>
              <a:tr h="370840">
                <a:tc>
                  <a:txBody>
                    <a:bodyPr/>
                    <a:lstStyle/>
                    <a:p>
                      <a:r>
                        <a:rPr lang="it-IT" sz="1800">
                          <a:latin typeface="Times New Roman"/>
                          <a:cs typeface="Times New Roman"/>
                        </a:rPr>
                        <a:t>Frequency</a:t>
                      </a:r>
                    </a:p>
                  </a:txBody>
                  <a:tcPr/>
                </a:tc>
                <a:tc>
                  <a:txBody>
                    <a:bodyPr/>
                    <a:lstStyle/>
                    <a:p>
                      <a:r>
                        <a:rPr lang="it-IT" sz="1800">
                          <a:latin typeface="Times New Roman"/>
                          <a:cs typeface="Times New Roman"/>
                        </a:rPr>
                        <a:t>915 MHz</a:t>
                      </a:r>
                    </a:p>
                  </a:txBody>
                  <a:tcPr/>
                </a:tc>
                <a:extLst>
                  <a:ext uri="{0D108BD9-81ED-4DB2-BD59-A6C34878D82A}">
                    <a16:rowId xmlns:a16="http://schemas.microsoft.com/office/drawing/2014/main" val="284369545"/>
                  </a:ext>
                </a:extLst>
              </a:tr>
              <a:tr h="370840">
                <a:tc>
                  <a:txBody>
                    <a:bodyPr/>
                    <a:lstStyle/>
                    <a:p>
                      <a:r>
                        <a:rPr lang="it-IT" sz="1800">
                          <a:latin typeface="Times New Roman"/>
                          <a:cs typeface="Times New Roman"/>
                        </a:rPr>
                        <a:t>Rbody = d</a:t>
                      </a:r>
                    </a:p>
                  </a:txBody>
                  <a:tcPr/>
                </a:tc>
                <a:tc>
                  <a:txBody>
                    <a:bodyPr/>
                    <a:lstStyle/>
                    <a:p>
                      <a:r>
                        <a:rPr lang="it-IT" sz="1800">
                          <a:latin typeface="Times New Roman"/>
                          <a:cs typeface="Times New Roman"/>
                        </a:rPr>
                        <a:t>5.2 cm</a:t>
                      </a:r>
                    </a:p>
                  </a:txBody>
                  <a:tcPr/>
                </a:tc>
                <a:extLst>
                  <a:ext uri="{0D108BD9-81ED-4DB2-BD59-A6C34878D82A}">
                    <a16:rowId xmlns:a16="http://schemas.microsoft.com/office/drawing/2014/main" val="57426017"/>
                  </a:ext>
                </a:extLst>
              </a:tr>
              <a:tr h="370840">
                <a:tc>
                  <a:txBody>
                    <a:bodyPr/>
                    <a:lstStyle/>
                    <a:p>
                      <a:r>
                        <a:rPr lang="it-IT" sz="1800">
                          <a:latin typeface="Times New Roman"/>
                          <a:cs typeface="Times New Roman"/>
                        </a:rPr>
                        <a:t>Rimpl </a:t>
                      </a:r>
                    </a:p>
                  </a:txBody>
                  <a:tcPr/>
                </a:tc>
                <a:tc>
                  <a:txBody>
                    <a:bodyPr/>
                    <a:lstStyle/>
                    <a:p>
                      <a:r>
                        <a:rPr lang="it-IT" sz="1800" dirty="0">
                          <a:latin typeface="Times New Roman"/>
                          <a:cs typeface="Times New Roman"/>
                        </a:rPr>
                        <a:t>0.5 cm</a:t>
                      </a:r>
                    </a:p>
                  </a:txBody>
                  <a:tcPr/>
                </a:tc>
                <a:extLst>
                  <a:ext uri="{0D108BD9-81ED-4DB2-BD59-A6C34878D82A}">
                    <a16:rowId xmlns:a16="http://schemas.microsoft.com/office/drawing/2014/main" val="2223124822"/>
                  </a:ext>
                </a:extLst>
              </a:tr>
            </a:tbl>
          </a:graphicData>
        </a:graphic>
      </p:graphicFrame>
      <p:graphicFrame>
        <p:nvGraphicFramePr>
          <p:cNvPr id="6" name="Tabella 5">
            <a:extLst>
              <a:ext uri="{FF2B5EF4-FFF2-40B4-BE49-F238E27FC236}">
                <a16:creationId xmlns:a16="http://schemas.microsoft.com/office/drawing/2014/main" id="{04B6E84C-D91E-1199-EAD1-8A563A5686C6}"/>
              </a:ext>
            </a:extLst>
          </p:cNvPr>
          <p:cNvGraphicFramePr>
            <a:graphicFrameLocks noGrp="1"/>
          </p:cNvGraphicFramePr>
          <p:nvPr>
            <p:extLst>
              <p:ext uri="{D42A27DB-BD31-4B8C-83A1-F6EECF244321}">
                <p14:modId xmlns:p14="http://schemas.microsoft.com/office/powerpoint/2010/main" val="1902892420"/>
              </p:ext>
            </p:extLst>
          </p:nvPr>
        </p:nvGraphicFramePr>
        <p:xfrm>
          <a:off x="665317" y="3677673"/>
          <a:ext cx="4925292" cy="1528833"/>
        </p:xfrm>
        <a:graphic>
          <a:graphicData uri="http://schemas.openxmlformats.org/drawingml/2006/table">
            <a:tbl>
              <a:tblPr firstRow="1" bandRow="1">
                <a:tableStyleId>{5C22544A-7EE6-4342-B048-85BDC9FD1C3A}</a:tableStyleId>
              </a:tblPr>
              <a:tblGrid>
                <a:gridCol w="1623887">
                  <a:extLst>
                    <a:ext uri="{9D8B030D-6E8A-4147-A177-3AD203B41FA5}">
                      <a16:colId xmlns:a16="http://schemas.microsoft.com/office/drawing/2014/main" val="687410471"/>
                    </a:ext>
                  </a:extLst>
                </a:gridCol>
                <a:gridCol w="1659641">
                  <a:extLst>
                    <a:ext uri="{9D8B030D-6E8A-4147-A177-3AD203B41FA5}">
                      <a16:colId xmlns:a16="http://schemas.microsoft.com/office/drawing/2014/main" val="1061306889"/>
                    </a:ext>
                  </a:extLst>
                </a:gridCol>
                <a:gridCol w="1641764">
                  <a:extLst>
                    <a:ext uri="{9D8B030D-6E8A-4147-A177-3AD203B41FA5}">
                      <a16:colId xmlns:a16="http://schemas.microsoft.com/office/drawing/2014/main" val="432733876"/>
                    </a:ext>
                  </a:extLst>
                </a:gridCol>
              </a:tblGrid>
              <a:tr h="797313">
                <a:tc>
                  <a:txBody>
                    <a:bodyPr/>
                    <a:lstStyle/>
                    <a:p>
                      <a:r>
                        <a:rPr lang="it-IT" sz="1800" err="1">
                          <a:latin typeface="Times New Roman" panose="02020603050405020304" pitchFamily="18" charset="0"/>
                          <a:cs typeface="Times New Roman" panose="02020603050405020304" pitchFamily="18" charset="0"/>
                        </a:rPr>
                        <a:t>Tissue</a:t>
                      </a:r>
                      <a:r>
                        <a:rPr lang="it-IT" sz="1800">
                          <a:latin typeface="Times New Roman" panose="02020603050405020304" pitchFamily="18" charset="0"/>
                          <a:cs typeface="Times New Roman" panose="02020603050405020304" pitchFamily="18" charset="0"/>
                        </a:rPr>
                        <a:t> </a:t>
                      </a:r>
                      <a:r>
                        <a:rPr lang="it-IT" sz="1800" err="1">
                          <a:latin typeface="Times New Roman" panose="02020603050405020304" pitchFamily="18" charset="0"/>
                          <a:cs typeface="Times New Roman" panose="02020603050405020304" pitchFamily="18" charset="0"/>
                        </a:rPr>
                        <a:t>Name</a:t>
                      </a:r>
                      <a:endParaRPr lang="it-IT" sz="180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a:latin typeface="Times New Roman" panose="02020603050405020304" pitchFamily="18" charset="0"/>
                          <a:cs typeface="Times New Roman" panose="02020603050405020304" pitchFamily="18" charset="0"/>
                        </a:rPr>
                        <a:t>Relative </a:t>
                      </a:r>
                      <a:r>
                        <a:rPr lang="it-IT" sz="1800" err="1">
                          <a:latin typeface="Times New Roman" panose="02020603050405020304" pitchFamily="18" charset="0"/>
                          <a:cs typeface="Times New Roman" panose="02020603050405020304" pitchFamily="18" charset="0"/>
                        </a:rPr>
                        <a:t>Permittivity</a:t>
                      </a:r>
                      <a:endParaRPr lang="it-IT" sz="180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err="1">
                          <a:latin typeface="Times New Roman" panose="02020603050405020304" pitchFamily="18" charset="0"/>
                          <a:cs typeface="Times New Roman" panose="02020603050405020304" pitchFamily="18" charset="0"/>
                        </a:rPr>
                        <a:t>Conductivity</a:t>
                      </a:r>
                      <a:r>
                        <a:rPr lang="it-IT" sz="1800">
                          <a:latin typeface="Times New Roman" panose="02020603050405020304" pitchFamily="18" charset="0"/>
                          <a:cs typeface="Times New Roman" panose="02020603050405020304" pitchFamily="18" charset="0"/>
                        </a:rPr>
                        <a:t> [S/m]</a:t>
                      </a:r>
                    </a:p>
                  </a:txBody>
                  <a:tcPr/>
                </a:tc>
                <a:extLst>
                  <a:ext uri="{0D108BD9-81ED-4DB2-BD59-A6C34878D82A}">
                    <a16:rowId xmlns:a16="http://schemas.microsoft.com/office/drawing/2014/main" val="614612131"/>
                  </a:ext>
                </a:extLst>
              </a:tr>
              <a:tr h="3387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err="1">
                          <a:latin typeface="Times New Roman" panose="02020603050405020304" pitchFamily="18" charset="0"/>
                          <a:cs typeface="Times New Roman" panose="02020603050405020304" pitchFamily="18" charset="0"/>
                        </a:rPr>
                        <a:t>Fat</a:t>
                      </a:r>
                      <a:endParaRPr lang="it-IT" sz="180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a:latin typeface="Times New Roman" panose="02020603050405020304" pitchFamily="18" charset="0"/>
                          <a:cs typeface="Times New Roman" panose="02020603050405020304" pitchFamily="18" charset="0"/>
                        </a:rPr>
                        <a:t>5.4596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latin typeface="Times New Roman" panose="02020603050405020304" pitchFamily="18" charset="0"/>
                          <a:cs typeface="Times New Roman" panose="02020603050405020304" pitchFamily="18" charset="0"/>
                        </a:rPr>
                        <a:t>0.051402</a:t>
                      </a:r>
                      <a:endParaRPr lang="it-IT" sz="18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60150004"/>
                  </a:ext>
                </a:extLst>
              </a:tr>
              <a:tr h="3387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a:latin typeface="Times New Roman" panose="02020603050405020304" pitchFamily="18" charset="0"/>
                          <a:cs typeface="Times New Roman" panose="02020603050405020304" pitchFamily="18" charset="0"/>
                        </a:rPr>
                        <a:t>Dry Skin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dirty="0">
                          <a:latin typeface="Times New Roman" panose="02020603050405020304" pitchFamily="18" charset="0"/>
                          <a:cs typeface="Times New Roman" panose="02020603050405020304" pitchFamily="18" charset="0"/>
                        </a:rPr>
                        <a:t>41.329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0.87169</a:t>
                      </a:r>
                      <a:endParaRPr lang="it-IT"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25253130"/>
                  </a:ext>
                </a:extLst>
              </a:tr>
            </a:tbl>
          </a:graphicData>
        </a:graphic>
      </p:graphicFrame>
      <p:pic>
        <p:nvPicPr>
          <p:cNvPr id="3" name="Immagine 2">
            <a:extLst>
              <a:ext uri="{FF2B5EF4-FFF2-40B4-BE49-F238E27FC236}">
                <a16:creationId xmlns:a16="http://schemas.microsoft.com/office/drawing/2014/main" id="{98482C32-566D-142C-7B05-D2A82B47EA92}"/>
              </a:ext>
            </a:extLst>
          </p:cNvPr>
          <p:cNvPicPr>
            <a:picLocks noChangeAspect="1"/>
          </p:cNvPicPr>
          <p:nvPr/>
        </p:nvPicPr>
        <p:blipFill>
          <a:blip r:embed="rId2"/>
          <a:srcRect l="4450" t="2567" r="8106" b="2807"/>
          <a:stretch/>
        </p:blipFill>
        <p:spPr>
          <a:xfrm>
            <a:off x="7772402" y="1711221"/>
            <a:ext cx="3906973" cy="3932904"/>
          </a:xfrm>
          <a:prstGeom prst="rect">
            <a:avLst/>
          </a:prstGeom>
        </p:spPr>
      </p:pic>
      <p:sp>
        <p:nvSpPr>
          <p:cNvPr id="5" name="Connettore 4">
            <a:extLst>
              <a:ext uri="{FF2B5EF4-FFF2-40B4-BE49-F238E27FC236}">
                <a16:creationId xmlns:a16="http://schemas.microsoft.com/office/drawing/2014/main" id="{2A2568C4-E92C-0B1B-A0EA-654746184264}"/>
              </a:ext>
            </a:extLst>
          </p:cNvPr>
          <p:cNvSpPr/>
          <p:nvPr/>
        </p:nvSpPr>
        <p:spPr>
          <a:xfrm>
            <a:off x="9509578" y="3505608"/>
            <a:ext cx="385786" cy="344130"/>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8" name="Connettore 2 7">
            <a:extLst>
              <a:ext uri="{FF2B5EF4-FFF2-40B4-BE49-F238E27FC236}">
                <a16:creationId xmlns:a16="http://schemas.microsoft.com/office/drawing/2014/main" id="{7FFEE1BA-ABDF-19EC-F260-E5458237E188}"/>
              </a:ext>
            </a:extLst>
          </p:cNvPr>
          <p:cNvCxnSpPr/>
          <p:nvPr/>
        </p:nvCxnSpPr>
        <p:spPr>
          <a:xfrm flipH="1" flipV="1">
            <a:off x="7718324" y="1730886"/>
            <a:ext cx="727586" cy="6386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Connettore 2 8">
            <a:extLst>
              <a:ext uri="{FF2B5EF4-FFF2-40B4-BE49-F238E27FC236}">
                <a16:creationId xmlns:a16="http://schemas.microsoft.com/office/drawing/2014/main" id="{69DEB655-EA27-1258-AC34-3A1FA8A4BA24}"/>
              </a:ext>
            </a:extLst>
          </p:cNvPr>
          <p:cNvCxnSpPr>
            <a:cxnSpLocks/>
          </p:cNvCxnSpPr>
          <p:nvPr/>
        </p:nvCxnSpPr>
        <p:spPr>
          <a:xfrm flipH="1" flipV="1">
            <a:off x="7262371" y="2437243"/>
            <a:ext cx="1466622" cy="12404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CasellaDiTesto 11">
            <a:extLst>
              <a:ext uri="{FF2B5EF4-FFF2-40B4-BE49-F238E27FC236}">
                <a16:creationId xmlns:a16="http://schemas.microsoft.com/office/drawing/2014/main" id="{BF5DCDE0-513E-F230-6AEC-43DF9BB5F4A0}"/>
              </a:ext>
            </a:extLst>
          </p:cNvPr>
          <p:cNvSpPr txBox="1"/>
          <p:nvPr/>
        </p:nvSpPr>
        <p:spPr>
          <a:xfrm>
            <a:off x="5894602" y="1466659"/>
            <a:ext cx="1877800" cy="369332"/>
          </a:xfrm>
          <a:prstGeom prst="rect">
            <a:avLst/>
          </a:prstGeom>
          <a:noFill/>
        </p:spPr>
        <p:txBody>
          <a:bodyPr wrap="square" rtlCol="0" anchor="ctr">
            <a:spAutoFit/>
          </a:bodyPr>
          <a:lstStyle/>
          <a:p>
            <a:pPr algn="l"/>
            <a:r>
              <a:rPr lang="it-IT" b="0" dirty="0">
                <a:solidFill>
                  <a:schemeClr val="tx1"/>
                </a:solidFill>
                <a:latin typeface="Times New Roman" panose="02020603050405020304" pitchFamily="18" charset="0"/>
                <a:cs typeface="Times New Roman" panose="02020603050405020304" pitchFamily="18" charset="0"/>
              </a:rPr>
              <a:t>Dry </a:t>
            </a:r>
            <a:r>
              <a:rPr lang="it-IT" b="0" dirty="0" err="1">
                <a:solidFill>
                  <a:schemeClr val="tx1"/>
                </a:solidFill>
                <a:latin typeface="Times New Roman" panose="02020603050405020304" pitchFamily="18" charset="0"/>
                <a:cs typeface="Times New Roman" panose="02020603050405020304" pitchFamily="18" charset="0"/>
              </a:rPr>
              <a:t>Skin</a:t>
            </a:r>
            <a:r>
              <a:rPr lang="it-IT" b="0" dirty="0">
                <a:solidFill>
                  <a:schemeClr val="tx1"/>
                </a:solidFill>
                <a:latin typeface="Times New Roman" panose="02020603050405020304" pitchFamily="18" charset="0"/>
                <a:cs typeface="Times New Roman" panose="02020603050405020304" pitchFamily="18" charset="0"/>
              </a:rPr>
              <a:t> (0.2 cm)</a:t>
            </a:r>
          </a:p>
        </p:txBody>
      </p:sp>
      <p:sp>
        <p:nvSpPr>
          <p:cNvPr id="14" name="CasellaDiTesto 13">
            <a:extLst>
              <a:ext uri="{FF2B5EF4-FFF2-40B4-BE49-F238E27FC236}">
                <a16:creationId xmlns:a16="http://schemas.microsoft.com/office/drawing/2014/main" id="{1B7A175E-1481-6AAA-919D-9FFB55AA39B2}"/>
              </a:ext>
            </a:extLst>
          </p:cNvPr>
          <p:cNvSpPr txBox="1"/>
          <p:nvPr/>
        </p:nvSpPr>
        <p:spPr>
          <a:xfrm>
            <a:off x="6096000" y="2169946"/>
            <a:ext cx="1209368" cy="369332"/>
          </a:xfrm>
          <a:prstGeom prst="rect">
            <a:avLst/>
          </a:prstGeom>
          <a:noFill/>
        </p:spPr>
        <p:txBody>
          <a:bodyPr wrap="square" rtlCol="0" anchor="ctr">
            <a:spAutoFit/>
          </a:bodyPr>
          <a:lstStyle/>
          <a:p>
            <a:pPr algn="l"/>
            <a:r>
              <a:rPr lang="it-IT" b="0" dirty="0" err="1">
                <a:solidFill>
                  <a:schemeClr val="tx1"/>
                </a:solidFill>
                <a:latin typeface="Times New Roman" panose="02020603050405020304" pitchFamily="18" charset="0"/>
                <a:cs typeface="Times New Roman" panose="02020603050405020304" pitchFamily="18" charset="0"/>
              </a:rPr>
              <a:t>Fat</a:t>
            </a:r>
            <a:r>
              <a:rPr lang="it-IT" b="0" dirty="0">
                <a:solidFill>
                  <a:schemeClr val="tx1"/>
                </a:solidFill>
                <a:latin typeface="Times New Roman" panose="02020603050405020304" pitchFamily="18" charset="0"/>
                <a:cs typeface="Times New Roman" panose="02020603050405020304" pitchFamily="18" charset="0"/>
              </a:rPr>
              <a:t> (5 cm)</a:t>
            </a:r>
          </a:p>
        </p:txBody>
      </p:sp>
      <p:cxnSp>
        <p:nvCxnSpPr>
          <p:cNvPr id="16" name="Connettore 2 15">
            <a:extLst>
              <a:ext uri="{FF2B5EF4-FFF2-40B4-BE49-F238E27FC236}">
                <a16:creationId xmlns:a16="http://schemas.microsoft.com/office/drawing/2014/main" id="{466DEEB9-4C2F-0FCA-5B21-8745E1376307}"/>
              </a:ext>
            </a:extLst>
          </p:cNvPr>
          <p:cNvCxnSpPr/>
          <p:nvPr/>
        </p:nvCxnSpPr>
        <p:spPr>
          <a:xfrm flipH="1">
            <a:off x="7821075" y="3729497"/>
            <a:ext cx="1815836" cy="17104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CasellaDiTesto 16">
            <a:extLst>
              <a:ext uri="{FF2B5EF4-FFF2-40B4-BE49-F238E27FC236}">
                <a16:creationId xmlns:a16="http://schemas.microsoft.com/office/drawing/2014/main" id="{1A5C165F-4D5A-8F5C-4BDB-8F0697212452}"/>
              </a:ext>
            </a:extLst>
          </p:cNvPr>
          <p:cNvSpPr txBox="1"/>
          <p:nvPr/>
        </p:nvSpPr>
        <p:spPr>
          <a:xfrm>
            <a:off x="6129926" y="5439901"/>
            <a:ext cx="1691149" cy="369332"/>
          </a:xfrm>
          <a:prstGeom prst="rect">
            <a:avLst/>
          </a:prstGeom>
          <a:noFill/>
        </p:spPr>
        <p:txBody>
          <a:bodyPr wrap="square" rtlCol="0" anchor="ctr">
            <a:spAutoFit/>
          </a:bodyPr>
          <a:lstStyle/>
          <a:p>
            <a:pPr algn="l"/>
            <a:r>
              <a:rPr lang="it-IT" b="1" dirty="0">
                <a:solidFill>
                  <a:schemeClr val="tx1"/>
                </a:solidFill>
                <a:latin typeface="Times New Roman" panose="02020603050405020304" pitchFamily="18" charset="0"/>
                <a:cs typeface="Times New Roman" panose="02020603050405020304" pitchFamily="18" charset="0"/>
              </a:rPr>
              <a:t>Device (0.5 cm)</a:t>
            </a:r>
          </a:p>
        </p:txBody>
      </p:sp>
    </p:spTree>
    <p:extLst>
      <p:ext uri="{BB962C8B-B14F-4D97-AF65-F5344CB8AC3E}">
        <p14:creationId xmlns:p14="http://schemas.microsoft.com/office/powerpoint/2010/main" val="851249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AC7F4-BC31-65CF-DCEC-8C42300A602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D4495C6-AAE7-760D-BCEC-D937657C2BCA}"/>
              </a:ext>
            </a:extLst>
          </p:cNvPr>
          <p:cNvSpPr>
            <a:spLocks noGrp="1"/>
          </p:cNvSpPr>
          <p:nvPr>
            <p:ph type="title"/>
          </p:nvPr>
        </p:nvSpPr>
        <p:spPr/>
        <p:txBody>
          <a:bodyPr>
            <a:normAutofit/>
          </a:bodyPr>
          <a:lstStyle/>
          <a:p>
            <a:r>
              <a:rPr lang="it-IT" sz="4000">
                <a:latin typeface="Arial" panose="020B0604020202020204" pitchFamily="34" charset="0"/>
              </a:rPr>
              <a:t>SIMULATIONS [2]: </a:t>
            </a:r>
            <a:r>
              <a:rPr lang="it-IT" sz="4000" err="1">
                <a:latin typeface="Arial" panose="020B0604020202020204" pitchFamily="34" charset="0"/>
              </a:rPr>
              <a:t>Results</a:t>
            </a:r>
            <a:endParaRPr lang="it-IT" sz="4000">
              <a:latin typeface="Arial" panose="020B0604020202020204" pitchFamily="34" charset="0"/>
            </a:endParaRPr>
          </a:p>
        </p:txBody>
      </p:sp>
      <p:graphicFrame>
        <p:nvGraphicFramePr>
          <p:cNvPr id="3" name="Tabella 2">
            <a:extLst>
              <a:ext uri="{FF2B5EF4-FFF2-40B4-BE49-F238E27FC236}">
                <a16:creationId xmlns:a16="http://schemas.microsoft.com/office/drawing/2014/main" id="{5BE05E73-F27F-792E-B59D-1C536F4E4FE8}"/>
              </a:ext>
            </a:extLst>
          </p:cNvPr>
          <p:cNvGraphicFramePr>
            <a:graphicFrameLocks noGrp="1"/>
          </p:cNvGraphicFramePr>
          <p:nvPr>
            <p:extLst>
              <p:ext uri="{D42A27DB-BD31-4B8C-83A1-F6EECF244321}">
                <p14:modId xmlns:p14="http://schemas.microsoft.com/office/powerpoint/2010/main" val="1597165091"/>
              </p:ext>
            </p:extLst>
          </p:nvPr>
        </p:nvGraphicFramePr>
        <p:xfrm>
          <a:off x="646461" y="1423219"/>
          <a:ext cx="6354915" cy="1854200"/>
        </p:xfrm>
        <a:graphic>
          <a:graphicData uri="http://schemas.openxmlformats.org/drawingml/2006/table">
            <a:tbl>
              <a:tblPr firstRow="1" bandRow="1">
                <a:tableStyleId>{5C22544A-7EE6-4342-B048-85BDC9FD1C3A}</a:tableStyleId>
              </a:tblPr>
              <a:tblGrid>
                <a:gridCol w="2068052">
                  <a:extLst>
                    <a:ext uri="{9D8B030D-6E8A-4147-A177-3AD203B41FA5}">
                      <a16:colId xmlns:a16="http://schemas.microsoft.com/office/drawing/2014/main" val="1731400970"/>
                    </a:ext>
                  </a:extLst>
                </a:gridCol>
                <a:gridCol w="1779637">
                  <a:extLst>
                    <a:ext uri="{9D8B030D-6E8A-4147-A177-3AD203B41FA5}">
                      <a16:colId xmlns:a16="http://schemas.microsoft.com/office/drawing/2014/main" val="432249152"/>
                    </a:ext>
                  </a:extLst>
                </a:gridCol>
                <a:gridCol w="1232853">
                  <a:extLst>
                    <a:ext uri="{9D8B030D-6E8A-4147-A177-3AD203B41FA5}">
                      <a16:colId xmlns:a16="http://schemas.microsoft.com/office/drawing/2014/main" val="1680756031"/>
                    </a:ext>
                  </a:extLst>
                </a:gridCol>
                <a:gridCol w="1274373">
                  <a:extLst>
                    <a:ext uri="{9D8B030D-6E8A-4147-A177-3AD203B41FA5}">
                      <a16:colId xmlns:a16="http://schemas.microsoft.com/office/drawing/2014/main" val="1547525881"/>
                    </a:ext>
                  </a:extLst>
                </a:gridCol>
              </a:tblGrid>
              <a:tr h="370840">
                <a:tc>
                  <a:txBody>
                    <a:bodyPr/>
                    <a:lstStyle/>
                    <a:p>
                      <a:r>
                        <a:rPr lang="it-IT">
                          <a:latin typeface="Times New Roman" panose="02020603050405020304" pitchFamily="18" charset="0"/>
                          <a:cs typeface="Times New Roman" panose="02020603050405020304" pitchFamily="18" charset="0"/>
                        </a:rPr>
                        <a:t>Results </a:t>
                      </a:r>
                      <a:r>
                        <a:rPr lang="el-GR" sz="1600" b="1" i="0" kern="1200">
                          <a:solidFill>
                            <a:schemeClr val="lt1"/>
                          </a:solidFill>
                          <a:effectLst/>
                          <a:latin typeface="Times New Roman" panose="02020603050405020304" pitchFamily="18" charset="0"/>
                          <a:ea typeface="+mn-ea"/>
                          <a:cs typeface="Times New Roman" panose="02020603050405020304" pitchFamily="18" charset="0"/>
                        </a:rPr>
                        <a:t>η</a:t>
                      </a:r>
                      <a:r>
                        <a:rPr lang="it-IT" sz="1600" b="1" i="0" kern="1200">
                          <a:solidFill>
                            <a:schemeClr val="lt1"/>
                          </a:solidFill>
                          <a:effectLst/>
                          <a:latin typeface="Times New Roman" panose="02020603050405020304" pitchFamily="18" charset="0"/>
                          <a:ea typeface="+mn-ea"/>
                          <a:cs typeface="Times New Roman" panose="02020603050405020304" pitchFamily="18" charset="0"/>
                        </a:rPr>
                        <a:t>tot</a:t>
                      </a:r>
                      <a:endParaRPr lang="it-IT" sz="1600">
                        <a:latin typeface="Times New Roman" panose="02020603050405020304" pitchFamily="18" charset="0"/>
                        <a:cs typeface="Times New Roman" panose="02020603050405020304" pitchFamily="18" charset="0"/>
                      </a:endParaRPr>
                    </a:p>
                  </a:txBody>
                  <a:tcPr/>
                </a:tc>
                <a:tc>
                  <a:txBody>
                    <a:bodyPr/>
                    <a:lstStyle/>
                    <a:p>
                      <a:endParaRPr lang="it-IT">
                        <a:latin typeface="Times New Roman" panose="02020603050405020304" pitchFamily="18" charset="0"/>
                        <a:cs typeface="Times New Roman" panose="02020603050405020304" pitchFamily="18" charset="0"/>
                      </a:endParaRPr>
                    </a:p>
                  </a:txBody>
                  <a:tcPr/>
                </a:tc>
                <a:tc>
                  <a:txBody>
                    <a:bodyPr/>
                    <a:lstStyle/>
                    <a:p>
                      <a:r>
                        <a:rPr lang="it-IT">
                          <a:latin typeface="Times New Roman"/>
                          <a:cs typeface="Times New Roman"/>
                        </a:rPr>
                        <a:t>TE source</a:t>
                      </a:r>
                    </a:p>
                  </a:txBody>
                  <a:tcPr/>
                </a:tc>
                <a:tc>
                  <a:txBody>
                    <a:bodyPr/>
                    <a:lstStyle/>
                    <a:p>
                      <a:r>
                        <a:rPr lang="it-IT">
                          <a:latin typeface="Times New Roman"/>
                          <a:cs typeface="Times New Roman"/>
                        </a:rPr>
                        <a:t>TM source</a:t>
                      </a:r>
                    </a:p>
                  </a:txBody>
                  <a:tcPr/>
                </a:tc>
                <a:extLst>
                  <a:ext uri="{0D108BD9-81ED-4DB2-BD59-A6C34878D82A}">
                    <a16:rowId xmlns:a16="http://schemas.microsoft.com/office/drawing/2014/main" val="2923140079"/>
                  </a:ext>
                </a:extLst>
              </a:tr>
              <a:tr h="370840">
                <a:tc rowSpan="2">
                  <a:txBody>
                    <a:bodyPr/>
                    <a:lstStyle/>
                    <a:p>
                      <a:r>
                        <a:rPr lang="it-IT" dirty="0" err="1">
                          <a:latin typeface="Times New Roman"/>
                          <a:cs typeface="Times New Roman"/>
                        </a:rPr>
                        <a:t>Uniform</a:t>
                      </a:r>
                      <a:r>
                        <a:rPr lang="it-IT" dirty="0">
                          <a:latin typeface="Times New Roman"/>
                          <a:cs typeface="Times New Roman"/>
                        </a:rPr>
                        <a:t> body</a:t>
                      </a:r>
                    </a:p>
                  </a:txBody>
                  <a:tcPr/>
                </a:tc>
                <a:tc>
                  <a:txBody>
                    <a:bodyPr/>
                    <a:lstStyle/>
                    <a:p>
                      <a:r>
                        <a:rPr lang="it-IT">
                          <a:latin typeface="Times New Roman"/>
                          <a:cs typeface="Times New Roman"/>
                        </a:rPr>
                        <a:t>Aritmetic mean</a:t>
                      </a:r>
                    </a:p>
                  </a:txBody>
                  <a:tcPr/>
                </a:tc>
                <a:tc>
                  <a:txBody>
                    <a:bodyPr/>
                    <a:lstStyle/>
                    <a:p>
                      <a:r>
                        <a:rPr lang="it-IT">
                          <a:latin typeface="Times New Roman"/>
                          <a:cs typeface="Times New Roman"/>
                        </a:rPr>
                        <a:t>-11.7 dB</a:t>
                      </a:r>
                    </a:p>
                  </a:txBody>
                  <a:tcPr/>
                </a:tc>
                <a:tc>
                  <a:txBody>
                    <a:bodyPr/>
                    <a:lstStyle/>
                    <a:p>
                      <a:r>
                        <a:rPr lang="it-IT">
                          <a:latin typeface="Times New Roman"/>
                          <a:cs typeface="Times New Roman"/>
                        </a:rPr>
                        <a:t>-16.13 dB</a:t>
                      </a:r>
                    </a:p>
                  </a:txBody>
                  <a:tcPr/>
                </a:tc>
                <a:extLst>
                  <a:ext uri="{0D108BD9-81ED-4DB2-BD59-A6C34878D82A}">
                    <a16:rowId xmlns:a16="http://schemas.microsoft.com/office/drawing/2014/main" val="3575555220"/>
                  </a:ext>
                </a:extLst>
              </a:tr>
              <a:tr h="370840">
                <a:tc vMerge="1">
                  <a:txBody>
                    <a:bodyPr/>
                    <a:lstStyle/>
                    <a:p>
                      <a:endParaRPr lang="it-IT"/>
                    </a:p>
                  </a:txBody>
                  <a:tcPr/>
                </a:tc>
                <a:tc>
                  <a:txBody>
                    <a:bodyPr/>
                    <a:lstStyle/>
                    <a:p>
                      <a:r>
                        <a:rPr lang="it-IT">
                          <a:latin typeface="Times New Roman"/>
                          <a:cs typeface="Times New Roman"/>
                        </a:rPr>
                        <a:t>Weighted mean</a:t>
                      </a:r>
                    </a:p>
                  </a:txBody>
                  <a:tcPr/>
                </a:tc>
                <a:tc>
                  <a:txBody>
                    <a:bodyPr/>
                    <a:lstStyle/>
                    <a:p>
                      <a:r>
                        <a:rPr lang="it-IT" dirty="0">
                          <a:latin typeface="Times New Roman"/>
                          <a:cs typeface="Times New Roman"/>
                        </a:rPr>
                        <a:t>-5.6 dB</a:t>
                      </a:r>
                    </a:p>
                  </a:txBody>
                  <a:tcPr/>
                </a:tc>
                <a:tc>
                  <a:txBody>
                    <a:bodyPr/>
                    <a:lstStyle/>
                    <a:p>
                      <a:r>
                        <a:rPr lang="it-IT" dirty="0">
                          <a:latin typeface="Times New Roman"/>
                          <a:cs typeface="Times New Roman"/>
                        </a:rPr>
                        <a:t>-15.4 dB</a:t>
                      </a:r>
                    </a:p>
                  </a:txBody>
                  <a:tcPr/>
                </a:tc>
                <a:extLst>
                  <a:ext uri="{0D108BD9-81ED-4DB2-BD59-A6C34878D82A}">
                    <a16:rowId xmlns:a16="http://schemas.microsoft.com/office/drawing/2014/main" val="3025131076"/>
                  </a:ext>
                </a:extLst>
              </a:tr>
              <a:tr h="370840">
                <a:tc rowSpan="2">
                  <a:txBody>
                    <a:bodyPr/>
                    <a:lstStyle/>
                    <a:p>
                      <a:r>
                        <a:rPr lang="it-IT" dirty="0" err="1">
                          <a:latin typeface="Times New Roman"/>
                          <a:cs typeface="Times New Roman"/>
                        </a:rPr>
                        <a:t>Stratified</a:t>
                      </a:r>
                      <a:r>
                        <a:rPr lang="it-IT" dirty="0">
                          <a:latin typeface="Times New Roman"/>
                          <a:cs typeface="Times New Roman"/>
                        </a:rPr>
                        <a:t> body</a:t>
                      </a:r>
                    </a:p>
                  </a:txBody>
                  <a:tcPr/>
                </a:tc>
                <a:tc>
                  <a:txBody>
                    <a:bodyPr/>
                    <a:lstStyle/>
                    <a:p>
                      <a:r>
                        <a:rPr lang="it-IT">
                          <a:latin typeface="Times New Roman"/>
                          <a:cs typeface="Times New Roman"/>
                        </a:rPr>
                        <a:t>Aritmetic mean</a:t>
                      </a:r>
                    </a:p>
                  </a:txBody>
                  <a:tcPr/>
                </a:tc>
                <a:tc>
                  <a:txBody>
                    <a:bodyPr/>
                    <a:lstStyle/>
                    <a:p>
                      <a:r>
                        <a:rPr lang="it-IT">
                          <a:latin typeface="Times New Roman"/>
                          <a:cs typeface="Times New Roman"/>
                        </a:rPr>
                        <a:t>-13.8 dB</a:t>
                      </a:r>
                    </a:p>
                  </a:txBody>
                  <a:tcPr/>
                </a:tc>
                <a:tc>
                  <a:txBody>
                    <a:bodyPr/>
                    <a:lstStyle/>
                    <a:p>
                      <a:r>
                        <a:rPr lang="it-IT">
                          <a:latin typeface="Times New Roman"/>
                          <a:cs typeface="Times New Roman"/>
                        </a:rPr>
                        <a:t>-17.9 dB</a:t>
                      </a:r>
                    </a:p>
                  </a:txBody>
                  <a:tcPr/>
                </a:tc>
                <a:extLst>
                  <a:ext uri="{0D108BD9-81ED-4DB2-BD59-A6C34878D82A}">
                    <a16:rowId xmlns:a16="http://schemas.microsoft.com/office/drawing/2014/main" val="3581931851"/>
                  </a:ext>
                </a:extLst>
              </a:tr>
              <a:tr h="370840">
                <a:tc vMerge="1">
                  <a:txBody>
                    <a:bodyPr/>
                    <a:lstStyle/>
                    <a:p>
                      <a:endParaRPr lang="it-IT"/>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err="1">
                          <a:latin typeface="Times New Roman"/>
                          <a:cs typeface="Times New Roman"/>
                        </a:rPr>
                        <a:t>Weighted</a:t>
                      </a:r>
                      <a:r>
                        <a:rPr lang="it-IT" dirty="0">
                          <a:latin typeface="Times New Roman"/>
                          <a:cs typeface="Times New Roman"/>
                        </a:rPr>
                        <a:t> </a:t>
                      </a:r>
                      <a:r>
                        <a:rPr lang="it-IT" dirty="0" err="1">
                          <a:latin typeface="Times New Roman"/>
                          <a:cs typeface="Times New Roman"/>
                        </a:rPr>
                        <a:t>mean</a:t>
                      </a:r>
                      <a:endParaRPr lang="it-IT" dirty="0">
                        <a:latin typeface="Times New Roman"/>
                        <a:cs typeface="Times New Roman"/>
                      </a:endParaRPr>
                    </a:p>
                  </a:txBody>
                  <a:tcPr/>
                </a:tc>
                <a:tc>
                  <a:txBody>
                    <a:bodyPr/>
                    <a:lstStyle/>
                    <a:p>
                      <a:r>
                        <a:rPr lang="it-IT" dirty="0">
                          <a:latin typeface="Times New Roman"/>
                          <a:cs typeface="Times New Roman"/>
                        </a:rPr>
                        <a:t>-9.3 dB</a:t>
                      </a:r>
                    </a:p>
                  </a:txBody>
                  <a:tcPr/>
                </a:tc>
                <a:tc>
                  <a:txBody>
                    <a:bodyPr/>
                    <a:lstStyle/>
                    <a:p>
                      <a:r>
                        <a:rPr lang="it-IT" dirty="0">
                          <a:latin typeface="Times New Roman"/>
                          <a:cs typeface="Times New Roman"/>
                        </a:rPr>
                        <a:t>-18.7dB</a:t>
                      </a:r>
                      <a:endParaRPr lang="it-IT" dirty="0"/>
                    </a:p>
                  </a:txBody>
                  <a:tcPr/>
                </a:tc>
                <a:extLst>
                  <a:ext uri="{0D108BD9-81ED-4DB2-BD59-A6C34878D82A}">
                    <a16:rowId xmlns:a16="http://schemas.microsoft.com/office/drawing/2014/main" val="1015948895"/>
                  </a:ext>
                </a:extLst>
              </a:tr>
            </a:tbl>
          </a:graphicData>
        </a:graphic>
      </p:graphicFrame>
      <p:pic>
        <p:nvPicPr>
          <p:cNvPr id="5" name="Immagine 4" descr="Immagine che contiene testo, linea, diagramma, schermata&#10;&#10;Il contenuto generato dall&amp;#39;IA potrebbe non essere corretto.">
            <a:extLst>
              <a:ext uri="{FF2B5EF4-FFF2-40B4-BE49-F238E27FC236}">
                <a16:creationId xmlns:a16="http://schemas.microsoft.com/office/drawing/2014/main" id="{938A93A0-393A-90FD-60F2-A0C063434DF9}"/>
              </a:ext>
            </a:extLst>
          </p:cNvPr>
          <p:cNvPicPr>
            <a:picLocks noChangeAspect="1"/>
          </p:cNvPicPr>
          <p:nvPr/>
        </p:nvPicPr>
        <p:blipFill>
          <a:blip r:embed="rId2"/>
          <a:stretch>
            <a:fillRect/>
          </a:stretch>
        </p:blipFill>
        <p:spPr>
          <a:xfrm>
            <a:off x="6255224" y="3597771"/>
            <a:ext cx="5811672" cy="2733202"/>
          </a:xfrm>
          <a:prstGeom prst="rect">
            <a:avLst/>
          </a:prstGeom>
        </p:spPr>
      </p:pic>
      <p:pic>
        <p:nvPicPr>
          <p:cNvPr id="6" name="Immagine 5" descr="Immagine che contiene testo, linea, diagramma, Diagramma&#10;&#10;Il contenuto generato dall&amp;#39;IA potrebbe non essere corretto.">
            <a:extLst>
              <a:ext uri="{FF2B5EF4-FFF2-40B4-BE49-F238E27FC236}">
                <a16:creationId xmlns:a16="http://schemas.microsoft.com/office/drawing/2014/main" id="{B98672FC-4742-E411-E295-4748989019CA}"/>
              </a:ext>
            </a:extLst>
          </p:cNvPr>
          <p:cNvPicPr>
            <a:picLocks noChangeAspect="1"/>
          </p:cNvPicPr>
          <p:nvPr/>
        </p:nvPicPr>
        <p:blipFill>
          <a:blip r:embed="rId3"/>
          <a:stretch>
            <a:fillRect/>
          </a:stretch>
        </p:blipFill>
        <p:spPr>
          <a:xfrm>
            <a:off x="648268" y="3597773"/>
            <a:ext cx="5606956" cy="2733201"/>
          </a:xfrm>
          <a:prstGeom prst="rect">
            <a:avLst/>
          </a:prstGeom>
        </p:spPr>
      </p:pic>
    </p:spTree>
    <p:extLst>
      <p:ext uri="{BB962C8B-B14F-4D97-AF65-F5344CB8AC3E}">
        <p14:creationId xmlns:p14="http://schemas.microsoft.com/office/powerpoint/2010/main" val="1038473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1">
            <a:extLst>
              <a:ext uri="{FF2B5EF4-FFF2-40B4-BE49-F238E27FC236}">
                <a16:creationId xmlns:a16="http://schemas.microsoft.com/office/drawing/2014/main" id="{2A4CD675-3913-C691-D280-BD0E8EFD5F29}"/>
              </a:ext>
            </a:extLst>
          </p:cNvPr>
          <p:cNvSpPr>
            <a:spLocks noGrp="1"/>
          </p:cNvSpPr>
          <p:nvPr>
            <p:ph type="title"/>
          </p:nvPr>
        </p:nvSpPr>
        <p:spPr>
          <a:xfrm>
            <a:off x="1837677" y="101341"/>
            <a:ext cx="10327398" cy="853536"/>
          </a:xfrm>
        </p:spPr>
        <p:txBody>
          <a:bodyPr>
            <a:normAutofit/>
          </a:bodyPr>
          <a:lstStyle/>
          <a:p>
            <a:r>
              <a:rPr lang="it-IT" sz="4000">
                <a:latin typeface="Arial"/>
                <a:cs typeface="Arial"/>
              </a:rPr>
              <a:t>SIMULATIONS [2]: </a:t>
            </a:r>
            <a:r>
              <a:rPr lang="it-IT" sz="4000" err="1">
                <a:latin typeface="Arial"/>
                <a:cs typeface="Arial"/>
              </a:rPr>
              <a:t>Curious</a:t>
            </a:r>
            <a:r>
              <a:rPr lang="it-IT" sz="4000">
                <a:latin typeface="Arial"/>
                <a:cs typeface="Arial"/>
              </a:rPr>
              <a:t> </a:t>
            </a:r>
            <a:r>
              <a:rPr lang="it-IT" sz="4000" err="1">
                <a:latin typeface="Arial"/>
                <a:cs typeface="Arial"/>
              </a:rPr>
              <a:t>Results</a:t>
            </a:r>
            <a:endParaRPr lang="it-IT" sz="4000" err="1">
              <a:latin typeface="Arial" panose="020B0604020202020204" pitchFamily="34" charset="0"/>
            </a:endParaRPr>
          </a:p>
        </p:txBody>
      </p:sp>
      <p:sp>
        <p:nvSpPr>
          <p:cNvPr id="9" name="Segnaposto contenuto 2">
            <a:extLst>
              <a:ext uri="{FF2B5EF4-FFF2-40B4-BE49-F238E27FC236}">
                <a16:creationId xmlns:a16="http://schemas.microsoft.com/office/drawing/2014/main" id="{B694C223-E5EE-73FA-D701-F71F289D3954}"/>
              </a:ext>
            </a:extLst>
          </p:cNvPr>
          <p:cNvSpPr>
            <a:spLocks noGrp="1"/>
          </p:cNvSpPr>
          <p:nvPr>
            <p:ph idx="1"/>
          </p:nvPr>
        </p:nvSpPr>
        <p:spPr>
          <a:xfrm>
            <a:off x="1219384" y="1107278"/>
            <a:ext cx="11107002" cy="1218052"/>
          </a:xfrm>
        </p:spPr>
        <p:txBody>
          <a:bodyPr vert="horz" lIns="91440" tIns="45720" rIns="91440" bIns="45720" rtlCol="0" anchor="t">
            <a:noAutofit/>
          </a:bodyPr>
          <a:lstStyle/>
          <a:p>
            <a:pPr marL="0" indent="0">
              <a:buNone/>
            </a:pPr>
            <a:r>
              <a:rPr lang="en-US" sz="1600">
                <a:latin typeface="Times New Roman"/>
                <a:cs typeface="Times New Roman"/>
              </a:rPr>
              <a:t>Implantation Depth (d) variation  in order to consider bladder movements during filling and voiding phases. Refraction efficiency should be considered.</a:t>
            </a:r>
            <a:endParaRPr lang="en-US" sz="1600">
              <a:latin typeface="Times New Roman"/>
              <a:ea typeface="Calibri"/>
              <a:cs typeface="Times New Roman"/>
            </a:endParaRPr>
          </a:p>
          <a:p>
            <a:pPr marL="0" indent="0">
              <a:buNone/>
            </a:pPr>
            <a:r>
              <a:rPr lang="en-US" sz="1600">
                <a:latin typeface="Times New Roman"/>
                <a:cs typeface="Times New Roman"/>
              </a:rPr>
              <a:t>Better efficiency with higher implantation depth? Maybe better not to consider refraction efficiency</a:t>
            </a:r>
            <a:endParaRPr lang="en-US" sz="1600">
              <a:latin typeface="Times New Roman" panose="02020603050405020304" pitchFamily="18" charset="0"/>
              <a:cs typeface="Times New Roman" panose="02020603050405020304" pitchFamily="18" charset="0"/>
            </a:endParaRPr>
          </a:p>
        </p:txBody>
      </p:sp>
      <p:grpSp>
        <p:nvGrpSpPr>
          <p:cNvPr id="24" name="Gruppo 23">
            <a:extLst>
              <a:ext uri="{FF2B5EF4-FFF2-40B4-BE49-F238E27FC236}">
                <a16:creationId xmlns:a16="http://schemas.microsoft.com/office/drawing/2014/main" id="{9BF353F6-3D3A-9A86-10A0-066F98DB4498}"/>
              </a:ext>
            </a:extLst>
          </p:cNvPr>
          <p:cNvGrpSpPr/>
          <p:nvPr/>
        </p:nvGrpSpPr>
        <p:grpSpPr>
          <a:xfrm>
            <a:off x="394027" y="2572498"/>
            <a:ext cx="4298626" cy="3523471"/>
            <a:chOff x="803459" y="2208558"/>
            <a:chExt cx="4696686" cy="3932904"/>
          </a:xfrm>
        </p:grpSpPr>
        <p:pic>
          <p:nvPicPr>
            <p:cNvPr id="15" name="Immagine 14" descr="Immagine che contiene cerchio&#10;&#10;Il contenuto generato dall&amp;#39;IA potrebbe non essere corretto.">
              <a:extLst>
                <a:ext uri="{FF2B5EF4-FFF2-40B4-BE49-F238E27FC236}">
                  <a16:creationId xmlns:a16="http://schemas.microsoft.com/office/drawing/2014/main" id="{FD865325-08A9-68A8-A0CE-FEDED919002C}"/>
                </a:ext>
              </a:extLst>
            </p:cNvPr>
            <p:cNvPicPr>
              <a:picLocks noChangeAspect="1"/>
            </p:cNvPicPr>
            <p:nvPr/>
          </p:nvPicPr>
          <p:blipFill>
            <a:blip r:embed="rId2"/>
            <a:srcRect l="4450" t="2567" r="8106" b="2807"/>
            <a:stretch/>
          </p:blipFill>
          <p:spPr>
            <a:xfrm>
              <a:off x="803459" y="2208558"/>
              <a:ext cx="3906973" cy="3932904"/>
            </a:xfrm>
            <a:prstGeom prst="rect">
              <a:avLst/>
            </a:prstGeom>
          </p:spPr>
        </p:pic>
        <p:sp>
          <p:nvSpPr>
            <p:cNvPr id="17" name="Connettore 16">
              <a:extLst>
                <a:ext uri="{FF2B5EF4-FFF2-40B4-BE49-F238E27FC236}">
                  <a16:creationId xmlns:a16="http://schemas.microsoft.com/office/drawing/2014/main" id="{592DB7AD-490A-4432-7411-F7F0F97E989A}"/>
                </a:ext>
              </a:extLst>
            </p:cNvPr>
            <p:cNvSpPr/>
            <p:nvPr/>
          </p:nvSpPr>
          <p:spPr>
            <a:xfrm>
              <a:off x="1946443" y="4006026"/>
              <a:ext cx="385786" cy="344130"/>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9" name="Connettore 18">
              <a:extLst>
                <a:ext uri="{FF2B5EF4-FFF2-40B4-BE49-F238E27FC236}">
                  <a16:creationId xmlns:a16="http://schemas.microsoft.com/office/drawing/2014/main" id="{860C2CB1-4D68-7C96-7C9F-AEF28AF282C1}"/>
                </a:ext>
              </a:extLst>
            </p:cNvPr>
            <p:cNvSpPr/>
            <p:nvPr/>
          </p:nvSpPr>
          <p:spPr>
            <a:xfrm>
              <a:off x="2685697" y="4108384"/>
              <a:ext cx="146951" cy="162160"/>
            </a:xfrm>
            <a:prstGeom prst="flowChartConnector">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20" name="Connettore 2 19">
              <a:extLst>
                <a:ext uri="{FF2B5EF4-FFF2-40B4-BE49-F238E27FC236}">
                  <a16:creationId xmlns:a16="http://schemas.microsoft.com/office/drawing/2014/main" id="{1C462EC5-809C-414A-86D5-B4744C9C6005}"/>
                </a:ext>
              </a:extLst>
            </p:cNvPr>
            <p:cNvCxnSpPr/>
            <p:nvPr/>
          </p:nvCxnSpPr>
          <p:spPr>
            <a:xfrm flipV="1">
              <a:off x="820184" y="4214446"/>
              <a:ext cx="1321224" cy="7552"/>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Connettore 2 20">
              <a:extLst>
                <a:ext uri="{FF2B5EF4-FFF2-40B4-BE49-F238E27FC236}">
                  <a16:creationId xmlns:a16="http://schemas.microsoft.com/office/drawing/2014/main" id="{D04E4ADF-8068-EF2D-1E8E-50359A0E5E3F}"/>
                </a:ext>
              </a:extLst>
            </p:cNvPr>
            <p:cNvCxnSpPr/>
            <p:nvPr/>
          </p:nvCxnSpPr>
          <p:spPr>
            <a:xfrm flipV="1">
              <a:off x="2752716" y="2243073"/>
              <a:ext cx="23370" cy="195375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CasellaDiTesto 21">
              <a:extLst>
                <a:ext uri="{FF2B5EF4-FFF2-40B4-BE49-F238E27FC236}">
                  <a16:creationId xmlns:a16="http://schemas.microsoft.com/office/drawing/2014/main" id="{60C9DE86-DEDC-CE94-0860-7C56485B1175}"/>
                </a:ext>
              </a:extLst>
            </p:cNvPr>
            <p:cNvSpPr txBox="1"/>
            <p:nvPr/>
          </p:nvSpPr>
          <p:spPr>
            <a:xfrm>
              <a:off x="2756945" y="3217586"/>
              <a:ext cx="2743200" cy="430887"/>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l"/>
              <a:r>
                <a:rPr lang="it-IT" sz="2200" err="1">
                  <a:ea typeface="Calibri"/>
                  <a:cs typeface="Calibri"/>
                </a:rPr>
                <a:t>rbody</a:t>
              </a:r>
              <a:endParaRPr lang="it-IT" sz="2200" b="0" err="1">
                <a:solidFill>
                  <a:schemeClr val="tx1"/>
                </a:solidFill>
              </a:endParaRPr>
            </a:p>
          </p:txBody>
        </p:sp>
        <p:sp>
          <p:nvSpPr>
            <p:cNvPr id="23" name="CasellaDiTesto 22">
              <a:extLst>
                <a:ext uri="{FF2B5EF4-FFF2-40B4-BE49-F238E27FC236}">
                  <a16:creationId xmlns:a16="http://schemas.microsoft.com/office/drawing/2014/main" id="{9BE1D382-F4E9-9D0C-390F-0DAB0F382722}"/>
                </a:ext>
              </a:extLst>
            </p:cNvPr>
            <p:cNvSpPr txBox="1"/>
            <p:nvPr/>
          </p:nvSpPr>
          <p:spPr>
            <a:xfrm>
              <a:off x="1312556" y="3786242"/>
              <a:ext cx="2743200" cy="430887"/>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l"/>
              <a:r>
                <a:rPr lang="it-IT" sz="2200">
                  <a:ea typeface="Calibri"/>
                  <a:cs typeface="Calibri"/>
                </a:rPr>
                <a:t>d</a:t>
              </a:r>
              <a:endParaRPr lang="it-IT" sz="2200" b="0" err="1">
                <a:solidFill>
                  <a:schemeClr val="tx1"/>
                </a:solidFill>
              </a:endParaRPr>
            </a:p>
          </p:txBody>
        </p:sp>
      </p:grpSp>
      <p:pic>
        <p:nvPicPr>
          <p:cNvPr id="2" name="Immagine 1" descr="Immagine che contiene testo, diagramma, linea, schermata&#10;&#10;Il contenuto generato dall&amp;#39;IA potrebbe non essere corretto.">
            <a:extLst>
              <a:ext uri="{FF2B5EF4-FFF2-40B4-BE49-F238E27FC236}">
                <a16:creationId xmlns:a16="http://schemas.microsoft.com/office/drawing/2014/main" id="{E6C3E6EF-D550-D872-02F7-9F880C5E3E8D}"/>
              </a:ext>
            </a:extLst>
          </p:cNvPr>
          <p:cNvPicPr>
            <a:picLocks noChangeAspect="1"/>
          </p:cNvPicPr>
          <p:nvPr/>
        </p:nvPicPr>
        <p:blipFill>
          <a:blip r:embed="rId3"/>
          <a:stretch>
            <a:fillRect/>
          </a:stretch>
        </p:blipFill>
        <p:spPr>
          <a:xfrm>
            <a:off x="4037463" y="2232996"/>
            <a:ext cx="8131790" cy="3859140"/>
          </a:xfrm>
          <a:prstGeom prst="rect">
            <a:avLst/>
          </a:prstGeom>
        </p:spPr>
      </p:pic>
    </p:spTree>
    <p:extLst>
      <p:ext uri="{BB962C8B-B14F-4D97-AF65-F5344CB8AC3E}">
        <p14:creationId xmlns:p14="http://schemas.microsoft.com/office/powerpoint/2010/main" val="151352326"/>
      </p:ext>
    </p:extLst>
  </p:cSld>
  <p:clrMapOvr>
    <a:masterClrMapping/>
  </p:clrMapOvr>
</p:sld>
</file>

<file path=ppt/theme/theme1.xml><?xml version="1.0" encoding="utf-8"?>
<a:theme xmlns:a="http://schemas.openxmlformats.org/drawingml/2006/main" name="Tema_uni">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chor="ctr">
        <a:spAutoFit/>
      </a:bodyPr>
      <a:lstStyle>
        <a:defPPr algn="l">
          <a:defRPr sz="2200" b="0" dirty="0">
            <a:solidFill>
              <a:schemeClr val="tx1"/>
            </a:solidFill>
          </a:defRPr>
        </a:defPPr>
      </a:lstStyle>
    </a:txDef>
  </a:objectDefaults>
  <a:extraClrSchemeLst/>
  <a:extLst>
    <a:ext uri="{05A4C25C-085E-4340-85A3-A5531E510DB2}">
      <thm15:themeFamily xmlns:thm15="http://schemas.microsoft.com/office/thememl/2012/main" name="Tema_uni" id="{55AD8010-FE83-4F14-ABE2-BABB2EA50445}" vid="{1870E653-1F80-459C-9330-2F4422D101D2}"/>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4e2a2a22-7bdc-4edc-80f8-ae59702863c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F10926F64027494EBC620AC93077BBCD" ma:contentTypeVersion="14" ma:contentTypeDescription="Creare un nuovo documento." ma:contentTypeScope="" ma:versionID="a1134a1c84d2b59cdf7e83b0a62e8133">
  <xsd:schema xmlns:xsd="http://www.w3.org/2001/XMLSchema" xmlns:xs="http://www.w3.org/2001/XMLSchema" xmlns:p="http://schemas.microsoft.com/office/2006/metadata/properties" xmlns:ns3="c898a8d4-c662-4199-a2ac-0da0205be954" xmlns:ns4="4e2a2a22-7bdc-4edc-80f8-ae59702863c4" targetNamespace="http://schemas.microsoft.com/office/2006/metadata/properties" ma:root="true" ma:fieldsID="04adf592a33b29689128c221ee566c47" ns3:_="" ns4:_="">
    <xsd:import namespace="c898a8d4-c662-4199-a2ac-0da0205be954"/>
    <xsd:import namespace="4e2a2a22-7bdc-4edc-80f8-ae59702863c4"/>
    <xsd:element name="properties">
      <xsd:complexType>
        <xsd:sequence>
          <xsd:element name="documentManagement">
            <xsd:complexType>
              <xsd:all>
                <xsd:element ref="ns3:SharedWithUsers" minOccurs="0"/>
                <xsd:element ref="ns3:SharedWithDetails" minOccurs="0"/>
                <xsd:element ref="ns3:SharingHintHash" minOccurs="0"/>
                <xsd:element ref="ns4:_activity" minOccurs="0"/>
                <xsd:element ref="ns4:MediaServiceMetadata" minOccurs="0"/>
                <xsd:element ref="ns4:MediaServiceFastMetadata" minOccurs="0"/>
                <xsd:element ref="ns4:MediaServiceSearchProperties" minOccurs="0"/>
                <xsd:element ref="ns4:MediaServiceObjectDetectorVersions" minOccurs="0"/>
                <xsd:element ref="ns4:MediaServiceSystemTags" minOccurs="0"/>
                <xsd:element ref="ns4:MediaServiceGenerationTime" minOccurs="0"/>
                <xsd:element ref="ns4:MediaServiceEventHashCode" minOccurs="0"/>
                <xsd:element ref="ns4:MediaServiceDateTaken" minOccurs="0"/>
                <xsd:element ref="ns4:MediaLengthInSeconds" minOccurs="0"/>
                <xsd:element ref="ns4: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98a8d4-c662-4199-a2ac-0da0205be954" elementFormDefault="qualified">
    <xsd:import namespace="http://schemas.microsoft.com/office/2006/documentManagement/types"/>
    <xsd:import namespace="http://schemas.microsoft.com/office/infopath/2007/PartnerControls"/>
    <xsd:element name="SharedWithUsers" ma:index="8"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ondiviso con dettagli" ma:internalName="SharedWithDetails" ma:readOnly="true">
      <xsd:simpleType>
        <xsd:restriction base="dms:Note">
          <xsd:maxLength value="255"/>
        </xsd:restriction>
      </xsd:simpleType>
    </xsd:element>
    <xsd:element name="SharingHintHash" ma:index="10" nillable="true" ma:displayName="Hash suggerimento condivisione"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e2a2a22-7bdc-4edc-80f8-ae59702863c4" elementFormDefault="qualified">
    <xsd:import namespace="http://schemas.microsoft.com/office/2006/documentManagement/types"/>
    <xsd:import namespace="http://schemas.microsoft.com/office/infopath/2007/PartnerControls"/>
    <xsd:element name="_activity" ma:index="11"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SystemTags" ma:index="16" nillable="true" ma:displayName="MediaServiceSystemTags" ma:hidden="true" ma:internalName="MediaServiceSystemTags"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89601D9-3850-42AA-A123-A6EFD2FF99A1}">
  <ds:schemaRefs>
    <ds:schemaRef ds:uri="http://schemas.microsoft.com/sharepoint/v3/contenttype/forms"/>
  </ds:schemaRefs>
</ds:datastoreItem>
</file>

<file path=customXml/itemProps2.xml><?xml version="1.0" encoding="utf-8"?>
<ds:datastoreItem xmlns:ds="http://schemas.openxmlformats.org/officeDocument/2006/customXml" ds:itemID="{F3255D9D-F2DA-42C9-994A-765D06AA1DBE}">
  <ds:schemaRefs>
    <ds:schemaRef ds:uri="http://www.w3.org/XML/1998/namespace"/>
    <ds:schemaRef ds:uri="http://purl.org/dc/dcmitype/"/>
    <ds:schemaRef ds:uri="http://schemas.openxmlformats.org/package/2006/metadata/core-properties"/>
    <ds:schemaRef ds:uri="http://purl.org/dc/elements/1.1/"/>
    <ds:schemaRef ds:uri="http://schemas.microsoft.com/office/infopath/2007/PartnerControls"/>
    <ds:schemaRef ds:uri="c898a8d4-c662-4199-a2ac-0da0205be954"/>
    <ds:schemaRef ds:uri="http://schemas.microsoft.com/office/2006/documentManagement/types"/>
    <ds:schemaRef ds:uri="http://purl.org/dc/terms/"/>
    <ds:schemaRef ds:uri="http://schemas.microsoft.com/office/2006/metadata/properties"/>
    <ds:schemaRef ds:uri="4e2a2a22-7bdc-4edc-80f8-ae59702863c4"/>
  </ds:schemaRefs>
</ds:datastoreItem>
</file>

<file path=customXml/itemProps3.xml><?xml version="1.0" encoding="utf-8"?>
<ds:datastoreItem xmlns:ds="http://schemas.openxmlformats.org/officeDocument/2006/customXml" ds:itemID="{8FA31128-8F25-4F5A-AD42-CF3ACF04CE92}">
  <ds:schemaRefs>
    <ds:schemaRef ds:uri="4e2a2a22-7bdc-4edc-80f8-ae59702863c4"/>
    <ds:schemaRef ds:uri="c898a8d4-c662-4199-a2ac-0da0205be95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1113</TotalTime>
  <Words>731</Words>
  <Application>Microsoft Office PowerPoint</Application>
  <PresentationFormat>Widescreen</PresentationFormat>
  <Paragraphs>138</Paragraphs>
  <Slides>11</Slides>
  <Notes>1</Notes>
  <HiddenSlides>0</HiddenSlides>
  <MMClips>0</MMClips>
  <ScaleCrop>false</ScaleCrop>
  <HeadingPairs>
    <vt:vector size="6" baseType="variant">
      <vt:variant>
        <vt:lpstr>Caratteri utilizzati</vt:lpstr>
      </vt:variant>
      <vt:variant>
        <vt:i4>8</vt:i4>
      </vt:variant>
      <vt:variant>
        <vt:lpstr>Tema</vt:lpstr>
      </vt:variant>
      <vt:variant>
        <vt:i4>1</vt:i4>
      </vt:variant>
      <vt:variant>
        <vt:lpstr>Titoli diapositive</vt:lpstr>
      </vt:variant>
      <vt:variant>
        <vt:i4>11</vt:i4>
      </vt:variant>
    </vt:vector>
  </HeadingPairs>
  <TitlesOfParts>
    <vt:vector size="20" baseType="lpstr">
      <vt:lpstr>Aptos</vt:lpstr>
      <vt:lpstr>Aptos Display</vt:lpstr>
      <vt:lpstr>Arial</vt:lpstr>
      <vt:lpstr>Calibri</vt:lpstr>
      <vt:lpstr>Cambria Math</vt:lpstr>
      <vt:lpstr>Franklin Gothic Book</vt:lpstr>
      <vt:lpstr>Times New Roman</vt:lpstr>
      <vt:lpstr>Wingdings</vt:lpstr>
      <vt:lpstr>Tema_uni</vt:lpstr>
      <vt:lpstr>Presentazione standard di PowerPoint</vt:lpstr>
      <vt:lpstr>Physical Insights into Electromagnetic Efficiency of Wireless Implantable Bioelectronics  Mingxiang Gao, Denys Nikolayev, Zvonimir Sipus, and Anja K. Skrivervik</vt:lpstr>
      <vt:lpstr>Formulas: TM sources</vt:lpstr>
      <vt:lpstr>Formulas: TE sources</vt:lpstr>
      <vt:lpstr>Formulas: Path Loss and Gain</vt:lpstr>
      <vt:lpstr>SIMULATIONS [1]: Floating Device</vt:lpstr>
      <vt:lpstr>SIMULATIONS [1]: Results</vt:lpstr>
      <vt:lpstr>SIMULATIONS [1]: Intraluminal Device</vt:lpstr>
      <vt:lpstr>SIMULATIONS [2]: External Device</vt:lpstr>
      <vt:lpstr>SIMULATIONS [2]: Results</vt:lpstr>
      <vt:lpstr>SIMULATIONS [2]: Curious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noemi corsetti</dc:creator>
  <cp:lastModifiedBy>silvia gialloreto</cp:lastModifiedBy>
  <cp:revision>31</cp:revision>
  <dcterms:created xsi:type="dcterms:W3CDTF">2025-05-27T10:13:32Z</dcterms:created>
  <dcterms:modified xsi:type="dcterms:W3CDTF">2025-05-28T07:59:11Z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0x010100F10926F64027494EBC620AC93077BBCD</vt:lpwstr>
  </property>
</Properties>
</file>