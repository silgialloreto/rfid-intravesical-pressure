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19"/>
  </p:notesMasterIdLst>
  <p:sldIdLst>
    <p:sldId id="461" r:id="rId3"/>
    <p:sldId id="524" r:id="rId4"/>
    <p:sldId id="496" r:id="rId5"/>
    <p:sldId id="497" r:id="rId6"/>
    <p:sldId id="516" r:id="rId7"/>
    <p:sldId id="503" r:id="rId8"/>
    <p:sldId id="519" r:id="rId9"/>
    <p:sldId id="493" r:id="rId10"/>
    <p:sldId id="500" r:id="rId11"/>
    <p:sldId id="499" r:id="rId12"/>
    <p:sldId id="513" r:id="rId13"/>
    <p:sldId id="514" r:id="rId14"/>
    <p:sldId id="515" r:id="rId15"/>
    <p:sldId id="520" r:id="rId16"/>
    <p:sldId id="521" r:id="rId17"/>
    <p:sldId id="522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036D"/>
    <a:srgbClr val="E6B8B8"/>
    <a:srgbClr val="423B70"/>
    <a:srgbClr val="CC99FF"/>
    <a:srgbClr val="D7B8E2"/>
    <a:srgbClr val="F8BE90"/>
    <a:srgbClr val="CDC0DA"/>
    <a:srgbClr val="D7E3BB"/>
    <a:srgbClr val="B8CCE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48613-28A9-46C7-D96D-7624D053387F}" v="593" dt="2025-06-03T13:09:25.851"/>
    <p1510:client id="{3722AEE4-9EE9-98C9-120C-DD38A751E7D0}" v="828" dt="2025-06-02T17:16:08.221"/>
    <p1510:client id="{3D54D6D5-BF38-8AFE-0310-603E6E9A86A5}" v="172" dt="2025-06-03T14:55:27.044"/>
    <p1510:client id="{478EDAF2-1E79-4799-927D-5D4F3715109F}" v="2" dt="2025-06-02T18:51:04.619"/>
    <p1510:client id="{9D1873D8-DC85-9670-E8E3-F458C5D7403D}" v="32" dt="2025-06-03T08:36:17.828"/>
    <p1510:client id="{A6CC02AD-071A-4AEE-9965-19DB13057698}" v="157" dt="2025-06-03T14:28:00.722"/>
    <p1510:client id="{E2B7F2A0-D3A4-D475-5FCF-3233E8D11F5F}" v="41" dt="2025-06-03T12:40:29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00128-1E28-4411-81F4-E499C6528FD1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E67B13CE-607D-4D42-9859-61F872FDE9B8}">
      <dgm:prSet phldrT="[Testo]" phldr="0"/>
      <dgm:spPr/>
      <dgm:t>
        <a:bodyPr/>
        <a:lstStyle/>
        <a:p>
          <a:pPr rtl="0"/>
          <a:r>
            <a:rPr lang="it-IT">
              <a:latin typeface="Times New Roman"/>
              <a:cs typeface="Times New Roman"/>
            </a:rPr>
            <a:t>Simultaneous input and output adaptation</a:t>
          </a:r>
        </a:p>
      </dgm:t>
    </dgm:pt>
    <dgm:pt modelId="{768000B8-8DC3-43E7-A069-CB6B47EE4B2C}" type="parTrans" cxnId="{FA47A721-8B90-46B6-A17E-EF8ED1F41766}">
      <dgm:prSet/>
      <dgm:spPr/>
      <dgm:t>
        <a:bodyPr/>
        <a:lstStyle/>
        <a:p>
          <a:endParaRPr lang="it-IT"/>
        </a:p>
      </dgm:t>
    </dgm:pt>
    <dgm:pt modelId="{B437DBFC-8436-43F0-9BA0-57275046B95A}" type="sibTrans" cxnId="{FA47A721-8B90-46B6-A17E-EF8ED1F41766}">
      <dgm:prSet/>
      <dgm:spPr/>
      <dgm:t>
        <a:bodyPr/>
        <a:lstStyle/>
        <a:p>
          <a:endParaRPr lang="it-IT"/>
        </a:p>
      </dgm:t>
    </dgm:pt>
    <dgm:pt modelId="{689BA534-9090-44FE-8D33-F94DCC63C0C9}">
      <dgm:prSet phldrT="[Testo]" phldr="0"/>
      <dgm:spPr/>
      <dgm:t>
        <a:bodyPr/>
        <a:lstStyle/>
        <a:p>
          <a:pPr rtl="0"/>
          <a:r>
            <a:rPr lang="it-IT">
              <a:latin typeface="Times New Roman"/>
              <a:cs typeface="Times New Roman"/>
            </a:rPr>
            <a:t>No encapsulation losses</a:t>
          </a:r>
        </a:p>
      </dgm:t>
    </dgm:pt>
    <dgm:pt modelId="{CDF0FFC5-A9E9-4072-A559-AAB2378D03E2}" type="parTrans" cxnId="{45553D0D-9A14-434C-9A19-261F7D79901F}">
      <dgm:prSet/>
      <dgm:spPr/>
      <dgm:t>
        <a:bodyPr/>
        <a:lstStyle/>
        <a:p>
          <a:endParaRPr lang="it-IT"/>
        </a:p>
      </dgm:t>
    </dgm:pt>
    <dgm:pt modelId="{11DFDBFD-C7B4-42F9-8C46-BD7FF6E1C041}" type="sibTrans" cxnId="{45553D0D-9A14-434C-9A19-261F7D79901F}">
      <dgm:prSet/>
      <dgm:spPr/>
      <dgm:t>
        <a:bodyPr/>
        <a:lstStyle/>
        <a:p>
          <a:endParaRPr lang="it-IT"/>
        </a:p>
      </dgm:t>
    </dgm:pt>
    <dgm:pt modelId="{7B860633-87D8-4B9F-B499-5A0CBFB9A9F1}" type="pres">
      <dgm:prSet presAssocID="{89100128-1E28-4411-81F4-E499C6528FD1}" presName="linear" presStyleCnt="0">
        <dgm:presLayoutVars>
          <dgm:animLvl val="lvl"/>
          <dgm:resizeHandles val="exact"/>
        </dgm:presLayoutVars>
      </dgm:prSet>
      <dgm:spPr/>
    </dgm:pt>
    <dgm:pt modelId="{A5FED923-D429-4569-8061-E137067B0B02}" type="pres">
      <dgm:prSet presAssocID="{E67B13CE-607D-4D42-9859-61F872FDE9B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8396DDF-51A0-4223-8578-00B27FE70C4B}" type="pres">
      <dgm:prSet presAssocID="{B437DBFC-8436-43F0-9BA0-57275046B95A}" presName="spacer" presStyleCnt="0"/>
      <dgm:spPr/>
    </dgm:pt>
    <dgm:pt modelId="{66F5CC64-D896-403E-AA77-C8D8628092CD}" type="pres">
      <dgm:prSet presAssocID="{689BA534-9090-44FE-8D33-F94DCC63C0C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5553D0D-9A14-434C-9A19-261F7D79901F}" srcId="{89100128-1E28-4411-81F4-E499C6528FD1}" destId="{689BA534-9090-44FE-8D33-F94DCC63C0C9}" srcOrd="1" destOrd="0" parTransId="{CDF0FFC5-A9E9-4072-A559-AAB2378D03E2}" sibTransId="{11DFDBFD-C7B4-42F9-8C46-BD7FF6E1C041}"/>
    <dgm:cxn modelId="{FA47A721-8B90-46B6-A17E-EF8ED1F41766}" srcId="{89100128-1E28-4411-81F4-E499C6528FD1}" destId="{E67B13CE-607D-4D42-9859-61F872FDE9B8}" srcOrd="0" destOrd="0" parTransId="{768000B8-8DC3-43E7-A069-CB6B47EE4B2C}" sibTransId="{B437DBFC-8436-43F0-9BA0-57275046B95A}"/>
    <dgm:cxn modelId="{45F95D41-6710-4F9E-84BE-86306E09D43B}" type="presOf" srcId="{689BA534-9090-44FE-8D33-F94DCC63C0C9}" destId="{66F5CC64-D896-403E-AA77-C8D8628092CD}" srcOrd="0" destOrd="0" presId="urn:microsoft.com/office/officeart/2005/8/layout/vList2"/>
    <dgm:cxn modelId="{63CAC365-CBAE-4B37-85E2-FE58034A184A}" type="presOf" srcId="{89100128-1E28-4411-81F4-E499C6528FD1}" destId="{7B860633-87D8-4B9F-B499-5A0CBFB9A9F1}" srcOrd="0" destOrd="0" presId="urn:microsoft.com/office/officeart/2005/8/layout/vList2"/>
    <dgm:cxn modelId="{3746F7C0-3797-4E0B-BD2E-B6C80387375A}" type="presOf" srcId="{E67B13CE-607D-4D42-9859-61F872FDE9B8}" destId="{A5FED923-D429-4569-8061-E137067B0B02}" srcOrd="0" destOrd="0" presId="urn:microsoft.com/office/officeart/2005/8/layout/vList2"/>
    <dgm:cxn modelId="{DBAF00E2-34F4-43F9-9959-4F4362D4A16B}" type="presParOf" srcId="{7B860633-87D8-4B9F-B499-5A0CBFB9A9F1}" destId="{A5FED923-D429-4569-8061-E137067B0B02}" srcOrd="0" destOrd="0" presId="urn:microsoft.com/office/officeart/2005/8/layout/vList2"/>
    <dgm:cxn modelId="{91281DB5-8980-406B-96B5-20CF3BDE98DD}" type="presParOf" srcId="{7B860633-87D8-4B9F-B499-5A0CBFB9A9F1}" destId="{D8396DDF-51A0-4223-8578-00B27FE70C4B}" srcOrd="1" destOrd="0" presId="urn:microsoft.com/office/officeart/2005/8/layout/vList2"/>
    <dgm:cxn modelId="{15173D43-9D21-43E4-B559-BD0120CB93E2}" type="presParOf" srcId="{7B860633-87D8-4B9F-B499-5A0CBFB9A9F1}" destId="{66F5CC64-D896-403E-AA77-C8D8628092C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FED923-D429-4569-8061-E137067B0B02}">
      <dsp:nvSpPr>
        <dsp:cNvPr id="0" name=""/>
        <dsp:cNvSpPr/>
      </dsp:nvSpPr>
      <dsp:spPr>
        <a:xfrm>
          <a:off x="0" y="526869"/>
          <a:ext cx="5181600" cy="1591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000" kern="1200">
              <a:latin typeface="Times New Roman"/>
              <a:cs typeface="Times New Roman"/>
            </a:rPr>
            <a:t>Simultaneous input and output adaptation</a:t>
          </a:r>
        </a:p>
      </dsp:txBody>
      <dsp:txXfrm>
        <a:off x="77676" y="604545"/>
        <a:ext cx="5026248" cy="1435848"/>
      </dsp:txXfrm>
    </dsp:sp>
    <dsp:sp modelId="{66F5CC64-D896-403E-AA77-C8D8628092CD}">
      <dsp:nvSpPr>
        <dsp:cNvPr id="0" name=""/>
        <dsp:cNvSpPr/>
      </dsp:nvSpPr>
      <dsp:spPr>
        <a:xfrm>
          <a:off x="0" y="2233269"/>
          <a:ext cx="5181600" cy="15912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4000" kern="1200">
              <a:latin typeface="Times New Roman"/>
              <a:cs typeface="Times New Roman"/>
            </a:rPr>
            <a:t>No encapsulation losses</a:t>
          </a:r>
        </a:p>
      </dsp:txBody>
      <dsp:txXfrm>
        <a:off x="77676" y="2310945"/>
        <a:ext cx="5026248" cy="1435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1983A-6425-2141-9F43-39E5E7745742}" type="datetimeFigureOut">
              <a:rPr lang="it-IT" smtClean="0"/>
              <a:t>31/05/2025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3E4CE6-0AC0-E44D-94E0-732FAD2AE76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4001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2FC391-0479-4A70-8AC8-8F764AAA773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9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5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2723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55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129403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64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3445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2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99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763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5457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380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146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Franklin Gothic Book" panose="020B05030201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4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8271" y="1122363"/>
            <a:ext cx="11221375" cy="2387600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479392" y="3602038"/>
            <a:ext cx="11230253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rgbClr val="2E75B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414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8831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1">
                <a:solidFill>
                  <a:srgbClr val="898989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843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6" name="Segnaposto testo 6">
            <a:extLst>
              <a:ext uri="{FF2B5EF4-FFF2-40B4-BE49-F238E27FC236}">
                <a16:creationId xmlns:a16="http://schemas.microsoft.com/office/drawing/2014/main" id="{9A82568C-2370-45A7-961E-F9E6536275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63848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5353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4" name="Segnaposto testo 6">
            <a:extLst>
              <a:ext uri="{FF2B5EF4-FFF2-40B4-BE49-F238E27FC236}">
                <a16:creationId xmlns:a16="http://schemas.microsoft.com/office/drawing/2014/main" id="{D308B5DC-C138-4600-8A87-837422B4D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069628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8941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5180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GB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0347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43E61D8A-A0C3-43C8-979A-B90A341476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78534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145583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7F68AD-A7C8-4A66-8B51-5B10774B8AE6}" type="datetimeFigureOut">
              <a:rPr lang="en-GB" smtClean="0"/>
              <a:t>31/05/2025</a:t>
            </a:fld>
            <a:endParaRPr lang="en-GB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8706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421875" y="6463516"/>
            <a:ext cx="2743200" cy="365125"/>
          </a:xfrm>
          <a:prstGeom prst="rect">
            <a:avLst/>
          </a:prstGeom>
        </p:spPr>
        <p:txBody>
          <a:bodyPr/>
          <a:lstStyle/>
          <a:p>
            <a:fld id="{46C77222-AFF8-4471-BE56-5F17FF99BF04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159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9395241" y="644576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4265D8A9-9CC6-468C-BD14-16D6904F1E95}" type="slidenum">
              <a:rPr lang="it-IT" smtClean="0"/>
              <a:t>‹N›</a:t>
            </a:fld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79882D6-253F-46D5-B3D2-8D1B605E7A3B}"/>
              </a:ext>
            </a:extLst>
          </p:cNvPr>
          <p:cNvCxnSpPr/>
          <p:nvPr/>
        </p:nvCxnSpPr>
        <p:spPr>
          <a:xfrm>
            <a:off x="838200" y="6383047"/>
            <a:ext cx="11217676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CED872A-D7EE-47F4-8681-078AC6CA2E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696561"/>
            <a:ext cx="10327398" cy="461665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1">
                <a:solidFill>
                  <a:srgbClr val="2E75B6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711297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gnaposto testo 38">
            <a:extLst>
              <a:ext uri="{FF2B5EF4-FFF2-40B4-BE49-F238E27FC236}">
                <a16:creationId xmlns:a16="http://schemas.microsoft.com/office/drawing/2014/main" id="{E73864F7-59EF-314A-8279-AC337101DA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3758" y="3451244"/>
            <a:ext cx="11539916" cy="11236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>
                <a:latin typeface="Franklin Gothic Book" panose="020B0503020102020204" pitchFamily="34" charset="0"/>
              </a:rPr>
              <a:t>Title of Presentation</a:t>
            </a:r>
          </a:p>
          <a:p>
            <a:r>
              <a:rPr lang="it-IT" err="1">
                <a:latin typeface="Franklin Gothic Book" panose="020B0503020102020204" pitchFamily="34" charset="0"/>
              </a:rPr>
              <a:t>xxxxx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endParaRPr lang="it-IT"/>
          </a:p>
        </p:txBody>
      </p:sp>
      <p:sp>
        <p:nvSpPr>
          <p:cNvPr id="40" name="Segnaposto testo 38">
            <a:extLst>
              <a:ext uri="{FF2B5EF4-FFF2-40B4-BE49-F238E27FC236}">
                <a16:creationId xmlns:a16="http://schemas.microsoft.com/office/drawing/2014/main" id="{6D51B3B8-B2A0-EF41-AE94-48746A45E2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16352" y="4720137"/>
            <a:ext cx="6711697" cy="5337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600" b="1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Presenter’s</a:t>
            </a:r>
            <a:r>
              <a:rPr lang="it-IT">
                <a:latin typeface="Franklin Gothic Book" panose="020B0503020102020204" pitchFamily="34" charset="0"/>
              </a:rPr>
              <a:t> </a:t>
            </a:r>
            <a:r>
              <a:rPr lang="it-IT" err="1">
                <a:latin typeface="Franklin Gothic Book" panose="020B0503020102020204" pitchFamily="34" charset="0"/>
              </a:rPr>
              <a:t>name</a:t>
            </a:r>
            <a:endParaRPr lang="it-IT"/>
          </a:p>
        </p:txBody>
      </p:sp>
      <p:sp>
        <p:nvSpPr>
          <p:cNvPr id="41" name="Segnaposto testo 38">
            <a:extLst>
              <a:ext uri="{FF2B5EF4-FFF2-40B4-BE49-F238E27FC236}">
                <a16:creationId xmlns:a16="http://schemas.microsoft.com/office/drawing/2014/main" id="{37201834-3313-2D4B-B6DA-60461E6B5F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6352" y="5279112"/>
            <a:ext cx="6711697" cy="3309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Affiliation</a:t>
            </a:r>
            <a:endParaRPr lang="it-IT"/>
          </a:p>
        </p:txBody>
      </p:sp>
      <p:sp>
        <p:nvSpPr>
          <p:cNvPr id="45" name="Segnaposto testo 38">
            <a:extLst>
              <a:ext uri="{FF2B5EF4-FFF2-40B4-BE49-F238E27FC236}">
                <a16:creationId xmlns:a16="http://schemas.microsoft.com/office/drawing/2014/main" id="{4D29FA17-9537-3A49-86F9-75044E80F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816352" y="5615856"/>
            <a:ext cx="6711697" cy="3941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 u="sng">
                <a:solidFill>
                  <a:srgbClr val="0432FF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it-IT" err="1">
                <a:latin typeface="Franklin Gothic Book" panose="020B0503020102020204" pitchFamily="34" charset="0"/>
              </a:rPr>
              <a:t>presenter@mail.com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431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272199"/>
            <a:ext cx="437893" cy="605937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08000" y="6344336"/>
            <a:ext cx="4314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4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58811807-2A74-9EAA-8BFD-BC7B0921E5F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3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6" r:id="rId13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837677" y="101341"/>
            <a:ext cx="10327398" cy="853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887"/>
          <a:stretch/>
        </p:blipFill>
        <p:spPr>
          <a:xfrm>
            <a:off x="88579" y="6176963"/>
            <a:ext cx="493311" cy="682622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114EC9C-E930-4EA2-B815-6B0CB7188FEE}"/>
              </a:ext>
            </a:extLst>
          </p:cNvPr>
          <p:cNvSpPr txBox="1"/>
          <p:nvPr/>
        </p:nvSpPr>
        <p:spPr>
          <a:xfrm>
            <a:off x="581890" y="6356549"/>
            <a:ext cx="4314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>
                <a:latin typeface="Times New Roman" panose="02020603050405020304" pitchFamily="18" charset="0"/>
                <a:cs typeface="Times New Roman" panose="02020603050405020304" pitchFamily="18" charset="0"/>
              </a:rPr>
              <a:t>Pervasive Electromagnetics </a:t>
            </a:r>
            <a:r>
              <a:rPr lang="en-US" sz="2000" b="0" noProof="0">
                <a:solidFill>
                  <a:srgbClr val="2E75B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C26F915-7A8E-61FC-1929-CAAE5142C421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 l="249" r="344" b="3193"/>
          <a:stretch/>
        </p:blipFill>
        <p:spPr>
          <a:xfrm>
            <a:off x="88579" y="101341"/>
            <a:ext cx="3090862" cy="71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6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90" r:id="rId12"/>
    <p:sldLayoutId id="2147483691" r:id="rId13"/>
    <p:sldLayoutId id="2147483692" r:id="rId14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10036D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6C2ACEAF-6931-6048-9058-EB8E92E72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77364" y="2839619"/>
            <a:ext cx="9837271" cy="1862669"/>
          </a:xfrm>
        </p:spPr>
        <p:txBody>
          <a:bodyPr>
            <a:normAutofit/>
          </a:bodyPr>
          <a:lstStyle/>
          <a:p>
            <a:r>
              <a:rPr lang="it-IT" sz="5400" dirty="0">
                <a:solidFill>
                  <a:srgbClr val="10036D"/>
                </a:solidFill>
                <a:latin typeface="Arial" panose="020B0604020202020204" pitchFamily="34" charset="0"/>
              </a:rPr>
              <a:t>Wireless UHF RFID </a:t>
            </a:r>
            <a:r>
              <a:rPr lang="it-IT" sz="5400" dirty="0" err="1">
                <a:solidFill>
                  <a:srgbClr val="10036D"/>
                </a:solidFill>
                <a:latin typeface="Arial" panose="020B0604020202020204" pitchFamily="34" charset="0"/>
              </a:rPr>
              <a:t>based</a:t>
            </a:r>
            <a:r>
              <a:rPr lang="it-IT" sz="5400" dirty="0">
                <a:solidFill>
                  <a:srgbClr val="10036D"/>
                </a:solidFill>
                <a:latin typeface="Arial" panose="020B0604020202020204" pitchFamily="34" charset="0"/>
              </a:rPr>
              <a:t> </a:t>
            </a:r>
            <a:r>
              <a:rPr lang="it-IT" sz="5400" dirty="0" err="1">
                <a:solidFill>
                  <a:srgbClr val="10036D"/>
                </a:solidFill>
                <a:latin typeface="Arial" panose="020B0604020202020204" pitchFamily="34" charset="0"/>
              </a:rPr>
              <a:t>bladder</a:t>
            </a:r>
            <a:r>
              <a:rPr lang="it-IT" sz="5400" dirty="0">
                <a:solidFill>
                  <a:srgbClr val="10036D"/>
                </a:solidFill>
                <a:latin typeface="Arial" panose="020B0604020202020204" pitchFamily="34" charset="0"/>
              </a:rPr>
              <a:t> pressure </a:t>
            </a:r>
            <a:r>
              <a:rPr lang="it-IT" sz="5400" dirty="0" err="1">
                <a:solidFill>
                  <a:srgbClr val="10036D"/>
                </a:solidFill>
                <a:latin typeface="Arial" panose="020B0604020202020204" pitchFamily="34" charset="0"/>
              </a:rPr>
              <a:t>sensor</a:t>
            </a:r>
            <a:endParaRPr lang="it-IT" sz="3000" b="0" i="1" dirty="0">
              <a:solidFill>
                <a:srgbClr val="10036D"/>
              </a:solidFill>
              <a:latin typeface="Arial" panose="020B0604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2BAE768-4E6A-E840-B7B5-4D045C73B34E}"/>
              </a:ext>
            </a:extLst>
          </p:cNvPr>
          <p:cNvSpPr txBox="1">
            <a:spLocks/>
          </p:cNvSpPr>
          <p:nvPr/>
        </p:nvSpPr>
        <p:spPr>
          <a:xfrm>
            <a:off x="287821" y="638158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3680A9F2-A430-874E-8228-994E40F61F23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CF159AA-BF05-B546-B125-18E15ECAF26C}"/>
              </a:ext>
            </a:extLst>
          </p:cNvPr>
          <p:cNvSpPr/>
          <p:nvPr/>
        </p:nvSpPr>
        <p:spPr>
          <a:xfrm>
            <a:off x="76199" y="5887092"/>
            <a:ext cx="4963887" cy="9709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FB823108-9897-C247-AF0F-D8C27D02E1B6}"/>
              </a:ext>
            </a:extLst>
          </p:cNvPr>
          <p:cNvSpPr txBox="1">
            <a:spLocks noChangeArrowheads="1"/>
          </p:cNvSpPr>
          <p:nvPr/>
        </p:nvSpPr>
        <p:spPr>
          <a:xfrm>
            <a:off x="1659421" y="5285828"/>
            <a:ext cx="2312861" cy="13498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aboratorio</a:t>
            </a:r>
            <a:r>
              <a:rPr lang="en-US" sz="1800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lettromagnetismo</a:t>
            </a:r>
            <a:r>
              <a:rPr lang="en-US" sz="1800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l">
              <a:defRPr/>
            </a:pPr>
            <a:r>
              <a:rPr lang="en-US" sz="2400" err="1">
                <a:solidFill>
                  <a:srgbClr val="0070C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err="1">
                <a:solidFill>
                  <a:srgbClr val="002060"/>
                </a:solidFill>
                <a:effectLst>
                  <a:outerShdw blurRad="288925" dir="2700000" algn="tl">
                    <a:srgbClr val="DDDDDD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ervasivo</a:t>
            </a:r>
            <a:endParaRPr lang="en-US" sz="1800">
              <a:solidFill>
                <a:srgbClr val="002060"/>
              </a:solidFill>
              <a:effectLst>
                <a:outerShdw blurRad="288925" dir="2700000" algn="tl">
                  <a:srgbClr val="DDDDDD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defRPr/>
            </a:pP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98B164D0-FF84-F14C-9AF7-00FED4BF6B6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821" y="5072738"/>
            <a:ext cx="1340782" cy="1628708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ECA5A61-617F-9846-B258-D62BD53C5F7F}"/>
              </a:ext>
            </a:extLst>
          </p:cNvPr>
          <p:cNvSpPr txBox="1"/>
          <p:nvPr/>
        </p:nvSpPr>
        <p:spPr>
          <a:xfrm>
            <a:off x="3238262" y="1170027"/>
            <a:ext cx="57154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Sistemi Wearable e Telemetria Medica</a:t>
            </a:r>
          </a:p>
          <a:p>
            <a:pPr algn="ctr"/>
            <a:r>
              <a:rPr lang="it-IT" sz="2400" b="1">
                <a:latin typeface="Arial" panose="020B0604020202020204" pitchFamily="34" charset="0"/>
                <a:cs typeface="Arial" panose="020B0604020202020204" pitchFamily="34" charset="0"/>
              </a:rPr>
              <a:t>A.A 2024-25</a:t>
            </a:r>
          </a:p>
          <a:p>
            <a:pPr algn="ctr"/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Final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err="1">
                <a:latin typeface="Arial" panose="020B0604020202020204" pitchFamily="34" charset="0"/>
                <a:cs typeface="Arial" panose="020B0604020202020204" pitchFamily="34" charset="0"/>
              </a:rPr>
              <a:t>course</a:t>
            </a:r>
            <a:r>
              <a:rPr lang="it-IT" sz="2400">
                <a:latin typeface="Arial" panose="020B0604020202020204" pitchFamily="34" charset="0"/>
                <a:cs typeface="Arial" panose="020B0604020202020204" pitchFamily="34" charset="0"/>
              </a:rPr>
              <a:t> project)</a:t>
            </a:r>
          </a:p>
        </p:txBody>
      </p:sp>
      <p:sp>
        <p:nvSpPr>
          <p:cNvPr id="9" name="CasellaDiTesto 7">
            <a:extLst>
              <a:ext uri="{FF2B5EF4-FFF2-40B4-BE49-F238E27FC236}">
                <a16:creationId xmlns:a16="http://schemas.microsoft.com/office/drawing/2014/main" id="{217ED77A-7079-47BE-941F-2EEF719C7A53}"/>
              </a:ext>
            </a:extLst>
          </p:cNvPr>
          <p:cNvSpPr txBox="1"/>
          <p:nvPr/>
        </p:nvSpPr>
        <p:spPr>
          <a:xfrm>
            <a:off x="7560086" y="5640814"/>
            <a:ext cx="41985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Prof.		G. Marrocco </a:t>
            </a:r>
          </a:p>
          <a:p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Tutor: 	              Ing. Francesca Nanni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76D413-4DBD-71D8-0382-066DE4A5D371}"/>
              </a:ext>
            </a:extLst>
          </p:cNvPr>
          <p:cNvSpPr txBox="1"/>
          <p:nvPr/>
        </p:nvSpPr>
        <p:spPr>
          <a:xfrm>
            <a:off x="5265173" y="4533570"/>
            <a:ext cx="166165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4000" b="1">
                <a:solidFill>
                  <a:schemeClr val="tx2"/>
                </a:solidFill>
              </a:rPr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1173141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229E-66CA-44A0-1832-615A2554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>
                <a:latin typeface="Times New Roman"/>
                <a:ea typeface="Calibri"/>
                <a:cs typeface="Arial"/>
              </a:rPr>
              <a:t>Introduction</a:t>
            </a:r>
            <a:endParaRPr lang="it-IT" err="1">
              <a:latin typeface="Times New Roman"/>
              <a:ea typeface="Calibri"/>
            </a:endParaRPr>
          </a:p>
        </p:txBody>
      </p:sp>
      <p:graphicFrame>
        <p:nvGraphicFramePr>
          <p:cNvPr id="19" name="Content Placeholder 18">
            <a:extLst>
              <a:ext uri="{FF2B5EF4-FFF2-40B4-BE49-F238E27FC236}">
                <a16:creationId xmlns:a16="http://schemas.microsoft.com/office/drawing/2014/main" id="{7F07CE3C-F301-40E2-2709-50DD869DBAF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167049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68" name="Content Placeholder 267" descr="Immagine che contiene disegno, schizzo, clipart, Line art&#10;&#10;Il contenuto generato dall&amp;#39;IA potrebbe non essere corretto.">
            <a:extLst>
              <a:ext uri="{FF2B5EF4-FFF2-40B4-BE49-F238E27FC236}">
                <a16:creationId xmlns:a16="http://schemas.microsoft.com/office/drawing/2014/main" id="{55E2A894-2F58-5527-46E7-DA72474486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t="23096" r="17766" b="18020"/>
          <a:stretch>
            <a:fillRect/>
          </a:stretch>
        </p:blipFill>
        <p:spPr>
          <a:xfrm>
            <a:off x="6631506" y="2355712"/>
            <a:ext cx="4649479" cy="3280037"/>
          </a:xfrm>
        </p:spPr>
      </p:pic>
      <p:sp>
        <p:nvSpPr>
          <p:cNvPr id="254" name="CasellaDiTesto 253">
            <a:extLst>
              <a:ext uri="{FF2B5EF4-FFF2-40B4-BE49-F238E27FC236}">
                <a16:creationId xmlns:a16="http://schemas.microsoft.com/office/drawing/2014/main" id="{3EA9226E-C1F1-1602-89ED-3EA80EE1544D}"/>
              </a:ext>
            </a:extLst>
          </p:cNvPr>
          <p:cNvSpPr txBox="1"/>
          <p:nvPr/>
        </p:nvSpPr>
        <p:spPr>
          <a:xfrm>
            <a:off x="833588" y="1563579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800" b="1" err="1">
                <a:solidFill>
                  <a:schemeClr val="accent1"/>
                </a:solidFill>
                <a:latin typeface="Times New Roman"/>
                <a:ea typeface="Calibri"/>
                <a:cs typeface="Calibri"/>
              </a:rPr>
              <a:t>Hypothesis</a:t>
            </a:r>
            <a:r>
              <a:rPr lang="it-IT" sz="2800" b="1">
                <a:solidFill>
                  <a:schemeClr val="accent1"/>
                </a:solidFill>
                <a:latin typeface="Times New Roman"/>
                <a:ea typeface="Calibri"/>
                <a:cs typeface="Times New Roman"/>
              </a:rPr>
              <a:t>:</a:t>
            </a:r>
            <a:endParaRPr lang="it-IT" sz="2800" b="1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269" name="CasellaDiTesto 268">
            <a:extLst>
              <a:ext uri="{FF2B5EF4-FFF2-40B4-BE49-F238E27FC236}">
                <a16:creationId xmlns:a16="http://schemas.microsoft.com/office/drawing/2014/main" id="{E4E0D9B0-5212-EA03-1066-6FDEEED5887C}"/>
              </a:ext>
            </a:extLst>
          </p:cNvPr>
          <p:cNvSpPr txBox="1"/>
          <p:nvPr/>
        </p:nvSpPr>
        <p:spPr>
          <a:xfrm>
            <a:off x="6630015" y="1568449"/>
            <a:ext cx="416796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b="1" err="1">
                <a:solidFill>
                  <a:schemeClr val="bg2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Tissue</a:t>
            </a:r>
            <a:r>
              <a:rPr lang="it-IT" sz="2800" b="1">
                <a:solidFill>
                  <a:schemeClr val="bg2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 &amp; </a:t>
            </a:r>
            <a:r>
              <a:rPr lang="it-IT" sz="2800" b="1" err="1">
                <a:solidFill>
                  <a:schemeClr val="bg2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fluid</a:t>
            </a:r>
            <a:r>
              <a:rPr lang="it-IT" sz="2800" b="1">
                <a:solidFill>
                  <a:schemeClr val="bg2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it-IT" sz="2800" b="1" err="1">
                <a:solidFill>
                  <a:schemeClr val="bg2">
                    <a:lumMod val="49000"/>
                  </a:schemeClr>
                </a:solidFill>
                <a:latin typeface="Times New Roman"/>
                <a:ea typeface="Calibri"/>
                <a:cs typeface="Calibri"/>
              </a:rPr>
              <a:t>effects</a:t>
            </a:r>
            <a:r>
              <a:rPr lang="it-IT" sz="2800" b="1">
                <a:solidFill>
                  <a:schemeClr val="bg2">
                    <a:lumMod val="76000"/>
                  </a:schemeClr>
                </a:solidFill>
                <a:latin typeface="Times New Roman"/>
                <a:ea typeface="Calibri"/>
                <a:cs typeface="Calibri"/>
              </a:rPr>
              <a:t> </a:t>
            </a:r>
            <a:endParaRPr lang="it-IT" sz="2800" b="1">
              <a:solidFill>
                <a:schemeClr val="bg2">
                  <a:lumMod val="76000"/>
                </a:schemeClr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7904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B8D502-331F-252A-B591-4C868B0E6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408" y="87795"/>
            <a:ext cx="8781592" cy="853536"/>
          </a:xfrm>
        </p:spPr>
        <p:txBody>
          <a:bodyPr>
            <a:normAutofit/>
          </a:bodyPr>
          <a:lstStyle/>
          <a:p>
            <a:r>
              <a:rPr lang="it-IT" sz="4400" dirty="0" err="1">
                <a:latin typeface="Times New Roman"/>
                <a:cs typeface="Arial"/>
              </a:rPr>
              <a:t>Mid</a:t>
            </a:r>
            <a:r>
              <a:rPr lang="it-IT" sz="4400" dirty="0">
                <a:latin typeface="Times New Roman"/>
                <a:cs typeface="Arial"/>
              </a:rPr>
              <a:t>-Field link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44AF6F9-4A6A-771D-BA5F-E608DDCC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87" y="2024940"/>
            <a:ext cx="2923086" cy="58963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67D8118F-EAF3-3463-9198-44B7CB76FD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94" b="990"/>
          <a:stretch>
            <a:fillRect/>
          </a:stretch>
        </p:blipFill>
        <p:spPr>
          <a:xfrm>
            <a:off x="5843402" y="2146418"/>
            <a:ext cx="6346205" cy="3090859"/>
          </a:xfrm>
          <a:prstGeom prst="rect">
            <a:avLst/>
          </a:prstGeom>
        </p:spPr>
      </p:pic>
      <p:pic>
        <p:nvPicPr>
          <p:cNvPr id="3" name="Immagine 2" descr="Immagine che contiene testo, Carattere, calligrafi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22A6AB64-BA88-8748-2394-0B19B711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57" y="3006167"/>
            <a:ext cx="4981317" cy="153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1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0D35B9-CC5E-6B59-4C31-0DAD0F74B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7" y="73857"/>
            <a:ext cx="10327398" cy="853536"/>
          </a:xfrm>
        </p:spPr>
        <p:txBody>
          <a:bodyPr>
            <a:normAutofit/>
          </a:bodyPr>
          <a:lstStyle/>
          <a:p>
            <a:r>
              <a:rPr lang="it-IT" sz="4400">
                <a:latin typeface="Times New Roman"/>
                <a:cs typeface="Arial"/>
              </a:rPr>
              <a:t>Upper </a:t>
            </a:r>
            <a:r>
              <a:rPr lang="it-IT" sz="4400" err="1">
                <a:latin typeface="Times New Roman"/>
                <a:cs typeface="Arial"/>
              </a:rPr>
              <a:t>bound</a:t>
            </a:r>
            <a:r>
              <a:rPr lang="it-IT" sz="4400">
                <a:latin typeface="Times New Roman"/>
                <a:cs typeface="Arial"/>
              </a:rPr>
              <a:t> performance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A9FB2EC-23D8-A933-3B3A-5877B35A7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40"/>
          <a:stretch>
            <a:fillRect/>
          </a:stretch>
        </p:blipFill>
        <p:spPr>
          <a:xfrm>
            <a:off x="5169152" y="1543761"/>
            <a:ext cx="6741217" cy="247205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8CB3673-6D39-B393-0651-5B9AA4027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103" y="1266041"/>
            <a:ext cx="2778715" cy="55105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39AD84F-3EE4-DB8C-49A7-DF3B907F7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926" y="2183429"/>
            <a:ext cx="1605632" cy="118371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FC97D915-2C26-DEAB-48B0-F08CCF61A2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966" b="9649"/>
          <a:stretch>
            <a:fillRect/>
          </a:stretch>
        </p:blipFill>
        <p:spPr>
          <a:xfrm>
            <a:off x="6644335" y="4585532"/>
            <a:ext cx="3799262" cy="1069497"/>
          </a:xfrm>
          <a:prstGeom prst="rect">
            <a:avLst/>
          </a:prstGeom>
        </p:spPr>
      </p:pic>
      <p:pic>
        <p:nvPicPr>
          <p:cNvPr id="4" name="Immagine 3" descr="Immagine che contiene Carattere, testo, bianco, calligrafia&#10;&#10;Il contenuto generato dall&amp;#39;IA potrebbe non essere corretto.">
            <a:extLst>
              <a:ext uri="{FF2B5EF4-FFF2-40B4-BE49-F238E27FC236}">
                <a16:creationId xmlns:a16="http://schemas.microsoft.com/office/drawing/2014/main" id="{5FE76C7A-B030-83A6-14B9-C9DE343000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3550304"/>
            <a:ext cx="3490632" cy="844363"/>
          </a:xfrm>
          <a:prstGeom prst="rect">
            <a:avLst/>
          </a:prstGeom>
        </p:spPr>
      </p:pic>
      <p:pic>
        <p:nvPicPr>
          <p:cNvPr id="5" name="Immagine 4" descr="Immagine che contiene Carattere, testo, linea, bianco&#10;&#10;Il contenuto generato dall&amp;#39;IA potrebbe non essere corretto.">
            <a:extLst>
              <a:ext uri="{FF2B5EF4-FFF2-40B4-BE49-F238E27FC236}">
                <a16:creationId xmlns:a16="http://schemas.microsoft.com/office/drawing/2014/main" id="{BC37EC9B-133E-55BA-860C-AA9865D059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24" y="4769504"/>
            <a:ext cx="4191000" cy="904875"/>
          </a:xfrm>
          <a:prstGeom prst="rect">
            <a:avLst/>
          </a:prstGeom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F9B35EDA-BB69-540F-2EC1-88D7892FFFDF}"/>
              </a:ext>
            </a:extLst>
          </p:cNvPr>
          <p:cNvSpPr/>
          <p:nvPr/>
        </p:nvSpPr>
        <p:spPr>
          <a:xfrm>
            <a:off x="1593095" y="3502935"/>
            <a:ext cx="661467" cy="1019097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18DC0A-EACD-4353-EC4B-E31EC8681251}"/>
              </a:ext>
            </a:extLst>
          </p:cNvPr>
          <p:cNvSpPr txBox="1"/>
          <p:nvPr/>
        </p:nvSpPr>
        <p:spPr>
          <a:xfrm>
            <a:off x="2140200" y="3284144"/>
            <a:ext cx="49838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2200">
                <a:solidFill>
                  <a:schemeClr val="accent1"/>
                </a:solidFill>
                <a:ea typeface="Calibri"/>
                <a:cs typeface="Calibri"/>
              </a:rPr>
              <a:t>=1</a:t>
            </a:r>
            <a:endParaRPr lang="it-IT" sz="2200" b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90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FE74-96E2-3AF1-3FAD-FF3BC9BB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MAG vs g</a:t>
            </a:r>
            <a:endParaRPr lang="it-IT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64899B2-B81B-7CE9-012B-074497DA6ECC}"/>
              </a:ext>
            </a:extLst>
          </p:cNvPr>
          <p:cNvSpPr txBox="1"/>
          <p:nvPr/>
        </p:nvSpPr>
        <p:spPr>
          <a:xfrm>
            <a:off x="1212070" y="1718621"/>
            <a:ext cx="27432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ea typeface="Calibri"/>
                <a:cs typeface="Calibri"/>
              </a:rPr>
              <a:t>  </a:t>
            </a:r>
            <a:endParaRPr lang="it-IT" sz="2200" b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551C70-6E0D-3372-BDEB-498D756F766B}"/>
              </a:ext>
            </a:extLst>
          </p:cNvPr>
          <p:cNvSpPr txBox="1"/>
          <p:nvPr/>
        </p:nvSpPr>
        <p:spPr>
          <a:xfrm>
            <a:off x="3648695" y="840968"/>
            <a:ext cx="5051945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If</a:t>
            </a:r>
            <a:r>
              <a:rPr lang="it-IT" sz="22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S12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≈</a:t>
            </a:r>
            <a:r>
              <a:rPr lang="it-IT" sz="22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  0 </a:t>
            </a:r>
            <a:r>
              <a:rPr lang="it-IT" sz="2200" err="1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then</a:t>
            </a:r>
            <a:r>
              <a:rPr lang="it-IT" sz="22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MAG = g. </a:t>
            </a:r>
            <a:r>
              <a:rPr lang="it-IT" sz="2200" err="1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Is</a:t>
            </a:r>
            <a:r>
              <a:rPr lang="it-IT" sz="22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this</a:t>
            </a:r>
            <a:r>
              <a:rPr lang="it-IT" sz="22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 the case?</a:t>
            </a:r>
            <a:endParaRPr lang="it-IT" sz="2200" b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7" name="Immagine 6" descr="Immagine che contiene testo, calligrafia, Carattere, inchiostro&#10;&#10;Il contenuto generato dall&amp;#39;IA potrebbe non essere corretto.">
            <a:extLst>
              <a:ext uri="{FF2B5EF4-FFF2-40B4-BE49-F238E27FC236}">
                <a16:creationId xmlns:a16="http://schemas.microsoft.com/office/drawing/2014/main" id="{93528CE9-F161-88B9-39B1-539BBD8F3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34" y="2715264"/>
            <a:ext cx="3813273" cy="174592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D0744C8-E8E8-4716-0A63-C9FC1B712A6A}"/>
              </a:ext>
            </a:extLst>
          </p:cNvPr>
          <p:cNvSpPr txBox="1"/>
          <p:nvPr/>
        </p:nvSpPr>
        <p:spPr>
          <a:xfrm>
            <a:off x="600694" y="5335350"/>
            <a:ext cx="549549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Calibri"/>
                <a:cs typeface="Calibri"/>
              </a:rPr>
              <a:t>"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It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would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mean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not</a:t>
            </a:r>
            <a:r>
              <a:rPr lang="it-IT" sz="2200">
                <a:latin typeface="Times New Roman"/>
                <a:ea typeface="Calibri"/>
                <a:cs typeface="Calibri"/>
              </a:rPr>
              <a:t> to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consider</a:t>
            </a:r>
            <a:r>
              <a:rPr lang="it-IT" sz="2200">
                <a:latin typeface="Times New Roman"/>
                <a:ea typeface="Calibri"/>
                <a:cs typeface="Calibri"/>
              </a:rPr>
              <a:t> the network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reciprocal</a:t>
            </a:r>
            <a:r>
              <a:rPr lang="it-IT" sz="2200">
                <a:latin typeface="Times New Roman"/>
                <a:ea typeface="Calibri"/>
                <a:cs typeface="Calibri"/>
              </a:rPr>
              <a:t>"</a:t>
            </a:r>
            <a:endParaRPr lang="it-IT" sz="2200" b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AC4490C-A8C3-FB24-EA0E-04DB9B9AE014}"/>
              </a:ext>
            </a:extLst>
          </p:cNvPr>
          <p:cNvCxnSpPr/>
          <p:nvPr/>
        </p:nvCxnSpPr>
        <p:spPr>
          <a:xfrm flipH="1">
            <a:off x="6082060" y="2065541"/>
            <a:ext cx="37864" cy="4554314"/>
          </a:xfrm>
          <a:prstGeom prst="straightConnector1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1ABB9A1-0129-691D-9040-BCFFC555031F}"/>
              </a:ext>
            </a:extLst>
          </p:cNvPr>
          <p:cNvSpPr txBox="1"/>
          <p:nvPr/>
        </p:nvSpPr>
        <p:spPr>
          <a:xfrm>
            <a:off x="5384395" y="1496084"/>
            <a:ext cx="162863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solidFill>
                  <a:srgbClr val="FF0000"/>
                </a:solidFill>
                <a:latin typeface="Times New Roman"/>
                <a:ea typeface="Calibri"/>
                <a:cs typeface="Calibri"/>
              </a:rPr>
              <a:t>YES, BUT...</a:t>
            </a:r>
            <a:endParaRPr lang="it-IT" sz="2200" b="0">
              <a:solidFill>
                <a:srgbClr val="FF0000"/>
              </a:solidFill>
              <a:latin typeface="Times New Roman"/>
              <a:ea typeface="Calibri"/>
              <a:cs typeface="Calibri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75D6FC4-AD5C-05C2-8048-79DE64652110}"/>
              </a:ext>
            </a:extLst>
          </p:cNvPr>
          <p:cNvSpPr txBox="1"/>
          <p:nvPr/>
        </p:nvSpPr>
        <p:spPr>
          <a:xfrm>
            <a:off x="6787541" y="2716005"/>
            <a:ext cx="4324065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Calibri"/>
                <a:cs typeface="Calibri"/>
              </a:rPr>
              <a:t>"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It's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true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that</a:t>
            </a:r>
            <a:r>
              <a:rPr lang="it-IT" sz="2200">
                <a:latin typeface="Times New Roman"/>
                <a:ea typeface="Calibri"/>
                <a:cs typeface="Calibri"/>
              </a:rPr>
              <a:t> S12 = 0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but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only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because</a:t>
            </a:r>
            <a:r>
              <a:rPr lang="it-IT" sz="2200">
                <a:latin typeface="Times New Roman"/>
                <a:ea typeface="Calibri"/>
                <a:cs typeface="Calibri"/>
              </a:rPr>
              <a:t> of the high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losses</a:t>
            </a:r>
            <a:r>
              <a:rPr lang="it-IT" sz="2200">
                <a:latin typeface="Times New Roman"/>
                <a:ea typeface="Calibri"/>
                <a:cs typeface="Calibri"/>
              </a:rPr>
              <a:t>, and 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also</a:t>
            </a:r>
            <a:r>
              <a:rPr lang="it-IT" sz="2200">
                <a:latin typeface="Times New Roman"/>
                <a:ea typeface="Calibri"/>
                <a:cs typeface="Calibri"/>
              </a:rPr>
              <a:t> S21 = 0, in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fact</a:t>
            </a:r>
            <a:r>
              <a:rPr lang="it-IT" sz="2200">
                <a:latin typeface="Times New Roman"/>
                <a:ea typeface="Calibri"/>
                <a:cs typeface="Calibri"/>
              </a:rPr>
              <a:t> the network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has</a:t>
            </a:r>
            <a:r>
              <a:rPr lang="it-IT" sz="2200">
                <a:latin typeface="Times New Roman"/>
                <a:ea typeface="Calibri"/>
                <a:cs typeface="Calibri"/>
              </a:rPr>
              <a:t> to be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reciprocal</a:t>
            </a:r>
            <a:r>
              <a:rPr lang="it-IT" sz="2200">
                <a:latin typeface="Times New Roman"/>
                <a:ea typeface="Calibri"/>
                <a:cs typeface="Calibri"/>
              </a:rPr>
              <a:t> S12 = S21.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Furthermore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considering</a:t>
            </a:r>
            <a:r>
              <a:rPr lang="it-IT" sz="2200">
                <a:latin typeface="Times New Roman"/>
                <a:ea typeface="Calibri"/>
                <a:cs typeface="Calibri"/>
              </a:rPr>
              <a:t> S12=S21=0 leads to the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same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result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that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is</a:t>
            </a:r>
            <a:r>
              <a:rPr lang="it-IT" sz="2200">
                <a:latin typeface="Times New Roman"/>
                <a:ea typeface="Calibri"/>
                <a:cs typeface="Calibri"/>
              </a:rPr>
              <a:t> MAG = g."</a:t>
            </a:r>
            <a:endParaRPr lang="it-IT" sz="2200" b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C436D1B4-C1C1-9BF0-2142-383246588799}"/>
              </a:ext>
            </a:extLst>
          </p:cNvPr>
          <p:cNvCxnSpPr/>
          <p:nvPr/>
        </p:nvCxnSpPr>
        <p:spPr>
          <a:xfrm flipH="1">
            <a:off x="3335934" y="1807217"/>
            <a:ext cx="2002364" cy="9102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A09B10C-F3B0-03D6-E097-D0AD7BF40125}"/>
              </a:ext>
            </a:extLst>
          </p:cNvPr>
          <p:cNvSpPr txBox="1"/>
          <p:nvPr/>
        </p:nvSpPr>
        <p:spPr>
          <a:xfrm>
            <a:off x="-2171783" y="-18224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 sz="2200" b="0">
              <a:solidFill>
                <a:schemeClr val="tx1"/>
              </a:solidFill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FE96766-F4D7-F693-DC25-927C1B8EC617}"/>
              </a:ext>
            </a:extLst>
          </p:cNvPr>
          <p:cNvSpPr txBox="1"/>
          <p:nvPr/>
        </p:nvSpPr>
        <p:spPr>
          <a:xfrm rot="20160000">
            <a:off x="3029148" y="1801388"/>
            <a:ext cx="248912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Not </a:t>
            </a:r>
            <a:r>
              <a:rPr lang="it-IT" sz="220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because</a:t>
            </a:r>
            <a:r>
              <a:rPr lang="it-IT" sz="22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of </a:t>
            </a:r>
            <a:r>
              <a:rPr lang="it-IT" sz="220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this</a:t>
            </a:r>
            <a:endParaRPr lang="it-IT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1669ABD-844A-698B-D921-708ABD448968}"/>
              </a:ext>
            </a:extLst>
          </p:cNvPr>
          <p:cNvCxnSpPr>
            <a:cxnSpLocks/>
          </p:cNvCxnSpPr>
          <p:nvPr/>
        </p:nvCxnSpPr>
        <p:spPr>
          <a:xfrm>
            <a:off x="7021522" y="1784469"/>
            <a:ext cx="2091961" cy="8647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E67B392-6DB1-1B76-6B3E-8D1765B946FD}"/>
              </a:ext>
            </a:extLst>
          </p:cNvPr>
          <p:cNvSpPr txBox="1"/>
          <p:nvPr/>
        </p:nvSpPr>
        <p:spPr>
          <a:xfrm rot="1260000">
            <a:off x="7228499" y="1905878"/>
            <a:ext cx="248912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Because</a:t>
            </a:r>
            <a:r>
              <a:rPr lang="it-IT" sz="22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of </a:t>
            </a:r>
            <a:r>
              <a:rPr lang="it-IT" sz="220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this</a:t>
            </a:r>
            <a:endParaRPr lang="it-IT" sz="2200" b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275C46B-16C0-47CA-6F0A-F4C4BE24135D}"/>
              </a:ext>
            </a:extLst>
          </p:cNvPr>
          <p:cNvSpPr txBox="1"/>
          <p:nvPr/>
        </p:nvSpPr>
        <p:spPr>
          <a:xfrm>
            <a:off x="577947" y="4556290"/>
            <a:ext cx="5074691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Calibri"/>
                <a:cs typeface="Calibri"/>
              </a:rPr>
              <a:t>S12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does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not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depend</a:t>
            </a:r>
            <a:r>
              <a:rPr lang="it-IT" sz="2200">
                <a:latin typeface="Times New Roman"/>
                <a:ea typeface="Calibri"/>
                <a:cs typeface="Calibri"/>
              </a:rPr>
              <a:t> on "</a:t>
            </a:r>
            <a:r>
              <a:rPr lang="it-IT" sz="2200" err="1">
                <a:latin typeface="Times New Roman"/>
                <a:ea typeface="Calibri"/>
                <a:cs typeface="Calibri"/>
              </a:rPr>
              <a:t>how</a:t>
            </a:r>
            <a:r>
              <a:rPr lang="it-IT" sz="2200">
                <a:latin typeface="Times New Roman"/>
                <a:ea typeface="Calibri"/>
                <a:cs typeface="Calibri"/>
              </a:rPr>
              <a:t>" the network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will</a:t>
            </a:r>
            <a:r>
              <a:rPr lang="it-IT" sz="2200">
                <a:latin typeface="Times New Roman"/>
                <a:ea typeface="Calibri"/>
                <a:cs typeface="Calibri"/>
              </a:rPr>
              <a:t> be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used</a:t>
            </a:r>
            <a:r>
              <a:rPr lang="it-IT" sz="2200">
                <a:latin typeface="Times New Roman"/>
                <a:ea typeface="Calibri"/>
                <a:cs typeface="Calibri"/>
              </a:rPr>
              <a:t>. </a:t>
            </a:r>
            <a:endParaRPr lang="it-IT" sz="2200" b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324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2" grpId="0"/>
      <p:bldP spid="18" grpId="0"/>
      <p:bldP spid="21" grpId="0"/>
      <p:bldP spid="24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A708C4-3B8F-5016-1545-520CC3C9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err="1">
                <a:latin typeface="Times New Roman"/>
                <a:cs typeface="Arial"/>
              </a:rPr>
              <a:t>References</a:t>
            </a:r>
          </a:p>
        </p:txBody>
      </p:sp>
      <p:pic>
        <p:nvPicPr>
          <p:cNvPr id="1026" name="Picture 2" descr="Immagine che contiene testo, schermata, Carattere, numero&#10;&#10;Il contenuto generato dall'IA potrebbe non essere corretto., Immagine">
            <a:extLst>
              <a:ext uri="{FF2B5EF4-FFF2-40B4-BE49-F238E27FC236}">
                <a16:creationId xmlns:a16="http://schemas.microsoft.com/office/drawing/2014/main" id="{146CAB73-76FE-E588-0906-4C5CADBE3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28" t="19863" r="36562" b="5115"/>
          <a:stretch/>
        </p:blipFill>
        <p:spPr bwMode="auto">
          <a:xfrm>
            <a:off x="485775" y="2252662"/>
            <a:ext cx="4320367" cy="2352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magine che contiene testo, schermata, Carattere, numero&#10;&#10;Il contenuto generato dall'IA potrebbe non essere corretto., Immagine">
            <a:extLst>
              <a:ext uri="{FF2B5EF4-FFF2-40B4-BE49-F238E27FC236}">
                <a16:creationId xmlns:a16="http://schemas.microsoft.com/office/drawing/2014/main" id="{9B5575E7-644A-B6F0-95F9-AE316905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181" y="1110811"/>
            <a:ext cx="5931693" cy="482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magine che contiene testo, schermata, Carattere, numero&#10;&#10;Il contenuto generato dall'IA potrebbe non essere corretto., Immagine">
            <a:extLst>
              <a:ext uri="{FF2B5EF4-FFF2-40B4-BE49-F238E27FC236}">
                <a16:creationId xmlns:a16="http://schemas.microsoft.com/office/drawing/2014/main" id="{41365C09-23ED-1454-CC1D-4FBCF5D53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0181" y="1062176"/>
            <a:ext cx="6077553" cy="491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magine che contiene testo, schermata, Carattere, numero&#10;&#10;Il contenuto generato dall'IA potrebbe non essere corretto., Immagine">
            <a:extLst>
              <a:ext uri="{FF2B5EF4-FFF2-40B4-BE49-F238E27FC236}">
                <a16:creationId xmlns:a16="http://schemas.microsoft.com/office/drawing/2014/main" id="{6EA99B6E-9800-99FF-0542-60272C189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427" y="912774"/>
            <a:ext cx="6451598" cy="5217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39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9AD9-669E-51F8-D54A-24432465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magine 21" descr="Immagine che contiene cerchio, schermata&#10;&#10;Il contenuto generato dall'IA potrebbe non essere corretto.">
            <a:extLst>
              <a:ext uri="{FF2B5EF4-FFF2-40B4-BE49-F238E27FC236}">
                <a16:creationId xmlns:a16="http://schemas.microsoft.com/office/drawing/2014/main" id="{E0F1C08F-C08F-F2A4-9E52-5E6667FD7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434" y="777141"/>
            <a:ext cx="6264321" cy="5191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FB52F3-EE32-D913-1708-4DACBA42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CST </a:t>
            </a:r>
            <a:r>
              <a:rPr lang="it-IT" sz="440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Spherical</a:t>
            </a:r>
            <a:r>
              <a:rPr lang="it-IT" sz="44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Model</a:t>
            </a:r>
            <a:endParaRPr lang="it-IT" sz="4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79720BE5-539B-9C15-C0D4-C6EB75132BF7}"/>
              </a:ext>
            </a:extLst>
          </p:cNvPr>
          <p:cNvCxnSpPr>
            <a:cxnSpLocks/>
          </p:cNvCxnSpPr>
          <p:nvPr/>
        </p:nvCxnSpPr>
        <p:spPr>
          <a:xfrm>
            <a:off x="2236210" y="3484988"/>
            <a:ext cx="3338680" cy="0"/>
          </a:xfrm>
          <a:prstGeom prst="straightConnector1">
            <a:avLst/>
          </a:prstGeom>
          <a:ln w="5715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39F0D96-81FC-D4FD-13E0-DAAE3D0A9F8C}"/>
              </a:ext>
            </a:extLst>
          </p:cNvPr>
          <p:cNvSpPr txBox="1"/>
          <p:nvPr/>
        </p:nvSpPr>
        <p:spPr>
          <a:xfrm>
            <a:off x="4549" y="3069371"/>
            <a:ext cx="241337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>
                <a:latin typeface="Times New Roman"/>
                <a:cs typeface="Times New Roman"/>
              </a:rPr>
              <a:t>Short </a:t>
            </a:r>
            <a:r>
              <a:rPr lang="it-IT" sz="2000" err="1">
                <a:latin typeface="Times New Roman"/>
                <a:cs typeface="Times New Roman"/>
              </a:rPr>
              <a:t>Dipole</a:t>
            </a:r>
            <a:r>
              <a:rPr lang="it-IT" sz="2000">
                <a:latin typeface="Times New Roman"/>
                <a:cs typeface="Times New Roman"/>
              </a:rPr>
              <a:t> inside lossless </a:t>
            </a:r>
            <a:r>
              <a:rPr lang="it-IT" sz="2000" err="1">
                <a:latin typeface="Times New Roman"/>
                <a:cs typeface="Times New Roman"/>
              </a:rPr>
              <a:t>implantation</a:t>
            </a:r>
            <a:endParaRPr lang="it-IT" sz="2000">
              <a:latin typeface="Times New Roman"/>
              <a:cs typeface="Times New Roman"/>
            </a:endParaRP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92361B8A-D998-CE9B-BC03-F707A8FFFD01}"/>
              </a:ext>
            </a:extLst>
          </p:cNvPr>
          <p:cNvCxnSpPr>
            <a:cxnSpLocks/>
          </p:cNvCxnSpPr>
          <p:nvPr/>
        </p:nvCxnSpPr>
        <p:spPr>
          <a:xfrm flipH="1" flipV="1">
            <a:off x="7001376" y="1647865"/>
            <a:ext cx="2430418" cy="946665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542A44B-77C3-BEC5-A9B7-68D12AA55A00}"/>
              </a:ext>
            </a:extLst>
          </p:cNvPr>
          <p:cNvSpPr txBox="1"/>
          <p:nvPr/>
        </p:nvSpPr>
        <p:spPr>
          <a:xfrm>
            <a:off x="9410131" y="2444198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>
                <a:latin typeface="Times New Roman"/>
                <a:cs typeface="Times New Roman"/>
              </a:rPr>
              <a:t>Slot Antenna Reader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E02258D-3FF2-0EEA-5429-253A84F4A766}"/>
              </a:ext>
            </a:extLst>
          </p:cNvPr>
          <p:cNvCxnSpPr>
            <a:cxnSpLocks/>
          </p:cNvCxnSpPr>
          <p:nvPr/>
        </p:nvCxnSpPr>
        <p:spPr>
          <a:xfrm flipH="1" flipV="1">
            <a:off x="6801507" y="4041058"/>
            <a:ext cx="2618917" cy="12034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F713F16-AA3C-097F-AA41-14FE071F4AA0}"/>
              </a:ext>
            </a:extLst>
          </p:cNvPr>
          <p:cNvSpPr txBox="1"/>
          <p:nvPr/>
        </p:nvSpPr>
        <p:spPr>
          <a:xfrm>
            <a:off x="9535235" y="5139630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err="1">
                <a:latin typeface="Times New Roman"/>
                <a:cs typeface="Times New Roman"/>
              </a:rPr>
              <a:t>Bladder</a:t>
            </a:r>
            <a:r>
              <a:rPr lang="it-IT" sz="2000">
                <a:latin typeface="Times New Roman"/>
                <a:cs typeface="Times New Roman"/>
              </a:rPr>
              <a:t> Wall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5BEE7DB5-5654-C11E-A2D7-7B9CE135E11A}"/>
              </a:ext>
            </a:extLst>
          </p:cNvPr>
          <p:cNvCxnSpPr>
            <a:cxnSpLocks/>
          </p:cNvCxnSpPr>
          <p:nvPr/>
        </p:nvCxnSpPr>
        <p:spPr>
          <a:xfrm flipV="1">
            <a:off x="2562421" y="4041058"/>
            <a:ext cx="2828073" cy="75985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6E0E9DE-EDC9-02C9-FE1A-208113923CC5}"/>
              </a:ext>
            </a:extLst>
          </p:cNvPr>
          <p:cNvSpPr txBox="1"/>
          <p:nvPr/>
        </p:nvSpPr>
        <p:spPr>
          <a:xfrm>
            <a:off x="1517175" y="4644900"/>
            <a:ext cx="24133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err="1">
                <a:latin typeface="Times New Roman"/>
                <a:cs typeface="Times New Roman"/>
              </a:rPr>
              <a:t>Bladder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E40086-D34B-B9CC-BCE2-9CF42E0833FB}"/>
              </a:ext>
            </a:extLst>
          </p:cNvPr>
          <p:cNvSpPr txBox="1"/>
          <p:nvPr/>
        </p:nvSpPr>
        <p:spPr>
          <a:xfrm>
            <a:off x="1221473" y="1505914"/>
            <a:ext cx="5709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err="1">
                <a:latin typeface="Times New Roman"/>
                <a:cs typeface="Times New Roman"/>
              </a:rPr>
              <a:t>Fat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0A9ACE47-EB43-8D54-AA78-9B6A2F03C941}"/>
              </a:ext>
            </a:extLst>
          </p:cNvPr>
          <p:cNvCxnSpPr>
            <a:cxnSpLocks/>
          </p:cNvCxnSpPr>
          <p:nvPr/>
        </p:nvCxnSpPr>
        <p:spPr>
          <a:xfrm>
            <a:off x="1845912" y="1764290"/>
            <a:ext cx="2829901" cy="621777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B88948D4-2B86-F978-AAB1-2B51D62B0E45}"/>
              </a:ext>
            </a:extLst>
          </p:cNvPr>
          <p:cNvCxnSpPr>
            <a:cxnSpLocks/>
          </p:cNvCxnSpPr>
          <p:nvPr/>
        </p:nvCxnSpPr>
        <p:spPr>
          <a:xfrm flipH="1" flipV="1">
            <a:off x="8236612" y="3484988"/>
            <a:ext cx="2252886" cy="235482"/>
          </a:xfrm>
          <a:prstGeom prst="straightConnector1">
            <a:avLst/>
          </a:prstGeom>
          <a:ln w="57150">
            <a:solidFill>
              <a:srgbClr val="E6B8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37FEA95-16E1-D5C5-7563-67D0F1136BF1}"/>
              </a:ext>
            </a:extLst>
          </p:cNvPr>
          <p:cNvSpPr txBox="1"/>
          <p:nvPr/>
        </p:nvSpPr>
        <p:spPr>
          <a:xfrm>
            <a:off x="10490578" y="3473465"/>
            <a:ext cx="7870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err="1">
                <a:latin typeface="Times New Roman"/>
                <a:cs typeface="Times New Roman"/>
              </a:rPr>
              <a:t>Skin</a:t>
            </a:r>
            <a:endParaRPr lang="it-IT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6454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6D50E5-0922-1A7D-E222-8C20BEEA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50% urine and 50% air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9B0DEB2-7776-9B20-450E-4850A363CE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it-IT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pic>
        <p:nvPicPr>
          <p:cNvPr id="6" name="Immagine 5" descr="Immagine che contiene testo, schermata, numero, software&#10;&#10;Il contenuto generato dall'IA potrebbe non essere corretto.">
            <a:extLst>
              <a:ext uri="{FF2B5EF4-FFF2-40B4-BE49-F238E27FC236}">
                <a16:creationId xmlns:a16="http://schemas.microsoft.com/office/drawing/2014/main" id="{657C58FA-D08F-6B11-3CBE-553905DA9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8" t="20896" b="31014"/>
          <a:stretch/>
        </p:blipFill>
        <p:spPr>
          <a:xfrm>
            <a:off x="333226" y="1386673"/>
            <a:ext cx="11525548" cy="320437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7D33B635-06A6-F7DF-18D2-FE25797FEFDE}"/>
              </a:ext>
            </a:extLst>
          </p:cNvPr>
          <p:cNvSpPr txBox="1"/>
          <p:nvPr/>
        </p:nvSpPr>
        <p:spPr>
          <a:xfrm>
            <a:off x="1407909" y="5240494"/>
            <a:ext cx="40419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b="1" dirty="0">
                <a:latin typeface="Times New Roman"/>
                <a:ea typeface="Calibri"/>
                <a:cs typeface="Calibri"/>
              </a:rPr>
              <a:t>g = MAG = -32,9 dB</a:t>
            </a:r>
            <a:endParaRPr lang="it-IT" b="1" dirty="0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C77349FE-26E0-0CAF-E0ED-55ECCAE06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038036"/>
              </p:ext>
            </p:extLst>
          </p:nvPr>
        </p:nvGraphicFramePr>
        <p:xfrm>
          <a:off x="6400800" y="5046978"/>
          <a:ext cx="4251960" cy="11230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7864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521481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532615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575947">
                <a:tc>
                  <a:txBody>
                    <a:bodyPr/>
                    <a:lstStyle/>
                    <a:p>
                      <a:endParaRPr lang="it-IT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547148">
                <a:tc>
                  <a:txBody>
                    <a:bodyPr/>
                    <a:lstStyle/>
                    <a:p>
                      <a:r>
                        <a:rPr lang="it-IT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2895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81F1D-8F6C-3D1F-6989-51396742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F9F2C5-0D2B-25F1-1507-A2C4A377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endParaRPr lang="it-IT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724FFAA-DFA6-4CC8-F3DD-4E9B7715BD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it-IT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pic>
        <p:nvPicPr>
          <p:cNvPr id="5" name="Immagine 4" descr="Immagine che contiene testo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B9F71B10-9855-FCEF-6D53-B363A416D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2" y="1086249"/>
            <a:ext cx="11209275" cy="3553179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44D60A0-E344-80ED-03F9-3B015CEB859B}"/>
              </a:ext>
            </a:extLst>
          </p:cNvPr>
          <p:cNvSpPr txBox="1"/>
          <p:nvPr/>
        </p:nvSpPr>
        <p:spPr>
          <a:xfrm>
            <a:off x="1635484" y="5279443"/>
            <a:ext cx="46005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b="1" dirty="0">
                <a:latin typeface="Times New Roman"/>
                <a:ea typeface="Calibri"/>
                <a:cs typeface="Calibri"/>
              </a:rPr>
              <a:t>g = MAG = -36,47 dB</a:t>
            </a:r>
            <a:endParaRPr lang="it-IT" b="1" dirty="0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DE7EE7B-F7AF-24F9-59AF-49772E29A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822839"/>
              </p:ext>
            </p:extLst>
          </p:nvPr>
        </p:nvGraphicFramePr>
        <p:xfrm>
          <a:off x="6553200" y="5106739"/>
          <a:ext cx="4181856" cy="10547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38766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468045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475045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540872">
                <a:tc>
                  <a:txBody>
                    <a:bodyPr/>
                    <a:lstStyle/>
                    <a:p>
                      <a:endParaRPr lang="it-IT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513828">
                <a:tc>
                  <a:txBody>
                    <a:bodyPr/>
                    <a:lstStyle/>
                    <a:p>
                      <a:r>
                        <a:rPr lang="it-IT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07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97F8-8C8D-6295-21DA-98F4017D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0BD1AD-256D-7AA1-E585-9DCA239F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it-IT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endParaRPr lang="it-IT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1AB28B9-8F85-FCCB-EB48-E7483FD72F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it-IT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pic>
        <p:nvPicPr>
          <p:cNvPr id="5" name="Immagine 4" descr="Immagine che contiene testo, schermata, software, numero&#10;&#10;Il contenuto generato dall'IA potrebbe non essere corretto.">
            <a:extLst>
              <a:ext uri="{FF2B5EF4-FFF2-40B4-BE49-F238E27FC236}">
                <a16:creationId xmlns:a16="http://schemas.microsoft.com/office/drawing/2014/main" id="{FF843C00-0679-AAFD-026E-5820A518D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6" t="23384" r="1761" b="37552"/>
          <a:stretch>
            <a:fillRect/>
          </a:stretch>
        </p:blipFill>
        <p:spPr>
          <a:xfrm>
            <a:off x="127898" y="1307060"/>
            <a:ext cx="11936204" cy="292548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F50487-5049-2301-EC52-823DBEC2BDDA}"/>
              </a:ext>
            </a:extLst>
          </p:cNvPr>
          <p:cNvSpPr txBox="1"/>
          <p:nvPr/>
        </p:nvSpPr>
        <p:spPr>
          <a:xfrm>
            <a:off x="1837677" y="5089275"/>
            <a:ext cx="460052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400" b="1" dirty="0">
                <a:latin typeface="Times New Roman"/>
                <a:ea typeface="Calibri"/>
                <a:cs typeface="Calibri"/>
              </a:rPr>
              <a:t>g = MAG = -24,43 dB</a:t>
            </a:r>
            <a:endParaRPr lang="it-IT" b="1" dirty="0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53C2F944-8970-4B0D-F1E6-8EE980C82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128839"/>
              </p:ext>
            </p:extLst>
          </p:nvPr>
        </p:nvGraphicFramePr>
        <p:xfrm>
          <a:off x="6591094" y="4784025"/>
          <a:ext cx="4217113" cy="10721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35131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477864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504118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549828">
                <a:tc>
                  <a:txBody>
                    <a:bodyPr/>
                    <a:lstStyle/>
                    <a:p>
                      <a:endParaRPr lang="it-IT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522336">
                <a:tc>
                  <a:txBody>
                    <a:bodyPr/>
                    <a:lstStyle/>
                    <a:p>
                      <a:r>
                        <a:rPr lang="it-IT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12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E2AB5116-04CF-7355-76E1-599EC0AEC3B3}"/>
              </a:ext>
            </a:extLst>
          </p:cNvPr>
          <p:cNvSpPr txBox="1"/>
          <p:nvPr/>
        </p:nvSpPr>
        <p:spPr>
          <a:xfrm>
            <a:off x="1370856" y="1298581"/>
            <a:ext cx="16891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Overweight</a:t>
            </a:r>
            <a:r>
              <a:rPr lang="it-IT" sz="2000" b="1" dirty="0"/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6DBFB14-A5BA-5ED0-46B7-4D17155A76C1}"/>
              </a:ext>
            </a:extLst>
          </p:cNvPr>
          <p:cNvSpPr txBox="1"/>
          <p:nvPr/>
        </p:nvSpPr>
        <p:spPr>
          <a:xfrm>
            <a:off x="1055133" y="4774593"/>
            <a:ext cx="225968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 -38,5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C1A6E6A-0E56-2988-2FA4-FBF4FAF27E48}"/>
              </a:ext>
            </a:extLst>
          </p:cNvPr>
          <p:cNvSpPr txBox="1"/>
          <p:nvPr/>
        </p:nvSpPr>
        <p:spPr>
          <a:xfrm>
            <a:off x="4216567" y="709677"/>
            <a:ext cx="5788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l-GR" b="0" dirty="0">
                <a:latin typeface="Times New Roman"/>
                <a:cs typeface="Times New Roman"/>
              </a:rPr>
              <a:t>ε</a:t>
            </a:r>
            <a:r>
              <a:rPr lang="it-IT" b="0" dirty="0">
                <a:latin typeface="Times New Roman"/>
                <a:cs typeface="Times New Roman"/>
              </a:rPr>
              <a:t> = 34,5 ;    </a:t>
            </a:r>
            <a:r>
              <a:rPr lang="it-IT" dirty="0">
                <a:latin typeface="Times New Roman"/>
                <a:cs typeface="Times New Roman"/>
              </a:rPr>
              <a:t>σ= 0,82 S/m ;     </a:t>
            </a:r>
            <a:r>
              <a:rPr lang="it-IT" dirty="0" err="1">
                <a:latin typeface="Times New Roman"/>
                <a:cs typeface="Times New Roman"/>
              </a:rPr>
              <a:t>urine_radius</a:t>
            </a:r>
            <a:r>
              <a:rPr lang="it-IT" dirty="0">
                <a:latin typeface="Times New Roman"/>
                <a:cs typeface="Times New Roman"/>
              </a:rPr>
              <a:t> = 41,5 mm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544F741-DA70-5BA2-438F-302E22F4022A}"/>
              </a:ext>
            </a:extLst>
          </p:cNvPr>
          <p:cNvSpPr txBox="1"/>
          <p:nvPr/>
        </p:nvSpPr>
        <p:spPr>
          <a:xfrm>
            <a:off x="9618140" y="1317688"/>
            <a:ext cx="17159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000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Underweight</a:t>
            </a:r>
            <a:r>
              <a:rPr lang="it-IT" b="1" dirty="0"/>
              <a:t>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B8B9C47-00C1-A478-0424-D8E839F0FC70}"/>
              </a:ext>
            </a:extLst>
          </p:cNvPr>
          <p:cNvSpPr txBox="1"/>
          <p:nvPr/>
        </p:nvSpPr>
        <p:spPr>
          <a:xfrm>
            <a:off x="10476094" y="1724603"/>
            <a:ext cx="1715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=85,5mm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700D837-8DE8-6D18-61F6-20849F21CD40}"/>
              </a:ext>
            </a:extLst>
          </p:cNvPr>
          <p:cNvSpPr txBox="1"/>
          <p:nvPr/>
        </p:nvSpPr>
        <p:spPr>
          <a:xfrm>
            <a:off x="9216782" y="4774593"/>
            <a:ext cx="225969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-30,3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5F701E52-5087-26C1-389C-41636539C745}"/>
              </a:ext>
            </a:extLst>
          </p:cNvPr>
          <p:cNvSpPr txBox="1"/>
          <p:nvPr/>
        </p:nvSpPr>
        <p:spPr>
          <a:xfrm>
            <a:off x="4109051" y="123222"/>
            <a:ext cx="6712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r>
              <a:rPr lang="it-IT" sz="3600" b="1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50% urine and 50% air</a:t>
            </a:r>
          </a:p>
        </p:txBody>
      </p:sp>
      <p:graphicFrame>
        <p:nvGraphicFramePr>
          <p:cNvPr id="23" name="Tabella 22">
            <a:extLst>
              <a:ext uri="{FF2B5EF4-FFF2-40B4-BE49-F238E27FC236}">
                <a16:creationId xmlns:a16="http://schemas.microsoft.com/office/drawing/2014/main" id="{4620E704-4733-3852-69A6-B4E42A086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974201"/>
              </p:ext>
            </p:extLst>
          </p:nvPr>
        </p:nvGraphicFramePr>
        <p:xfrm>
          <a:off x="435161" y="5237906"/>
          <a:ext cx="3416620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3876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191590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11154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C6CA95C3-FDD3-9E07-613E-68F0DA02474F}"/>
              </a:ext>
            </a:extLst>
          </p:cNvPr>
          <p:cNvSpPr txBox="1"/>
          <p:nvPr/>
        </p:nvSpPr>
        <p:spPr>
          <a:xfrm>
            <a:off x="2691662" y="1677855"/>
            <a:ext cx="1594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=165mm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7DF5432B-AF56-3D3D-10AC-1314A453FC09}"/>
              </a:ext>
            </a:extLst>
          </p:cNvPr>
          <p:cNvSpPr txBox="1"/>
          <p:nvPr/>
        </p:nvSpPr>
        <p:spPr>
          <a:xfrm>
            <a:off x="6938159" y="1706265"/>
            <a:ext cx="2432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=101,5mm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F32A4667-C2A3-A1A9-2240-8A64E3F75AE9}"/>
              </a:ext>
            </a:extLst>
          </p:cNvPr>
          <p:cNvSpPr txBox="1"/>
          <p:nvPr/>
        </p:nvSpPr>
        <p:spPr>
          <a:xfrm>
            <a:off x="5104518" y="4736405"/>
            <a:ext cx="233337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 -32,9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39ADEC5A-8DF9-1BAA-9907-4D0709122ABB}"/>
              </a:ext>
            </a:extLst>
          </p:cNvPr>
          <p:cNvSpPr txBox="1"/>
          <p:nvPr/>
        </p:nvSpPr>
        <p:spPr>
          <a:xfrm>
            <a:off x="5481681" y="1283192"/>
            <a:ext cx="206654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000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it-IT" sz="2000" b="1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graphicFrame>
        <p:nvGraphicFramePr>
          <p:cNvPr id="49" name="Tabella 48">
            <a:extLst>
              <a:ext uri="{FF2B5EF4-FFF2-40B4-BE49-F238E27FC236}">
                <a16:creationId xmlns:a16="http://schemas.microsoft.com/office/drawing/2014/main" id="{14858937-11C3-576C-FD6F-0B64F1C0C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984986"/>
              </p:ext>
            </p:extLst>
          </p:nvPr>
        </p:nvGraphicFramePr>
        <p:xfrm>
          <a:off x="4612363" y="5237906"/>
          <a:ext cx="3416620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3876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191590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11154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graphicFrame>
        <p:nvGraphicFramePr>
          <p:cNvPr id="50" name="Tabella 49">
            <a:extLst>
              <a:ext uri="{FF2B5EF4-FFF2-40B4-BE49-F238E27FC236}">
                <a16:creationId xmlns:a16="http://schemas.microsoft.com/office/drawing/2014/main" id="{6C4CF344-71EC-62AD-4F42-73C4D7247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738338"/>
              </p:ext>
            </p:extLst>
          </p:nvPr>
        </p:nvGraphicFramePr>
        <p:xfrm>
          <a:off x="8767783" y="5237906"/>
          <a:ext cx="3416619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3876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191589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11154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pic>
        <p:nvPicPr>
          <p:cNvPr id="52" name="Immagine 51">
            <a:extLst>
              <a:ext uri="{FF2B5EF4-FFF2-40B4-BE49-F238E27FC236}">
                <a16:creationId xmlns:a16="http://schemas.microsoft.com/office/drawing/2014/main" id="{0DD1BF1A-0AD0-06D7-E307-F11A564FE1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27" t="7082" r="41200" b="6329"/>
          <a:stretch>
            <a:fillRect/>
          </a:stretch>
        </p:blipFill>
        <p:spPr>
          <a:xfrm>
            <a:off x="9370387" y="2167843"/>
            <a:ext cx="2450056" cy="2452948"/>
          </a:xfrm>
          <a:prstGeom prst="rect">
            <a:avLst/>
          </a:prstGeom>
        </p:spPr>
      </p:pic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1C6F3237-360A-EE5A-3C91-35BB65CC5E61}"/>
              </a:ext>
            </a:extLst>
          </p:cNvPr>
          <p:cNvCxnSpPr>
            <a:cxnSpLocks/>
          </p:cNvCxnSpPr>
          <p:nvPr/>
        </p:nvCxnSpPr>
        <p:spPr>
          <a:xfrm flipV="1">
            <a:off x="10715433" y="2031781"/>
            <a:ext cx="388809" cy="561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Immagine 53">
            <a:extLst>
              <a:ext uri="{FF2B5EF4-FFF2-40B4-BE49-F238E27FC236}">
                <a16:creationId xmlns:a16="http://schemas.microsoft.com/office/drawing/2014/main" id="{9133D45E-2932-3590-A5AE-3764605B5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119" t="4510" r="40150" b="2418"/>
          <a:stretch>
            <a:fillRect/>
          </a:stretch>
        </p:blipFill>
        <p:spPr>
          <a:xfrm>
            <a:off x="4953929" y="2090747"/>
            <a:ext cx="2537757" cy="2510831"/>
          </a:xfrm>
          <a:prstGeom prst="rect">
            <a:avLst/>
          </a:prstGeom>
        </p:spPr>
      </p:pic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73E8B60D-1839-D55A-54CB-F94EB79682CC}"/>
              </a:ext>
            </a:extLst>
          </p:cNvPr>
          <p:cNvCxnSpPr>
            <a:cxnSpLocks/>
          </p:cNvCxnSpPr>
          <p:nvPr/>
        </p:nvCxnSpPr>
        <p:spPr>
          <a:xfrm flipV="1">
            <a:off x="6514953" y="1996602"/>
            <a:ext cx="443079" cy="59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6" name="Immagine 55">
            <a:extLst>
              <a:ext uri="{FF2B5EF4-FFF2-40B4-BE49-F238E27FC236}">
                <a16:creationId xmlns:a16="http://schemas.microsoft.com/office/drawing/2014/main" id="{8B6B7959-FBAA-0184-50EF-F65FAB14FC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27" r="36319"/>
          <a:stretch>
            <a:fillRect/>
          </a:stretch>
        </p:blipFill>
        <p:spPr>
          <a:xfrm>
            <a:off x="794299" y="2101836"/>
            <a:ext cx="2698345" cy="2672757"/>
          </a:xfrm>
          <a:prstGeom prst="rect">
            <a:avLst/>
          </a:prstGeom>
        </p:spPr>
      </p:pic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85373526-73FA-3F59-0C4B-489B607EC55D}"/>
              </a:ext>
            </a:extLst>
          </p:cNvPr>
          <p:cNvCxnSpPr>
            <a:cxnSpLocks/>
          </p:cNvCxnSpPr>
          <p:nvPr/>
        </p:nvCxnSpPr>
        <p:spPr>
          <a:xfrm flipV="1">
            <a:off x="2215438" y="1985632"/>
            <a:ext cx="542114" cy="65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655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761A6A48-DDCE-E9FC-BDEF-549A4E0FB881}"/>
              </a:ext>
            </a:extLst>
          </p:cNvPr>
          <p:cNvSpPr txBox="1"/>
          <p:nvPr/>
        </p:nvSpPr>
        <p:spPr>
          <a:xfrm>
            <a:off x="1340395" y="1294685"/>
            <a:ext cx="168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Overweight</a:t>
            </a:r>
            <a:endParaRPr lang="it-IT" b="1" dirty="0">
              <a:solidFill>
                <a:srgbClr val="10036D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A3223F9-6D1C-C11E-50EF-E7BACBC4D2EB}"/>
              </a:ext>
            </a:extLst>
          </p:cNvPr>
          <p:cNvSpPr txBox="1"/>
          <p:nvPr/>
        </p:nvSpPr>
        <p:spPr>
          <a:xfrm>
            <a:off x="1055133" y="4774593"/>
            <a:ext cx="225968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 -42,2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1065425-30EA-FDB5-DF5D-C948433B97BB}"/>
              </a:ext>
            </a:extLst>
          </p:cNvPr>
          <p:cNvSpPr txBox="1"/>
          <p:nvPr/>
        </p:nvSpPr>
        <p:spPr>
          <a:xfrm>
            <a:off x="3954334" y="663809"/>
            <a:ext cx="58708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l-GR" b="0" dirty="0">
                <a:latin typeface="Times New Roman"/>
                <a:cs typeface="Times New Roman"/>
              </a:rPr>
              <a:t>ε</a:t>
            </a:r>
            <a:r>
              <a:rPr lang="it-IT" b="0" dirty="0">
                <a:latin typeface="Times New Roman"/>
                <a:cs typeface="Times New Roman"/>
              </a:rPr>
              <a:t> = </a:t>
            </a:r>
            <a:r>
              <a:rPr lang="it-IT" dirty="0">
                <a:latin typeface="Times New Roman"/>
                <a:cs typeface="Times New Roman"/>
              </a:rPr>
              <a:t>68,89</a:t>
            </a:r>
            <a:r>
              <a:rPr lang="it-IT" b="0" dirty="0">
                <a:latin typeface="Times New Roman"/>
                <a:cs typeface="Times New Roman"/>
              </a:rPr>
              <a:t> ;    </a:t>
            </a:r>
            <a:r>
              <a:rPr lang="it-IT" dirty="0">
                <a:latin typeface="Times New Roman"/>
                <a:cs typeface="Times New Roman"/>
              </a:rPr>
              <a:t>σ= 1,64 S/m ;     </a:t>
            </a:r>
            <a:r>
              <a:rPr lang="it-IT" dirty="0" err="1">
                <a:latin typeface="Times New Roman"/>
                <a:cs typeface="Times New Roman"/>
              </a:rPr>
              <a:t>urine_radius</a:t>
            </a:r>
            <a:r>
              <a:rPr lang="it-IT" dirty="0">
                <a:latin typeface="Times New Roman"/>
                <a:cs typeface="Times New Roman"/>
              </a:rPr>
              <a:t> = 46,5 mm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E1096C-CC53-E3AF-2E82-BD6CF7BE1CDC}"/>
              </a:ext>
            </a:extLst>
          </p:cNvPr>
          <p:cNvSpPr txBox="1"/>
          <p:nvPr/>
        </p:nvSpPr>
        <p:spPr>
          <a:xfrm>
            <a:off x="9618140" y="1317688"/>
            <a:ext cx="171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Underweight</a:t>
            </a:r>
            <a:r>
              <a:rPr lang="it-IT" b="1" dirty="0"/>
              <a:t>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7D5206E-39A6-1601-67E1-EB1143A168F0}"/>
              </a:ext>
            </a:extLst>
          </p:cNvPr>
          <p:cNvSpPr txBox="1"/>
          <p:nvPr/>
        </p:nvSpPr>
        <p:spPr>
          <a:xfrm>
            <a:off x="10476094" y="1724603"/>
            <a:ext cx="1715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=85,5mm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94DF05F-A0A4-2A2F-99C1-BC7A7600C881}"/>
              </a:ext>
            </a:extLst>
          </p:cNvPr>
          <p:cNvSpPr txBox="1"/>
          <p:nvPr/>
        </p:nvSpPr>
        <p:spPr>
          <a:xfrm>
            <a:off x="9216782" y="4774593"/>
            <a:ext cx="225969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-33,7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722A68B-7871-0B5F-36CF-DBD9C839D0EA}"/>
              </a:ext>
            </a:extLst>
          </p:cNvPr>
          <p:cNvSpPr txBox="1"/>
          <p:nvPr/>
        </p:nvSpPr>
        <p:spPr>
          <a:xfrm>
            <a:off x="3954334" y="137115"/>
            <a:ext cx="512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</a:t>
            </a:r>
            <a:r>
              <a:rPr lang="it-IT" sz="3600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endParaRPr lang="it-IT" sz="3600" b="1" dirty="0">
              <a:solidFill>
                <a:srgbClr val="10036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93E6C026-641B-A437-34A1-19557D5B7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721954"/>
              </p:ext>
            </p:extLst>
          </p:nvPr>
        </p:nvGraphicFramePr>
        <p:xfrm>
          <a:off x="460247" y="5243430"/>
          <a:ext cx="3494087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28868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209473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55746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C0518D8-6B27-9B0F-4486-00DD2F7FF447}"/>
              </a:ext>
            </a:extLst>
          </p:cNvPr>
          <p:cNvSpPr txBox="1"/>
          <p:nvPr/>
        </p:nvSpPr>
        <p:spPr>
          <a:xfrm>
            <a:off x="2691662" y="1677855"/>
            <a:ext cx="1594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=165mm</a:t>
            </a:r>
          </a:p>
        </p:txBody>
      </p:sp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73A11CCD-0413-B096-0F4A-408278944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310229"/>
              </p:ext>
            </p:extLst>
          </p:nvPr>
        </p:nvGraphicFramePr>
        <p:xfrm>
          <a:off x="8656730" y="5270861"/>
          <a:ext cx="3494087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2691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231473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49923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2F27A6F-AD9E-99D6-ACAD-91BD6633C8DD}"/>
              </a:ext>
            </a:extLst>
          </p:cNvPr>
          <p:cNvSpPr txBox="1"/>
          <p:nvPr/>
        </p:nvSpPr>
        <p:spPr>
          <a:xfrm>
            <a:off x="6938159" y="1706265"/>
            <a:ext cx="2432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=101,5mm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3468E27-24CE-B90B-3123-35669CED9B56}"/>
              </a:ext>
            </a:extLst>
          </p:cNvPr>
          <p:cNvSpPr txBox="1"/>
          <p:nvPr/>
        </p:nvSpPr>
        <p:spPr>
          <a:xfrm>
            <a:off x="5104518" y="4736405"/>
            <a:ext cx="233337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 -36,47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434DF042-0D88-8AFE-4A19-0C711AF3E286}"/>
              </a:ext>
            </a:extLst>
          </p:cNvPr>
          <p:cNvSpPr txBox="1"/>
          <p:nvPr/>
        </p:nvSpPr>
        <p:spPr>
          <a:xfrm>
            <a:off x="5481681" y="1298581"/>
            <a:ext cx="20665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it-IT" b="1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graphicFrame>
        <p:nvGraphicFramePr>
          <p:cNvPr id="24" name="Tabella 23">
            <a:extLst>
              <a:ext uri="{FF2B5EF4-FFF2-40B4-BE49-F238E27FC236}">
                <a16:creationId xmlns:a16="http://schemas.microsoft.com/office/drawing/2014/main" id="{9552F94B-7C99-2DA3-A1AE-D28962F29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012574"/>
              </p:ext>
            </p:extLst>
          </p:nvPr>
        </p:nvGraphicFramePr>
        <p:xfrm>
          <a:off x="4681006" y="5255641"/>
          <a:ext cx="3422828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3923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201588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07317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0,433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pic>
        <p:nvPicPr>
          <p:cNvPr id="48" name="Immagine 47">
            <a:extLst>
              <a:ext uri="{FF2B5EF4-FFF2-40B4-BE49-F238E27FC236}">
                <a16:creationId xmlns:a16="http://schemas.microsoft.com/office/drawing/2014/main" id="{730B040A-570F-9062-50B8-1B99640FF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55" t="1306" r="39475" b="3974"/>
          <a:stretch>
            <a:fillRect/>
          </a:stretch>
        </p:blipFill>
        <p:spPr>
          <a:xfrm>
            <a:off x="5192748" y="2121595"/>
            <a:ext cx="2516394" cy="2530641"/>
          </a:xfrm>
          <a:prstGeom prst="rect">
            <a:avLst/>
          </a:prstGeom>
        </p:spPr>
      </p:pic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150ED660-A54F-A090-2861-92A40CE9F2EC}"/>
              </a:ext>
            </a:extLst>
          </p:cNvPr>
          <p:cNvCxnSpPr>
            <a:cxnSpLocks/>
          </p:cNvCxnSpPr>
          <p:nvPr/>
        </p:nvCxnSpPr>
        <p:spPr>
          <a:xfrm flipV="1">
            <a:off x="6514953" y="1996602"/>
            <a:ext cx="443079" cy="59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Immagine 49">
            <a:extLst>
              <a:ext uri="{FF2B5EF4-FFF2-40B4-BE49-F238E27FC236}">
                <a16:creationId xmlns:a16="http://schemas.microsoft.com/office/drawing/2014/main" id="{5A258E2E-F15A-7120-86AA-74C51CFB32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700" r="36244"/>
          <a:stretch>
            <a:fillRect/>
          </a:stretch>
        </p:blipFill>
        <p:spPr>
          <a:xfrm>
            <a:off x="759366" y="2133973"/>
            <a:ext cx="2678545" cy="2652998"/>
          </a:xfrm>
          <a:prstGeom prst="rect">
            <a:avLst/>
          </a:prstGeom>
        </p:spPr>
      </p:pic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33810399-2D9E-4CCC-CE19-19F315C286DB}"/>
              </a:ext>
            </a:extLst>
          </p:cNvPr>
          <p:cNvCxnSpPr>
            <a:cxnSpLocks/>
          </p:cNvCxnSpPr>
          <p:nvPr/>
        </p:nvCxnSpPr>
        <p:spPr>
          <a:xfrm flipV="1">
            <a:off x="2215438" y="1985632"/>
            <a:ext cx="542114" cy="65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2" name="Immagine 51">
            <a:extLst>
              <a:ext uri="{FF2B5EF4-FFF2-40B4-BE49-F238E27FC236}">
                <a16:creationId xmlns:a16="http://schemas.microsoft.com/office/drawing/2014/main" id="{95B3C913-CE06-47EE-BB8A-BBB4C157DB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59" t="7083" r="41425" b="4197"/>
          <a:stretch>
            <a:fillRect/>
          </a:stretch>
        </p:blipFill>
        <p:spPr>
          <a:xfrm>
            <a:off x="9256734" y="2194559"/>
            <a:ext cx="2500867" cy="2561696"/>
          </a:xfrm>
          <a:prstGeom prst="rect">
            <a:avLst/>
          </a:prstGeom>
        </p:spPr>
      </p:pic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9B294E92-4624-A1EA-5E4B-AFE5E573D357}"/>
              </a:ext>
            </a:extLst>
          </p:cNvPr>
          <p:cNvCxnSpPr>
            <a:cxnSpLocks/>
          </p:cNvCxnSpPr>
          <p:nvPr/>
        </p:nvCxnSpPr>
        <p:spPr>
          <a:xfrm flipV="1">
            <a:off x="10715433" y="2031781"/>
            <a:ext cx="388809" cy="561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446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9AB77954-08AC-8C02-DAEE-86BB080C4773}"/>
              </a:ext>
            </a:extLst>
          </p:cNvPr>
          <p:cNvSpPr txBox="1"/>
          <p:nvPr/>
        </p:nvSpPr>
        <p:spPr>
          <a:xfrm>
            <a:off x="1340395" y="1294685"/>
            <a:ext cx="1689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Overweight</a:t>
            </a:r>
            <a:r>
              <a:rPr lang="it-IT" b="1" dirty="0"/>
              <a:t>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A914775-4DD7-1408-572A-3DC23307D0E7}"/>
              </a:ext>
            </a:extLst>
          </p:cNvPr>
          <p:cNvSpPr txBox="1"/>
          <p:nvPr/>
        </p:nvSpPr>
        <p:spPr>
          <a:xfrm>
            <a:off x="917972" y="4774593"/>
            <a:ext cx="225968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 -30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D1BC62A-946F-8960-6C15-55B511BEDDA7}"/>
              </a:ext>
            </a:extLst>
          </p:cNvPr>
          <p:cNvSpPr txBox="1"/>
          <p:nvPr/>
        </p:nvSpPr>
        <p:spPr>
          <a:xfrm>
            <a:off x="4503262" y="691390"/>
            <a:ext cx="5256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l-GR" b="0" dirty="0">
                <a:latin typeface="Times New Roman"/>
                <a:cs typeface="Times New Roman"/>
              </a:rPr>
              <a:t>ε</a:t>
            </a:r>
            <a:r>
              <a:rPr lang="it-IT" b="0" dirty="0">
                <a:latin typeface="Times New Roman"/>
                <a:cs typeface="Times New Roman"/>
              </a:rPr>
              <a:t> = 1 ;    </a:t>
            </a:r>
            <a:r>
              <a:rPr lang="it-IT" dirty="0">
                <a:latin typeface="Times New Roman"/>
                <a:cs typeface="Times New Roman"/>
              </a:rPr>
              <a:t>σ= 0 S/m ;     </a:t>
            </a:r>
            <a:r>
              <a:rPr lang="it-IT" dirty="0" err="1">
                <a:latin typeface="Times New Roman"/>
                <a:cs typeface="Times New Roman"/>
              </a:rPr>
              <a:t>urine_radius</a:t>
            </a:r>
            <a:r>
              <a:rPr lang="it-IT" dirty="0">
                <a:latin typeface="Times New Roman"/>
                <a:cs typeface="Times New Roman"/>
              </a:rPr>
              <a:t> = 36,5 mm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3A610CC-76F7-FE94-D77D-5569FB4B12BF}"/>
              </a:ext>
            </a:extLst>
          </p:cNvPr>
          <p:cNvSpPr txBox="1"/>
          <p:nvPr/>
        </p:nvSpPr>
        <p:spPr>
          <a:xfrm>
            <a:off x="9618854" y="1421504"/>
            <a:ext cx="171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Underweight</a:t>
            </a:r>
            <a:r>
              <a:rPr lang="it-IT" b="1" dirty="0"/>
              <a:t>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B3FC132-D9FA-D233-F400-54209BAD13B5}"/>
              </a:ext>
            </a:extLst>
          </p:cNvPr>
          <p:cNvSpPr txBox="1"/>
          <p:nvPr/>
        </p:nvSpPr>
        <p:spPr>
          <a:xfrm>
            <a:off x="10714431" y="1781781"/>
            <a:ext cx="17159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=85,5mm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DEDD2CE-1C3C-ABDE-D26B-1A9FF018806C}"/>
              </a:ext>
            </a:extLst>
          </p:cNvPr>
          <p:cNvSpPr txBox="1"/>
          <p:nvPr/>
        </p:nvSpPr>
        <p:spPr>
          <a:xfrm>
            <a:off x="9216782" y="4774593"/>
            <a:ext cx="225969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-21,5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F097EE0-3AFE-DD7E-38CD-3BCA15A9BA86}"/>
              </a:ext>
            </a:extLst>
          </p:cNvPr>
          <p:cNvSpPr txBox="1"/>
          <p:nvPr/>
        </p:nvSpPr>
        <p:spPr>
          <a:xfrm>
            <a:off x="3954334" y="130365"/>
            <a:ext cx="51212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600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Empty</a:t>
            </a:r>
            <a:r>
              <a:rPr lang="it-IT" sz="3600" b="1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600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Bladder</a:t>
            </a:r>
            <a:endParaRPr lang="it-IT" sz="3600" b="1" dirty="0">
              <a:solidFill>
                <a:srgbClr val="10036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2CA70DE0-27B0-73F1-8D2F-B9952F28D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38336"/>
              </p:ext>
            </p:extLst>
          </p:nvPr>
        </p:nvGraphicFramePr>
        <p:xfrm>
          <a:off x="499804" y="5198852"/>
          <a:ext cx="3481503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3022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219352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49129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15780E8-4CEA-0752-53A7-A24B71B5BF95}"/>
              </a:ext>
            </a:extLst>
          </p:cNvPr>
          <p:cNvSpPr txBox="1"/>
          <p:nvPr/>
        </p:nvSpPr>
        <p:spPr>
          <a:xfrm>
            <a:off x="2846373" y="1687020"/>
            <a:ext cx="15949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=165mm</a:t>
            </a:r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8073DA3E-92D9-1E50-C52C-F9738E1CF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735536"/>
              </p:ext>
            </p:extLst>
          </p:nvPr>
        </p:nvGraphicFramePr>
        <p:xfrm>
          <a:off x="8607081" y="5202620"/>
          <a:ext cx="3584919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7885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220770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56264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68189E5-0F5A-60F1-EC2F-5793EA7F5ECC}"/>
              </a:ext>
            </a:extLst>
          </p:cNvPr>
          <p:cNvSpPr txBox="1"/>
          <p:nvPr/>
        </p:nvSpPr>
        <p:spPr>
          <a:xfrm>
            <a:off x="6938159" y="1706265"/>
            <a:ext cx="2432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it-IT" sz="1400" dirty="0" err="1">
                <a:latin typeface="Times New Roman"/>
                <a:cs typeface="Times New Roman"/>
              </a:rPr>
              <a:t>f</a:t>
            </a:r>
            <a:r>
              <a:rPr lang="it-IT" sz="1400" b="0" dirty="0" err="1">
                <a:latin typeface="Times New Roman"/>
                <a:cs typeface="Times New Roman"/>
              </a:rPr>
              <a:t>at_radius</a:t>
            </a:r>
            <a:r>
              <a:rPr lang="it-IT" sz="1400" b="0" dirty="0">
                <a:latin typeface="Times New Roman"/>
                <a:cs typeface="Times New Roman"/>
              </a:rPr>
              <a:t>=101,5mm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C28A4D5-6C9A-F386-D610-78965E36AC1E}"/>
              </a:ext>
            </a:extLst>
          </p:cNvPr>
          <p:cNvSpPr txBox="1"/>
          <p:nvPr/>
        </p:nvSpPr>
        <p:spPr>
          <a:xfrm>
            <a:off x="5104518" y="4736405"/>
            <a:ext cx="233337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 -24,43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A094BCB-29E8-A242-6242-2BD2182897EA}"/>
              </a:ext>
            </a:extLst>
          </p:cNvPr>
          <p:cNvSpPr txBox="1"/>
          <p:nvPr/>
        </p:nvSpPr>
        <p:spPr>
          <a:xfrm>
            <a:off x="5237931" y="1361390"/>
            <a:ext cx="206654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b="1" dirty="0" err="1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it-IT" b="1" dirty="0">
                <a:solidFill>
                  <a:srgbClr val="1003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weight</a:t>
            </a:r>
          </a:p>
        </p:txBody>
      </p:sp>
      <p:graphicFrame>
        <p:nvGraphicFramePr>
          <p:cNvPr id="19" name="Tabella 18">
            <a:extLst>
              <a:ext uri="{FF2B5EF4-FFF2-40B4-BE49-F238E27FC236}">
                <a16:creationId xmlns:a16="http://schemas.microsoft.com/office/drawing/2014/main" id="{CDC83FA0-094F-EDCF-B1AA-3638DA21D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615920"/>
              </p:ext>
            </p:extLst>
          </p:nvPr>
        </p:nvGraphicFramePr>
        <p:xfrm>
          <a:off x="4552378" y="5198852"/>
          <a:ext cx="3601895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7885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198208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95802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Pav,g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pic>
        <p:nvPicPr>
          <p:cNvPr id="25" name="Immagine 24">
            <a:extLst>
              <a:ext uri="{FF2B5EF4-FFF2-40B4-BE49-F238E27FC236}">
                <a16:creationId xmlns:a16="http://schemas.microsoft.com/office/drawing/2014/main" id="{319D71EE-A9EE-597F-A6E3-05883AE7DA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4" t="3620" r="41200" b="2196"/>
          <a:stretch>
            <a:fillRect/>
          </a:stretch>
        </p:blipFill>
        <p:spPr>
          <a:xfrm>
            <a:off x="4853822" y="2138661"/>
            <a:ext cx="2584067" cy="2543492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D0EAA7F2-19C4-72EC-7CE7-E4CFD59D9B1C}"/>
              </a:ext>
            </a:extLst>
          </p:cNvPr>
          <p:cNvCxnSpPr>
            <a:cxnSpLocks/>
          </p:cNvCxnSpPr>
          <p:nvPr/>
        </p:nvCxnSpPr>
        <p:spPr>
          <a:xfrm flipV="1">
            <a:off x="6514953" y="1996602"/>
            <a:ext cx="443079" cy="591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Immagine 26">
            <a:extLst>
              <a:ext uri="{FF2B5EF4-FFF2-40B4-BE49-F238E27FC236}">
                <a16:creationId xmlns:a16="http://schemas.microsoft.com/office/drawing/2014/main" id="{15BD0355-0E14-D465-6B72-71B5F6C5D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88" r="36427" b="1307"/>
          <a:stretch>
            <a:fillRect/>
          </a:stretch>
        </p:blipFill>
        <p:spPr>
          <a:xfrm>
            <a:off x="706946" y="2106033"/>
            <a:ext cx="2681742" cy="2634667"/>
          </a:xfrm>
          <a:prstGeom prst="rect">
            <a:avLst/>
          </a:prstGeom>
        </p:spPr>
      </p:pic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2F26CBB4-C49E-4520-F2B7-4460337B6BDA}"/>
              </a:ext>
            </a:extLst>
          </p:cNvPr>
          <p:cNvCxnSpPr>
            <a:cxnSpLocks/>
          </p:cNvCxnSpPr>
          <p:nvPr/>
        </p:nvCxnSpPr>
        <p:spPr>
          <a:xfrm flipV="1">
            <a:off x="2396004" y="1994797"/>
            <a:ext cx="542114" cy="65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9" name="Immagine 28">
            <a:extLst>
              <a:ext uri="{FF2B5EF4-FFF2-40B4-BE49-F238E27FC236}">
                <a16:creationId xmlns:a16="http://schemas.microsoft.com/office/drawing/2014/main" id="{CD08E6AE-272F-2DE5-10DE-1794D698F0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689" t="7082" r="41275" b="6329"/>
          <a:stretch>
            <a:fillRect/>
          </a:stretch>
        </p:blipFill>
        <p:spPr>
          <a:xfrm>
            <a:off x="9043816" y="2151619"/>
            <a:ext cx="2528568" cy="2543493"/>
          </a:xfrm>
          <a:prstGeom prst="rect">
            <a:avLst/>
          </a:prstGeom>
        </p:spPr>
      </p:pic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16086B8D-34C7-6682-E975-EEF371A6C8FF}"/>
              </a:ext>
            </a:extLst>
          </p:cNvPr>
          <p:cNvCxnSpPr>
            <a:cxnSpLocks/>
          </p:cNvCxnSpPr>
          <p:nvPr/>
        </p:nvCxnSpPr>
        <p:spPr>
          <a:xfrm flipV="1">
            <a:off x="10788585" y="2068357"/>
            <a:ext cx="388809" cy="561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710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77671DCA-A5C8-D0A2-6B28-1F8C21F1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>
            <a:normAutofit/>
          </a:bodyPr>
          <a:lstStyle/>
          <a:p>
            <a:r>
              <a:rPr lang="it-IT" sz="4400" dirty="0">
                <a:latin typeface="Times New Roman"/>
                <a:cs typeface="Times New Roman"/>
              </a:rPr>
              <a:t>Model </a:t>
            </a:r>
            <a:r>
              <a:rPr lang="it-IT" sz="4400" dirty="0" err="1">
                <a:latin typeface="Times New Roman"/>
                <a:cs typeface="Times New Roman"/>
              </a:rPr>
              <a:t>Consideration</a:t>
            </a:r>
            <a:endParaRPr lang="it-IT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magine 6" descr="Immagine che contiene arte, dipinto&#10;&#10;Il contenuto generato dall&amp;#39;IA potrebbe non essere corretto.">
            <a:extLst>
              <a:ext uri="{FF2B5EF4-FFF2-40B4-BE49-F238E27FC236}">
                <a16:creationId xmlns:a16="http://schemas.microsoft.com/office/drawing/2014/main" id="{493B8CFD-C01B-7F80-9955-D87DE096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3" t="29353" r="-1075" b="3980"/>
          <a:stretch>
            <a:fillRect/>
          </a:stretch>
        </p:blipFill>
        <p:spPr>
          <a:xfrm>
            <a:off x="6094251" y="1455761"/>
            <a:ext cx="3074474" cy="4572010"/>
          </a:xfrm>
          <a:prstGeom prst="rect">
            <a:avLst/>
          </a:prstGeom>
        </p:spPr>
      </p:pic>
      <p:pic>
        <p:nvPicPr>
          <p:cNvPr id="8" name="Immagine 7" descr="Immagine che contiene testo, schermata, line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0C1E4626-D7D3-8C0B-F558-64487B4F4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19161"/>
            <a:ext cx="5663821" cy="145379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C4C06DB-4698-ADD5-F09D-D33C9440FB0F}"/>
              </a:ext>
            </a:extLst>
          </p:cNvPr>
          <p:cNvSpPr txBox="1"/>
          <p:nvPr/>
        </p:nvSpPr>
        <p:spPr>
          <a:xfrm>
            <a:off x="1070821" y="1284029"/>
            <a:ext cx="396012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This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was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our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reference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model</a:t>
            </a:r>
            <a:endParaRPr lang="it-IT" sz="2200" b="0" dirty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3D47F52-9FFD-8B13-A7C7-9FE08F58F0F9}"/>
              </a:ext>
            </a:extLst>
          </p:cNvPr>
          <p:cNvSpPr txBox="1"/>
          <p:nvPr/>
        </p:nvSpPr>
        <p:spPr>
          <a:xfrm>
            <a:off x="9505527" y="2141085"/>
            <a:ext cx="2333767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dirty="0" err="1">
                <a:latin typeface="Times New Roman"/>
                <a:ea typeface="Calibri"/>
                <a:cs typeface="Calibri"/>
              </a:rPr>
              <a:t>What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if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consider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the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abdominal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 muscle </a:t>
            </a:r>
            <a:r>
              <a:rPr lang="it-IT" sz="2200" dirty="0" err="1">
                <a:latin typeface="Times New Roman"/>
                <a:ea typeface="Calibri"/>
                <a:cs typeface="Calibri"/>
              </a:rPr>
              <a:t>layer</a:t>
            </a:r>
            <a:r>
              <a:rPr lang="it-IT" sz="2200" dirty="0">
                <a:latin typeface="Times New Roman"/>
                <a:ea typeface="Calibri"/>
                <a:cs typeface="Calibri"/>
              </a:rPr>
              <a:t>?</a:t>
            </a:r>
            <a:endParaRPr lang="it-IT" sz="2200" b="0" err="1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1" name="Freccia a sinistra 10">
            <a:extLst>
              <a:ext uri="{FF2B5EF4-FFF2-40B4-BE49-F238E27FC236}">
                <a16:creationId xmlns:a16="http://schemas.microsoft.com/office/drawing/2014/main" id="{6F71140E-1BCB-73FB-B196-EFECE87C1544}"/>
              </a:ext>
            </a:extLst>
          </p:cNvPr>
          <p:cNvSpPr/>
          <p:nvPr/>
        </p:nvSpPr>
        <p:spPr>
          <a:xfrm rot="16200000">
            <a:off x="2349882" y="1996624"/>
            <a:ext cx="978407" cy="484631"/>
          </a:xfrm>
          <a:prstGeom prst="leftArrow">
            <a:avLst/>
          </a:prstGeom>
          <a:solidFill>
            <a:srgbClr val="1003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E77B3394-C73C-4AD4-1318-5EC67356251C}"/>
              </a:ext>
            </a:extLst>
          </p:cNvPr>
          <p:cNvSpPr/>
          <p:nvPr/>
        </p:nvSpPr>
        <p:spPr>
          <a:xfrm>
            <a:off x="6378663" y="1941949"/>
            <a:ext cx="581167" cy="609516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E41643D0-4CC2-AFFC-F853-B2B7F346A36E}"/>
              </a:ext>
            </a:extLst>
          </p:cNvPr>
          <p:cNvCxnSpPr/>
          <p:nvPr/>
        </p:nvCxnSpPr>
        <p:spPr>
          <a:xfrm flipH="1" flipV="1">
            <a:off x="6960745" y="2286415"/>
            <a:ext cx="2594960" cy="524496"/>
          </a:xfrm>
          <a:prstGeom prst="straightConnector1">
            <a:avLst/>
          </a:prstGeom>
          <a:ln w="2857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89E17AE-6F4F-AD35-B343-9C85C8E58B99}"/>
              </a:ext>
            </a:extLst>
          </p:cNvPr>
          <p:cNvSpPr txBox="1"/>
          <p:nvPr/>
        </p:nvSpPr>
        <p:spPr>
          <a:xfrm>
            <a:off x="1208797" y="4411392"/>
            <a:ext cx="325499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>
                <a:latin typeface="Times New Roman"/>
                <a:ea typeface="Calibri"/>
                <a:cs typeface="Calibri"/>
              </a:rPr>
              <a:t>Can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we</a:t>
            </a:r>
            <a:r>
              <a:rPr lang="it-IT" sz="2200">
                <a:latin typeface="Times New Roman"/>
                <a:ea typeface="Calibri"/>
                <a:cs typeface="Calibri"/>
              </a:rPr>
              <a:t> be more accurate?</a:t>
            </a:r>
            <a:endParaRPr lang="it-IT" sz="2200" b="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EB3A312-1A04-A900-7E06-E273AF5FF43E}"/>
              </a:ext>
            </a:extLst>
          </p:cNvPr>
          <p:cNvSpPr txBox="1"/>
          <p:nvPr/>
        </p:nvSpPr>
        <p:spPr>
          <a:xfrm>
            <a:off x="9562392" y="4515429"/>
            <a:ext cx="233376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200" err="1">
                <a:latin typeface="Times New Roman"/>
                <a:ea typeface="Calibri"/>
                <a:cs typeface="Calibri"/>
              </a:rPr>
              <a:t>Let's</a:t>
            </a:r>
            <a:r>
              <a:rPr lang="it-IT" sz="2200">
                <a:latin typeface="Times New Roman"/>
                <a:ea typeface="Calibri"/>
                <a:cs typeface="Calibri"/>
              </a:rPr>
              <a:t>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add</a:t>
            </a:r>
            <a:r>
              <a:rPr lang="it-IT" sz="2200">
                <a:latin typeface="Times New Roman"/>
                <a:ea typeface="Calibri"/>
                <a:cs typeface="Calibri"/>
              </a:rPr>
              <a:t> a </a:t>
            </a:r>
            <a:r>
              <a:rPr lang="it-IT" sz="2200" err="1">
                <a:latin typeface="Times New Roman"/>
                <a:ea typeface="Calibri"/>
                <a:cs typeface="Calibri"/>
              </a:rPr>
              <a:t>muscular</a:t>
            </a:r>
            <a:r>
              <a:rPr lang="it-IT" sz="2200">
                <a:latin typeface="Times New Roman"/>
                <a:ea typeface="Calibri"/>
                <a:cs typeface="Calibri"/>
              </a:rPr>
              <a:t> layer!</a:t>
            </a:r>
            <a:endParaRPr lang="it-IT" sz="2200" b="0">
              <a:solidFill>
                <a:schemeClr val="tx1"/>
              </a:solidFill>
              <a:latin typeface="Times New Roman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8076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6BA06AF7-F694-D689-C5B4-B9CA45A7C5C4}"/>
              </a:ext>
            </a:extLst>
          </p:cNvPr>
          <p:cNvSpPr txBox="1"/>
          <p:nvPr/>
        </p:nvSpPr>
        <p:spPr>
          <a:xfrm>
            <a:off x="1110709" y="4649363"/>
            <a:ext cx="2259689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 -37.7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504C904-4096-9792-B0AB-FBB43D64B30A}"/>
              </a:ext>
            </a:extLst>
          </p:cNvPr>
          <p:cNvSpPr txBox="1"/>
          <p:nvPr/>
        </p:nvSpPr>
        <p:spPr>
          <a:xfrm>
            <a:off x="9265198" y="4649363"/>
            <a:ext cx="2259690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 -28,4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204C3628-C1C5-CDEA-8240-B5FC91669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548421"/>
              </p:ext>
            </p:extLst>
          </p:nvPr>
        </p:nvGraphicFramePr>
        <p:xfrm>
          <a:off x="499804" y="5198852"/>
          <a:ext cx="3481503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13022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219352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49129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>
                          <a:latin typeface="Times New Roman"/>
                          <a:cs typeface="Times New Roman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>
                          <a:latin typeface="Times New Roman"/>
                          <a:cs typeface="Times New Roman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>
                          <a:latin typeface="Times New Roman"/>
                          <a:cs typeface="Times New Roman"/>
                        </a:rPr>
                        <a:t>Pav,g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/>
                          <a:cs typeface="Times New Roman"/>
                        </a:rPr>
                        <a:t>0,6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/>
                          <a:cs typeface="Times New Roman"/>
                        </a:rPr>
                        <a:t>0,3</a:t>
                      </a:r>
                      <a:endParaRPr lang="it-IT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graphicFrame>
        <p:nvGraphicFramePr>
          <p:cNvPr id="12" name="Tabella 11">
            <a:extLst>
              <a:ext uri="{FF2B5EF4-FFF2-40B4-BE49-F238E27FC236}">
                <a16:creationId xmlns:a16="http://schemas.microsoft.com/office/drawing/2014/main" id="{DCEC8C01-45D7-1FBA-85A3-139497AB6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236113"/>
              </p:ext>
            </p:extLst>
          </p:nvPr>
        </p:nvGraphicFramePr>
        <p:xfrm>
          <a:off x="8607081" y="5202620"/>
          <a:ext cx="3584919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7885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220770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56264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>
                          <a:latin typeface="Times New Roman"/>
                          <a:cs typeface="Times New Roman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>
                          <a:latin typeface="Times New Roman"/>
                          <a:cs typeface="Times New Roman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>
                          <a:latin typeface="Times New Roman"/>
                          <a:cs typeface="Times New Roman"/>
                        </a:rPr>
                        <a:t>Pav,g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latin typeface="Times New Roman"/>
                          <a:cs typeface="Times New Roman"/>
                        </a:rPr>
                        <a:t>0,07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>
                          <a:latin typeface="Times New Roman"/>
                          <a:cs typeface="Times New Roman"/>
                        </a:rPr>
                        <a:t>0,035</a:t>
                      </a:r>
                      <a:endParaRPr lang="it-IT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2C4F2B61-F599-F3C3-B770-76EB14787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379427"/>
              </p:ext>
            </p:extLst>
          </p:nvPr>
        </p:nvGraphicFramePr>
        <p:xfrm>
          <a:off x="4552378" y="5198852"/>
          <a:ext cx="3601895" cy="9233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7885">
                  <a:extLst>
                    <a:ext uri="{9D8B030D-6E8A-4147-A177-3AD203B41FA5}">
                      <a16:colId xmlns:a16="http://schemas.microsoft.com/office/drawing/2014/main" val="2294037930"/>
                    </a:ext>
                  </a:extLst>
                </a:gridCol>
                <a:gridCol w="1198208">
                  <a:extLst>
                    <a:ext uri="{9D8B030D-6E8A-4147-A177-3AD203B41FA5}">
                      <a16:colId xmlns:a16="http://schemas.microsoft.com/office/drawing/2014/main" val="140131587"/>
                    </a:ext>
                  </a:extLst>
                </a:gridCol>
                <a:gridCol w="1295802">
                  <a:extLst>
                    <a:ext uri="{9D8B030D-6E8A-4147-A177-3AD203B41FA5}">
                      <a16:colId xmlns:a16="http://schemas.microsoft.com/office/drawing/2014/main" val="3697867173"/>
                    </a:ext>
                  </a:extLst>
                </a:gridCol>
              </a:tblGrid>
              <a:tr h="473503">
                <a:tc>
                  <a:txBody>
                    <a:bodyPr/>
                    <a:lstStyle/>
                    <a:p>
                      <a:endParaRPr lang="it-IT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1600" dirty="0">
                          <a:latin typeface="Times New Roman"/>
                          <a:cs typeface="Times New Roman"/>
                        </a:rPr>
                        <a:t>Ps=-13dBm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>
                          <a:latin typeface="Times New Roman"/>
                          <a:cs typeface="Times New Roman"/>
                        </a:rPr>
                        <a:t>Ps=-16dBm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871352"/>
                  </a:ext>
                </a:extLst>
              </a:tr>
              <a:tr h="449827">
                <a:tc>
                  <a:txBody>
                    <a:bodyPr/>
                    <a:lstStyle/>
                    <a:p>
                      <a:r>
                        <a:rPr lang="it-IT" sz="1600">
                          <a:latin typeface="Times New Roman"/>
                          <a:cs typeface="Times New Roman"/>
                        </a:rPr>
                        <a:t>Pav,g [W]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>
                          <a:latin typeface="Times New Roman"/>
                          <a:cs typeface="Times New Roman"/>
                        </a:rPr>
                        <a:t>0,94</a:t>
                      </a:r>
                      <a:endParaRPr lang="it-IT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Times New Roman"/>
                          <a:cs typeface="Times New Roman"/>
                        </a:rPr>
                        <a:t>0,47</a:t>
                      </a:r>
                      <a:endParaRPr lang="it-IT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048300"/>
                  </a:ext>
                </a:extLst>
              </a:tr>
            </a:tbl>
          </a:graphicData>
        </a:graphic>
      </p:graphicFrame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CCA5805-E262-98BA-382E-1679B766805E}"/>
              </a:ext>
            </a:extLst>
          </p:cNvPr>
          <p:cNvSpPr txBox="1"/>
          <p:nvPr/>
        </p:nvSpPr>
        <p:spPr>
          <a:xfrm>
            <a:off x="5186639" y="4649363"/>
            <a:ext cx="2333371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sz="1700" dirty="0">
                <a:latin typeface="Times New Roman"/>
                <a:ea typeface="Calibri"/>
                <a:cs typeface="Calibri"/>
              </a:rPr>
              <a:t>g = MAG = -39,7 dB</a:t>
            </a:r>
            <a:endParaRPr lang="it-IT" sz="17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8" name="Titolo 1">
            <a:extLst>
              <a:ext uri="{FF2B5EF4-FFF2-40B4-BE49-F238E27FC236}">
                <a16:creationId xmlns:a16="http://schemas.microsoft.com/office/drawing/2014/main" id="{3EA4D884-9511-D5B2-EE9D-E3DE8261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7677" y="12561"/>
            <a:ext cx="10327398" cy="853536"/>
          </a:xfrm>
        </p:spPr>
        <p:txBody>
          <a:bodyPr>
            <a:normAutofit/>
          </a:bodyPr>
          <a:lstStyle/>
          <a:p>
            <a:r>
              <a:rPr lang="it-IT" sz="4400" dirty="0" err="1">
                <a:latin typeface="Times New Roman"/>
                <a:cs typeface="Times New Roman"/>
              </a:rPr>
              <a:t>Normal</a:t>
            </a:r>
            <a:r>
              <a:rPr lang="it-IT" sz="4400" dirty="0">
                <a:latin typeface="Times New Roman"/>
                <a:cs typeface="Times New Roman"/>
              </a:rPr>
              <a:t> Weight </a:t>
            </a:r>
            <a:r>
              <a:rPr lang="it-IT" sz="4400" dirty="0" err="1">
                <a:latin typeface="Times New Roman"/>
                <a:cs typeface="Times New Roman"/>
              </a:rPr>
              <a:t>Simulation</a:t>
            </a:r>
            <a:endParaRPr lang="it-IT" sz="440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magine 28" descr="Immagine che contiene cerchio, Policromia, cartone animato, arte&#10;&#10;Il contenuto generato dall&amp;#39;IA potrebbe non essere corretto.">
            <a:extLst>
              <a:ext uri="{FF2B5EF4-FFF2-40B4-BE49-F238E27FC236}">
                <a16:creationId xmlns:a16="http://schemas.microsoft.com/office/drawing/2014/main" id="{B451755C-29DE-4C45-7361-2B3F45BC1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966" y="1807269"/>
            <a:ext cx="2658471" cy="2637289"/>
          </a:xfrm>
          <a:prstGeom prst="rect">
            <a:avLst/>
          </a:prstGeom>
        </p:spPr>
      </p:pic>
      <p:pic>
        <p:nvPicPr>
          <p:cNvPr id="30" name="Immagine 29" descr="Immagine che contiene cerchio, Policromia, cartone animato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E6402FAE-B37D-4AEA-7736-3F1AC8E20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6036" y="1800658"/>
            <a:ext cx="2518014" cy="2629897"/>
          </a:xfrm>
          <a:prstGeom prst="rect">
            <a:avLst/>
          </a:prstGeom>
        </p:spPr>
      </p:pic>
      <p:pic>
        <p:nvPicPr>
          <p:cNvPr id="31" name="Immagine 30" descr="Immagine che contiene cerchio, Policromia, cartone animato, arte&#10;&#10;Il contenuto generato dall&amp;#39;IA potrebbe non essere corretto.">
            <a:extLst>
              <a:ext uri="{FF2B5EF4-FFF2-40B4-BE49-F238E27FC236}">
                <a16:creationId xmlns:a16="http://schemas.microsoft.com/office/drawing/2014/main" id="{5D45C146-D5BF-244D-B95B-BA4B2F24C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30" y="1807269"/>
            <a:ext cx="2628049" cy="2616676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4B2E65F-717E-BE80-2ED7-CD2F996A605F}"/>
              </a:ext>
            </a:extLst>
          </p:cNvPr>
          <p:cNvSpPr txBox="1"/>
          <p:nvPr/>
        </p:nvSpPr>
        <p:spPr>
          <a:xfrm>
            <a:off x="1119144" y="1271672"/>
            <a:ext cx="26558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b="1" dirty="0">
                <a:solidFill>
                  <a:srgbClr val="10036D"/>
                </a:solidFill>
                <a:latin typeface="Times New Roman"/>
                <a:cs typeface="Times New Roman"/>
              </a:rPr>
              <a:t>50% urine 50 % air</a:t>
            </a:r>
            <a:endParaRPr lang="it-IT" b="1" dirty="0">
              <a:solidFill>
                <a:srgbClr val="10036D"/>
              </a:solidFill>
            </a:endParaRP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CBD33692-7153-EE08-10E7-348776844A95}"/>
              </a:ext>
            </a:extLst>
          </p:cNvPr>
          <p:cNvSpPr txBox="1"/>
          <p:nvPr/>
        </p:nvSpPr>
        <p:spPr>
          <a:xfrm>
            <a:off x="5534665" y="1271672"/>
            <a:ext cx="147307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it-IT" b="1" dirty="0">
                <a:solidFill>
                  <a:srgbClr val="10036D"/>
                </a:solidFill>
                <a:latin typeface="Times New Roman"/>
                <a:cs typeface="Times New Roman"/>
              </a:rPr>
              <a:t>Full </a:t>
            </a:r>
            <a:r>
              <a:rPr lang="it-IT" b="1" dirty="0" err="1">
                <a:solidFill>
                  <a:srgbClr val="10036D"/>
                </a:solidFill>
                <a:latin typeface="Times New Roman"/>
                <a:cs typeface="Times New Roman"/>
              </a:rPr>
              <a:t>Bladder</a:t>
            </a:r>
            <a:endParaRPr lang="it-IT" b="1" dirty="0">
              <a:solidFill>
                <a:srgbClr val="10036D"/>
              </a:solidFill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0116E70-0450-2A75-E5D7-E8EC6E6DE84A}"/>
              </a:ext>
            </a:extLst>
          </p:cNvPr>
          <p:cNvSpPr txBox="1"/>
          <p:nvPr/>
        </p:nvSpPr>
        <p:spPr>
          <a:xfrm>
            <a:off x="9067103" y="1271672"/>
            <a:ext cx="265588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it-IT" b="1" dirty="0" err="1">
                <a:solidFill>
                  <a:srgbClr val="10036D"/>
                </a:solidFill>
                <a:latin typeface="Times New Roman"/>
                <a:ea typeface="Calibri" panose="020F0502020204030204"/>
                <a:cs typeface="Times New Roman"/>
              </a:rPr>
              <a:t>Empty</a:t>
            </a:r>
            <a:r>
              <a:rPr lang="it-IT" b="1" dirty="0">
                <a:solidFill>
                  <a:srgbClr val="10036D"/>
                </a:solidFill>
                <a:latin typeface="Times New Roman"/>
                <a:ea typeface="Calibri" panose="020F0502020204030204"/>
                <a:cs typeface="Times New Roman"/>
              </a:rPr>
              <a:t> </a:t>
            </a:r>
            <a:r>
              <a:rPr lang="it-IT" b="1" dirty="0" err="1">
                <a:solidFill>
                  <a:srgbClr val="10036D"/>
                </a:solidFill>
                <a:latin typeface="Times New Roman"/>
                <a:ea typeface="Calibri" panose="020F0502020204030204"/>
                <a:cs typeface="Times New Roman"/>
              </a:rPr>
              <a:t>Bladder</a:t>
            </a:r>
            <a:endParaRPr lang="it-IT" b="1" dirty="0">
              <a:solidFill>
                <a:srgbClr val="10036D"/>
              </a:solidFill>
              <a:latin typeface="Times New Roman"/>
              <a:ea typeface="Calibri" panose="020F0502020204030204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0019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97CC9-F864-CFA1-E171-CCA3D825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4381D5C-350C-B21A-ED57-60B7FE74C1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14852" r="2941" b="22246"/>
          <a:stretch>
            <a:fillRect/>
          </a:stretch>
        </p:blipFill>
        <p:spPr bwMode="auto">
          <a:xfrm>
            <a:off x="1141663" y="1339565"/>
            <a:ext cx="3941768" cy="149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71C56DB-96B9-20FC-3A6E-42C757119F37}"/>
              </a:ext>
            </a:extLst>
          </p:cNvPr>
          <p:cNvSpPr txBox="1"/>
          <p:nvPr/>
        </p:nvSpPr>
        <p:spPr>
          <a:xfrm>
            <a:off x="4068706" y="-4382"/>
            <a:ext cx="10303157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it-IT" sz="4400" b="1" err="1">
                <a:solidFill>
                  <a:srgbClr val="10036D"/>
                </a:solidFill>
                <a:latin typeface="Times New Roman"/>
                <a:cs typeface="Times New Roman"/>
              </a:rPr>
              <a:t>Conclusions</a:t>
            </a:r>
            <a:r>
              <a:rPr lang="it-IT" sz="4400" b="1">
                <a:solidFill>
                  <a:srgbClr val="10036D"/>
                </a:solidFill>
                <a:latin typeface="Times New Roman"/>
                <a:cs typeface="Times New Roman"/>
              </a:rPr>
              <a:t>/</a:t>
            </a:r>
            <a:r>
              <a:rPr lang="it-IT" sz="4400" b="1" err="1">
                <a:solidFill>
                  <a:srgbClr val="10036D"/>
                </a:solidFill>
                <a:latin typeface="Times New Roman"/>
                <a:cs typeface="Times New Roman"/>
              </a:rPr>
              <a:t>Final</a:t>
            </a:r>
            <a:r>
              <a:rPr lang="it-IT" sz="4400" b="1">
                <a:solidFill>
                  <a:srgbClr val="10036D"/>
                </a:solidFill>
                <a:latin typeface="Times New Roman"/>
                <a:cs typeface="Times New Roman"/>
              </a:rPr>
              <a:t> </a:t>
            </a:r>
            <a:r>
              <a:rPr lang="it-IT" sz="4400" b="1" err="1">
                <a:solidFill>
                  <a:srgbClr val="10036D"/>
                </a:solidFill>
                <a:latin typeface="Times New Roman"/>
                <a:cs typeface="Times New Roman"/>
              </a:rPr>
              <a:t>Considerations</a:t>
            </a:r>
            <a:endParaRPr lang="it-IT" sz="4400" b="1" err="1">
              <a:solidFill>
                <a:srgbClr val="10036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7B0E25AC-E436-56D3-6142-AEF2500DAFC4}"/>
              </a:ext>
            </a:extLst>
          </p:cNvPr>
          <p:cNvSpPr/>
          <p:nvPr/>
        </p:nvSpPr>
        <p:spPr>
          <a:xfrm>
            <a:off x="1141663" y="3407275"/>
            <a:ext cx="3807848" cy="231442"/>
          </a:xfrm>
          <a:prstGeom prst="rightArrow">
            <a:avLst/>
          </a:prstGeom>
          <a:solidFill>
            <a:srgbClr val="10036D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2EAF078-DF99-4D53-6FD8-FB6CAC53F24C}"/>
              </a:ext>
            </a:extLst>
          </p:cNvPr>
          <p:cNvSpPr txBox="1"/>
          <p:nvPr/>
        </p:nvSpPr>
        <p:spPr>
          <a:xfrm>
            <a:off x="1762744" y="2830282"/>
            <a:ext cx="219600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 </a:t>
            </a:r>
            <a:r>
              <a:rPr lang="it-IT" sz="24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</a:t>
            </a:r>
            <a:endParaRPr lang="it-IT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Allegra vescica vuota e triste vescica piena. Simpatici organi umani kawaii  su sfondo bianco. | Vettore Premium">
            <a:extLst>
              <a:ext uri="{FF2B5EF4-FFF2-40B4-BE49-F238E27FC236}">
                <a16:creationId xmlns:a16="http://schemas.microsoft.com/office/drawing/2014/main" id="{40393689-8337-43FD-C7E9-EBB03DB95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6" t="24764" r="2875" b="27106"/>
          <a:stretch>
            <a:fillRect/>
          </a:stretch>
        </p:blipFill>
        <p:spPr bwMode="auto">
          <a:xfrm>
            <a:off x="925810" y="4414879"/>
            <a:ext cx="4152308" cy="140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5C3E387-8133-CEF7-1902-3CE2971E6ACC}"/>
              </a:ext>
            </a:extLst>
          </p:cNvPr>
          <p:cNvSpPr txBox="1"/>
          <p:nvPr/>
        </p:nvSpPr>
        <p:spPr>
          <a:xfrm>
            <a:off x="1810514" y="3754045"/>
            <a:ext cx="210046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it-IT" sz="24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Pav,g</a:t>
            </a:r>
            <a:r>
              <a:rPr lang="it-IT" sz="2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2400" b="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</a:t>
            </a:r>
            <a:endParaRPr lang="it-IT" sz="24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2E695E3-D3CA-9B7E-8344-B2438C05C513}"/>
              </a:ext>
            </a:extLst>
          </p:cNvPr>
          <p:cNvSpPr txBox="1"/>
          <p:nvPr/>
        </p:nvSpPr>
        <p:spPr>
          <a:xfrm>
            <a:off x="6949128" y="1222671"/>
            <a:ext cx="4826791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sz="2800" b="1" dirty="0" err="1">
                <a:solidFill>
                  <a:srgbClr val="10036D"/>
                </a:solidFill>
                <a:latin typeface="Times New Roman"/>
                <a:ea typeface="Calibri"/>
                <a:cs typeface="Calibri"/>
              </a:rPr>
              <a:t>Problems</a:t>
            </a:r>
            <a:r>
              <a:rPr lang="it-IT" sz="2800" b="1" dirty="0">
                <a:solidFill>
                  <a:srgbClr val="10036D"/>
                </a:solidFill>
                <a:latin typeface="Times New Roman"/>
                <a:ea typeface="Calibri"/>
                <a:cs typeface="Calibri"/>
              </a:rPr>
              <a:t> </a:t>
            </a:r>
            <a:r>
              <a:rPr lang="it-IT" sz="2800" b="1" dirty="0" err="1">
                <a:solidFill>
                  <a:srgbClr val="10036D"/>
                </a:solidFill>
                <a:latin typeface="Times New Roman"/>
                <a:ea typeface="Calibri"/>
                <a:cs typeface="Calibri"/>
              </a:rPr>
              <a:t>concerning</a:t>
            </a:r>
            <a:r>
              <a:rPr lang="it-IT" sz="2800" b="1" dirty="0">
                <a:solidFill>
                  <a:srgbClr val="10036D"/>
                </a:solidFill>
                <a:latin typeface="Times New Roman"/>
                <a:ea typeface="Calibri"/>
                <a:cs typeface="Calibri"/>
              </a:rPr>
              <a:t> future antenna design:</a:t>
            </a:r>
          </a:p>
          <a:p>
            <a:endParaRPr lang="it-IT" sz="2800" dirty="0">
              <a:latin typeface="Times New Roman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>
                <a:latin typeface="Times New Roman"/>
                <a:ea typeface="Calibri"/>
                <a:cs typeface="Calibri"/>
              </a:rPr>
              <a:t>Input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impedance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changes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too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much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between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different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filling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configurations</a:t>
            </a:r>
            <a:endParaRPr lang="it-IT" sz="2800" dirty="0">
              <a:latin typeface="Times New Roman"/>
              <a:ea typeface="Calibri"/>
              <a:cs typeface="Calibri"/>
            </a:endParaRPr>
          </a:p>
          <a:p>
            <a:endParaRPr lang="it-IT" sz="2800" dirty="0">
              <a:latin typeface="Times New Roman"/>
              <a:ea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2800" dirty="0" err="1">
                <a:latin typeface="Times New Roman"/>
                <a:ea typeface="Calibri"/>
                <a:cs typeface="Calibri"/>
              </a:rPr>
              <a:t>Decision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on the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incapsulation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material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(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beacuse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it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will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probably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also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affects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 the input </a:t>
            </a:r>
            <a:r>
              <a:rPr lang="it-IT" sz="2800" dirty="0" err="1">
                <a:latin typeface="Times New Roman"/>
                <a:ea typeface="Calibri"/>
                <a:cs typeface="Calibri"/>
              </a:rPr>
              <a:t>impedance</a:t>
            </a:r>
            <a:r>
              <a:rPr lang="it-IT" sz="2800" dirty="0">
                <a:latin typeface="Times New Roman"/>
                <a:ea typeface="Calibri"/>
                <a:cs typeface="Calibri"/>
              </a:rPr>
              <a:t>)</a:t>
            </a:r>
          </a:p>
        </p:txBody>
      </p:sp>
      <p:pic>
        <p:nvPicPr>
          <p:cNvPr id="4" name="Elemento grafico 3" descr="Avviso con riempimento a tinta unita">
            <a:extLst>
              <a:ext uri="{FF2B5EF4-FFF2-40B4-BE49-F238E27FC236}">
                <a16:creationId xmlns:a16="http://schemas.microsoft.com/office/drawing/2014/main" id="{DA8D851F-F59F-58A6-18B6-B759953C99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7966" y="1287591"/>
            <a:ext cx="798576" cy="798576"/>
          </a:xfrm>
          <a:prstGeom prst="rect">
            <a:avLst/>
          </a:prstGeom>
        </p:spPr>
      </p:pic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0185A03-8A2A-1634-6D82-773BC3A5B507}"/>
              </a:ext>
            </a:extLst>
          </p:cNvPr>
          <p:cNvCxnSpPr>
            <a:cxnSpLocks/>
          </p:cNvCxnSpPr>
          <p:nvPr/>
        </p:nvCxnSpPr>
        <p:spPr>
          <a:xfrm flipH="1">
            <a:off x="6657254" y="2340167"/>
            <a:ext cx="11106" cy="4207878"/>
          </a:xfrm>
          <a:prstGeom prst="line">
            <a:avLst/>
          </a:prstGeom>
          <a:ln w="38100">
            <a:solidFill>
              <a:srgbClr val="10036D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3507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_un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_uni" id="{55AD8010-FE83-4F14-ABE2-BABB2EA50445}" vid="{1870E653-1F80-459C-9330-2F4422D101D2}"/>
    </a:ext>
  </a:extLst>
</a:theme>
</file>

<file path=ppt/theme/theme2.xml><?xml version="1.0" encoding="utf-8"?>
<a:theme xmlns:a="http://schemas.openxmlformats.org/drawingml/2006/main" name="LAB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algn="l">
          <a:defRPr sz="2200" b="0" dirty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AB_template" id="{9DFF2ABC-D06F-447C-AEB7-12299DFB1B22}" vid="{FDC4B10C-3902-42F0-893F-4098321572BC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Tema_uni</Template>
  <TotalTime>0</TotalTime>
  <Words>720</Words>
  <Application>Microsoft Office PowerPoint</Application>
  <PresentationFormat>Widescreen</PresentationFormat>
  <Paragraphs>175</Paragraphs>
  <Slides>16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Franklin Gothic Book</vt:lpstr>
      <vt:lpstr>Times New Roman</vt:lpstr>
      <vt:lpstr>Wingdings</vt:lpstr>
      <vt:lpstr>Tema_uni</vt:lpstr>
      <vt:lpstr>LAB_template</vt:lpstr>
      <vt:lpstr>Presentazione standard di PowerPoint</vt:lpstr>
      <vt:lpstr>Introduction</vt:lpstr>
      <vt:lpstr>Mid-Field link</vt:lpstr>
      <vt:lpstr>Upper bound performance</vt:lpstr>
      <vt:lpstr>MAG vs g</vt:lpstr>
      <vt:lpstr>References</vt:lpstr>
      <vt:lpstr>CST Spherical Model</vt:lpstr>
      <vt:lpstr>Bladder 50% urine and 50% air</vt:lpstr>
      <vt:lpstr>Full Bladder</vt:lpstr>
      <vt:lpstr>Empty Bladder</vt:lpstr>
      <vt:lpstr>Presentazione standard di PowerPoint</vt:lpstr>
      <vt:lpstr>Presentazione standard di PowerPoint</vt:lpstr>
      <vt:lpstr>Presentazione standard di PowerPoint</vt:lpstr>
      <vt:lpstr>Model Consideration</vt:lpstr>
      <vt:lpstr>Normal Weight Simulation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 mancuso</dc:creator>
  <cp:lastModifiedBy>silvia gialloreto</cp:lastModifiedBy>
  <cp:revision>2</cp:revision>
  <dcterms:created xsi:type="dcterms:W3CDTF">2024-05-22T09:33:43Z</dcterms:created>
  <dcterms:modified xsi:type="dcterms:W3CDTF">2025-06-04T06:32:39Z</dcterms:modified>
</cp:coreProperties>
</file>